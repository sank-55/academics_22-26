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diagrams/data1.xml" ContentType="application/vnd.openxmlformats-officedocument.drawingml.diagramData+xml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diagrams/layout1.xml" ContentType="application/vnd.openxmlformats-officedocument.drawingml.diagramLayout+xml"/>
  <Override PartName="/ppt/diagrams/drawing1.xml" ContentType="application/vnd.ms-office.drawingml.diagramDrawing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5" r:id="rId18"/>
    <p:sldId id="273" r:id="rId19"/>
    <p:sldId id="277" r:id="rId20"/>
    <p:sldId id="278" r:id="rId21"/>
    <p:sldId id="27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ustomXml" Target="../customXml/item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B57977-A3E4-4D10-995C-B9852E6F82FE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CF4C186D-F23C-4E74-8B62-6BFCDAAEEA37}">
      <dgm:prSet phldrT="[Text]"/>
      <dgm:spPr/>
      <dgm:t>
        <a:bodyPr/>
        <a:lstStyle/>
        <a:p>
          <a:r>
            <a:rPr lang="en-US" dirty="0" smtClean="0"/>
            <a:t>Inter-arrival time are negative exponentially distributed R.V</a:t>
          </a:r>
          <a:endParaRPr lang="en-US" dirty="0"/>
        </a:p>
      </dgm:t>
    </dgm:pt>
    <dgm:pt modelId="{10078B63-1E9D-417E-8F21-A5067CB35542}" type="parTrans" cxnId="{A70C1DB1-8382-4695-91C1-2876A60CBF40}">
      <dgm:prSet/>
      <dgm:spPr/>
      <dgm:t>
        <a:bodyPr/>
        <a:lstStyle/>
        <a:p>
          <a:endParaRPr lang="en-US"/>
        </a:p>
      </dgm:t>
    </dgm:pt>
    <dgm:pt modelId="{7CD42EFE-E611-435F-AECA-6FFE522AD526}" type="sibTrans" cxnId="{A70C1DB1-8382-4695-91C1-2876A60CBF40}">
      <dgm:prSet/>
      <dgm:spPr/>
      <dgm:t>
        <a:bodyPr/>
        <a:lstStyle/>
        <a:p>
          <a:endParaRPr lang="en-US"/>
        </a:p>
      </dgm:t>
    </dgm:pt>
    <dgm:pt modelId="{AD223688-1EFD-4DFF-AD23-E054F17B38FC}">
      <dgm:prSet phldrT="[Text]"/>
      <dgm:spPr/>
      <dgm:t>
        <a:bodyPr/>
        <a:lstStyle/>
        <a:p>
          <a:r>
            <a:rPr lang="en-US" dirty="0" smtClean="0"/>
            <a:t>Next Arrival does not depend on the time of the previous arrival</a:t>
          </a:r>
          <a:endParaRPr lang="en-US" dirty="0"/>
        </a:p>
      </dgm:t>
    </dgm:pt>
    <dgm:pt modelId="{B382AF74-5FEB-4677-8F80-3EF4A507A895}" type="parTrans" cxnId="{CB653E7A-C8EB-478C-96B3-4372E3B1873C}">
      <dgm:prSet/>
      <dgm:spPr/>
      <dgm:t>
        <a:bodyPr/>
        <a:lstStyle/>
        <a:p>
          <a:endParaRPr lang="en-US"/>
        </a:p>
      </dgm:t>
    </dgm:pt>
    <dgm:pt modelId="{D6B0E276-18E4-4207-B631-FA7B5824C51D}" type="sibTrans" cxnId="{CB653E7A-C8EB-478C-96B3-4372E3B1873C}">
      <dgm:prSet/>
      <dgm:spPr/>
      <dgm:t>
        <a:bodyPr/>
        <a:lstStyle/>
        <a:p>
          <a:endParaRPr lang="en-US"/>
        </a:p>
      </dgm:t>
    </dgm:pt>
    <dgm:pt modelId="{9ACBEB23-2BA1-4B89-A717-BB31F0FFB28B}" type="pres">
      <dgm:prSet presAssocID="{76B57977-A3E4-4D10-995C-B9852E6F82FE}" presName="Name0" presStyleCnt="0">
        <dgm:presLayoutVars>
          <dgm:dir/>
          <dgm:resizeHandles val="exact"/>
        </dgm:presLayoutVars>
      </dgm:prSet>
      <dgm:spPr/>
    </dgm:pt>
    <dgm:pt modelId="{F7E7F030-AB10-4B3A-A8CA-64CFBAD6C43A}" type="pres">
      <dgm:prSet presAssocID="{CF4C186D-F23C-4E74-8B62-6BFCDAAEEA37}" presName="node" presStyleLbl="node1" presStyleIdx="0" presStyleCnt="2" custScaleY="43423" custLinFactNeighborX="783" custLinFactNeighborY="8646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A03F6DF-6059-41E2-9DEA-86E2CE2FBEB6}" type="pres">
      <dgm:prSet presAssocID="{7CD42EFE-E611-435F-AECA-6FFE522AD526}" presName="sibTrans" presStyleLbl="sibTrans2D1" presStyleIdx="0" presStyleCnt="1"/>
      <dgm:spPr/>
      <dgm:t>
        <a:bodyPr/>
        <a:lstStyle/>
        <a:p>
          <a:endParaRPr lang="en-US"/>
        </a:p>
      </dgm:t>
    </dgm:pt>
    <dgm:pt modelId="{B232F958-F734-49A8-9698-4A0C2996F6F6}" type="pres">
      <dgm:prSet presAssocID="{7CD42EFE-E611-435F-AECA-6FFE522AD526}" presName="connectorText" presStyleLbl="sibTrans2D1" presStyleIdx="0" presStyleCnt="1"/>
      <dgm:spPr/>
      <dgm:t>
        <a:bodyPr/>
        <a:lstStyle/>
        <a:p>
          <a:endParaRPr lang="en-US"/>
        </a:p>
      </dgm:t>
    </dgm:pt>
    <dgm:pt modelId="{375D7CDB-81B7-4372-8B52-61510371446F}" type="pres">
      <dgm:prSet presAssocID="{AD223688-1EFD-4DFF-AD23-E054F17B38FC}" presName="node" presStyleLbl="node1" presStyleIdx="1" presStyleCnt="2" custScaleY="44623" custLinFactNeighborX="-14121" custLinFactNeighborY="8646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70C1DB1-8382-4695-91C1-2876A60CBF40}" srcId="{76B57977-A3E4-4D10-995C-B9852E6F82FE}" destId="{CF4C186D-F23C-4E74-8B62-6BFCDAAEEA37}" srcOrd="0" destOrd="0" parTransId="{10078B63-1E9D-417E-8F21-A5067CB35542}" sibTransId="{7CD42EFE-E611-435F-AECA-6FFE522AD526}"/>
    <dgm:cxn modelId="{5B4217D4-4C58-4C09-8CE6-32666359A309}" type="presOf" srcId="{CF4C186D-F23C-4E74-8B62-6BFCDAAEEA37}" destId="{F7E7F030-AB10-4B3A-A8CA-64CFBAD6C43A}" srcOrd="0" destOrd="0" presId="urn:microsoft.com/office/officeart/2005/8/layout/process1"/>
    <dgm:cxn modelId="{3B8FD844-2DD2-479C-93AD-35E4126C31EA}" type="presOf" srcId="{7CD42EFE-E611-435F-AECA-6FFE522AD526}" destId="{7A03F6DF-6059-41E2-9DEA-86E2CE2FBEB6}" srcOrd="0" destOrd="0" presId="urn:microsoft.com/office/officeart/2005/8/layout/process1"/>
    <dgm:cxn modelId="{F959B236-FC8F-4445-A6B5-204E4202DB2C}" type="presOf" srcId="{7CD42EFE-E611-435F-AECA-6FFE522AD526}" destId="{B232F958-F734-49A8-9698-4A0C2996F6F6}" srcOrd="1" destOrd="0" presId="urn:microsoft.com/office/officeart/2005/8/layout/process1"/>
    <dgm:cxn modelId="{E74C2ADE-1978-4A5B-AADE-2BA0B21E0619}" type="presOf" srcId="{76B57977-A3E4-4D10-995C-B9852E6F82FE}" destId="{9ACBEB23-2BA1-4B89-A717-BB31F0FFB28B}" srcOrd="0" destOrd="0" presId="urn:microsoft.com/office/officeart/2005/8/layout/process1"/>
    <dgm:cxn modelId="{94FB75D0-061D-4203-8F47-F6FA8D0EC1D7}" type="presOf" srcId="{AD223688-1EFD-4DFF-AD23-E054F17B38FC}" destId="{375D7CDB-81B7-4372-8B52-61510371446F}" srcOrd="0" destOrd="0" presId="urn:microsoft.com/office/officeart/2005/8/layout/process1"/>
    <dgm:cxn modelId="{CB653E7A-C8EB-478C-96B3-4372E3B1873C}" srcId="{76B57977-A3E4-4D10-995C-B9852E6F82FE}" destId="{AD223688-1EFD-4DFF-AD23-E054F17B38FC}" srcOrd="1" destOrd="0" parTransId="{B382AF74-5FEB-4677-8F80-3EF4A507A895}" sibTransId="{D6B0E276-18E4-4207-B631-FA7B5824C51D}"/>
    <dgm:cxn modelId="{A657288D-B7F6-4CD6-AD48-7FB9554DDF64}" type="presParOf" srcId="{9ACBEB23-2BA1-4B89-A717-BB31F0FFB28B}" destId="{F7E7F030-AB10-4B3A-A8CA-64CFBAD6C43A}" srcOrd="0" destOrd="0" presId="urn:microsoft.com/office/officeart/2005/8/layout/process1"/>
    <dgm:cxn modelId="{EA64146C-A8CA-4BB2-9A01-69969BC026C3}" type="presParOf" srcId="{9ACBEB23-2BA1-4B89-A717-BB31F0FFB28B}" destId="{7A03F6DF-6059-41E2-9DEA-86E2CE2FBEB6}" srcOrd="1" destOrd="0" presId="urn:microsoft.com/office/officeart/2005/8/layout/process1"/>
    <dgm:cxn modelId="{CD4FBDF1-59F4-4181-A9E1-139525BD120D}" type="presParOf" srcId="{7A03F6DF-6059-41E2-9DEA-86E2CE2FBEB6}" destId="{B232F958-F734-49A8-9698-4A0C2996F6F6}" srcOrd="0" destOrd="0" presId="urn:microsoft.com/office/officeart/2005/8/layout/process1"/>
    <dgm:cxn modelId="{B4B8FAB9-4EA4-446A-963C-F2B470F98995}" type="presParOf" srcId="{9ACBEB23-2BA1-4B89-A717-BB31F0FFB28B}" destId="{375D7CDB-81B7-4372-8B52-61510371446F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E7F030-AB10-4B3A-A8CA-64CFBAD6C43A}">
      <dsp:nvSpPr>
        <dsp:cNvPr id="0" name=""/>
        <dsp:cNvSpPr/>
      </dsp:nvSpPr>
      <dsp:spPr>
        <a:xfrm>
          <a:off x="12190" y="4024590"/>
          <a:ext cx="3385343" cy="8820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Inter-arrival time are negative exponentially distributed R.V</a:t>
          </a:r>
          <a:endParaRPr lang="en-US" sz="1900" kern="1200" dirty="0"/>
        </a:p>
      </dsp:txBody>
      <dsp:txXfrm>
        <a:off x="38023" y="4050423"/>
        <a:ext cx="3333677" cy="830344"/>
      </dsp:txXfrm>
    </dsp:sp>
    <dsp:sp modelId="{7A03F6DF-6059-41E2-9DEA-86E2CE2FBEB6}">
      <dsp:nvSpPr>
        <dsp:cNvPr id="0" name=""/>
        <dsp:cNvSpPr/>
      </dsp:nvSpPr>
      <dsp:spPr>
        <a:xfrm>
          <a:off x="3685613" y="4045813"/>
          <a:ext cx="610727" cy="8395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/>
        </a:p>
      </dsp:txBody>
      <dsp:txXfrm>
        <a:off x="3685613" y="4213726"/>
        <a:ext cx="427509" cy="503739"/>
      </dsp:txXfrm>
    </dsp:sp>
    <dsp:sp modelId="{375D7CDB-81B7-4372-8B52-61510371446F}">
      <dsp:nvSpPr>
        <dsp:cNvPr id="0" name=""/>
        <dsp:cNvSpPr/>
      </dsp:nvSpPr>
      <dsp:spPr>
        <a:xfrm>
          <a:off x="4549850" y="4012403"/>
          <a:ext cx="3385343" cy="9063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Next Arrival does not depend on the time of the previous arrival</a:t>
          </a:r>
          <a:endParaRPr lang="en-US" sz="1900" kern="1200" dirty="0"/>
        </a:p>
      </dsp:txBody>
      <dsp:txXfrm>
        <a:off x="4576397" y="4038950"/>
        <a:ext cx="3332249" cy="8532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B309-13E9-4815-B8D1-A61C5B47E824}" type="datetimeFigureOut">
              <a:rPr lang="en-IN" smtClean="0"/>
              <a:t>12-04-2023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DDF98-C953-47EB-8698-61B969275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263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B309-13E9-4815-B8D1-A61C5B47E824}" type="datetimeFigureOut">
              <a:rPr lang="en-IN" smtClean="0"/>
              <a:t>12-04-2023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DDF98-C953-47EB-8698-61B969275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33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B309-13E9-4815-B8D1-A61C5B47E824}" type="datetimeFigureOut">
              <a:rPr lang="en-IN" smtClean="0"/>
              <a:t>12-04-2023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DDF98-C953-47EB-8698-61B969275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87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B309-13E9-4815-B8D1-A61C5B47E824}" type="datetimeFigureOut">
              <a:rPr lang="en-IN" smtClean="0"/>
              <a:t>12-04-2023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DDF98-C953-47EB-8698-61B969275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224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B309-13E9-4815-B8D1-A61C5B47E824}" type="datetimeFigureOut">
              <a:rPr lang="en-IN" smtClean="0"/>
              <a:t>12-04-2023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DDF98-C953-47EB-8698-61B969275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867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B309-13E9-4815-B8D1-A61C5B47E824}" type="datetimeFigureOut">
              <a:rPr lang="en-IN" smtClean="0"/>
              <a:t>12-04-2023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DDF98-C953-47EB-8698-61B969275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485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B309-13E9-4815-B8D1-A61C5B47E824}" type="datetimeFigureOut">
              <a:rPr lang="en-IN" smtClean="0"/>
              <a:t>12-04-2023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DDF98-C953-47EB-8698-61B969275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563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B309-13E9-4815-B8D1-A61C5B47E824}" type="datetimeFigureOut">
              <a:rPr lang="en-IN" smtClean="0"/>
              <a:t>12-04-2023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DDF98-C953-47EB-8698-61B969275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027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B309-13E9-4815-B8D1-A61C5B47E824}" type="datetimeFigureOut">
              <a:rPr lang="en-IN" smtClean="0"/>
              <a:t>12-04-2023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DDF98-C953-47EB-8698-61B969275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610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B309-13E9-4815-B8D1-A61C5B47E824}" type="datetimeFigureOut">
              <a:rPr lang="en-IN" smtClean="0"/>
              <a:t>12-04-2023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DDF98-C953-47EB-8698-61B969275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198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B309-13E9-4815-B8D1-A61C5B47E824}" type="datetimeFigureOut">
              <a:rPr lang="en-IN" smtClean="0"/>
              <a:t>12-04-2023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DDF98-C953-47EB-8698-61B969275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999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6CB309-13E9-4815-B8D1-A61C5B47E824}" type="datetimeFigureOut">
              <a:rPr lang="en-IN" smtClean="0"/>
              <a:t>12-04-2023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DDF98-C953-47EB-8698-61B969275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08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 smtClean="0"/>
              <a:t>Queueing Models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07163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8512"/>
            <a:ext cx="10515600" cy="5128451"/>
          </a:xfrm>
        </p:spPr>
        <p:txBody>
          <a:bodyPr>
            <a:normAutofit/>
          </a:bodyPr>
          <a:lstStyle/>
          <a:p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Queue              Waiting Time </a:t>
            </a:r>
          </a:p>
          <a:p>
            <a:r>
              <a:rPr lang="en-IN" sz="1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Bakery Shop example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(Single Server)</a:t>
            </a:r>
          </a:p>
          <a:p>
            <a:pPr marL="0" indent="0">
              <a:buNone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  <a:r>
              <a:rPr lang="en-IN" sz="1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                                            Server</a:t>
            </a:r>
            <a:endParaRPr lang="en-IN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Suppose we want to know the average delay time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- Collect data from the existing system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- Calculate</a:t>
            </a:r>
          </a:p>
          <a:p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queueing models are important ?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- Predict the impact of some change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- Steady state behaviour of the system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22464" y="1438656"/>
            <a:ext cx="1865376" cy="1280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Arrival</a:t>
            </a:r>
          </a:p>
          <a:p>
            <a:pPr algn="ctr"/>
            <a:r>
              <a:rPr lang="en-IN" dirty="0" smtClean="0"/>
              <a:t>Service</a:t>
            </a:r>
          </a:p>
          <a:p>
            <a:pPr algn="ctr"/>
            <a:r>
              <a:rPr lang="en-IN" dirty="0" smtClean="0"/>
              <a:t>Waiting time</a:t>
            </a:r>
          </a:p>
          <a:p>
            <a:pPr algn="ctr"/>
            <a:r>
              <a:rPr lang="en-IN" dirty="0" smtClean="0"/>
              <a:t>FCFS</a:t>
            </a:r>
            <a:endParaRPr lang="en-IN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962912" y="1219200"/>
            <a:ext cx="451104" cy="12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Flowchart: Collate 8"/>
          <p:cNvSpPr/>
          <p:nvPr/>
        </p:nvSpPr>
        <p:spPr>
          <a:xfrm>
            <a:off x="6156960" y="2194560"/>
            <a:ext cx="390144" cy="268224"/>
          </a:xfrm>
          <a:prstGeom prst="flowChartCollat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6156960" y="2194560"/>
            <a:ext cx="0" cy="2682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547104" y="2194560"/>
            <a:ext cx="0" cy="2682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91968" y="2596896"/>
            <a:ext cx="1304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4096512" y="2078736"/>
            <a:ext cx="0" cy="5181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5066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0392" y="1365505"/>
            <a:ext cx="10515600" cy="4645152"/>
          </a:xfrm>
        </p:spPr>
        <p:txBody>
          <a:bodyPr/>
          <a:lstStyle/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endParaRPr lang="en-IN" dirty="0"/>
          </a:p>
          <a:p>
            <a:r>
              <a:rPr lang="en-IN" dirty="0" smtClean="0"/>
              <a:t>             …. X </a:t>
            </a:r>
            <a:r>
              <a:rPr lang="en-IN" dirty="0" err="1" smtClean="0"/>
              <a:t>X</a:t>
            </a:r>
            <a:r>
              <a:rPr lang="en-IN" dirty="0" smtClean="0"/>
              <a:t> </a:t>
            </a:r>
            <a:r>
              <a:rPr lang="en-IN" dirty="0" err="1" smtClean="0"/>
              <a:t>X</a:t>
            </a:r>
            <a:r>
              <a:rPr lang="en-IN" dirty="0" smtClean="0"/>
              <a:t> </a:t>
            </a:r>
            <a:r>
              <a:rPr lang="en-IN" dirty="0" err="1" smtClean="0"/>
              <a:t>X</a:t>
            </a:r>
            <a:r>
              <a:rPr lang="en-IN" dirty="0" smtClean="0"/>
              <a:t> </a:t>
            </a:r>
            <a:r>
              <a:rPr lang="en-IN" dirty="0" err="1" smtClean="0"/>
              <a:t>X</a:t>
            </a:r>
            <a:endParaRPr lang="en-IN" dirty="0" smtClean="0"/>
          </a:p>
          <a:p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 algn="ctr">
              <a:buNone/>
            </a:pPr>
            <a:r>
              <a:rPr lang="en-IN" u="sng" dirty="0" smtClean="0"/>
              <a:t>3-server system</a:t>
            </a:r>
            <a:endParaRPr lang="en-IN" u="sng" dirty="0"/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1341120" y="3262457"/>
            <a:ext cx="2572512" cy="121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3913632" y="2433401"/>
            <a:ext cx="0" cy="8290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Flowchart: Collate 7"/>
          <p:cNvSpPr/>
          <p:nvPr/>
        </p:nvSpPr>
        <p:spPr>
          <a:xfrm>
            <a:off x="6681216" y="1787843"/>
            <a:ext cx="457200" cy="609600"/>
          </a:xfrm>
          <a:prstGeom prst="flowChartCollat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Flowchart: Collate 9"/>
          <p:cNvSpPr/>
          <p:nvPr/>
        </p:nvSpPr>
        <p:spPr>
          <a:xfrm>
            <a:off x="6690359" y="2652857"/>
            <a:ext cx="457200" cy="609600"/>
          </a:xfrm>
          <a:prstGeom prst="flowChartCollat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Flowchart: Collate 10"/>
          <p:cNvSpPr/>
          <p:nvPr/>
        </p:nvSpPr>
        <p:spPr>
          <a:xfrm>
            <a:off x="6681216" y="3594450"/>
            <a:ext cx="457200" cy="609600"/>
          </a:xfrm>
          <a:prstGeom prst="flowChartCollat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6665975" y="1787843"/>
            <a:ext cx="0" cy="609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6690359" y="2652857"/>
            <a:ext cx="0" cy="609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7147559" y="1787843"/>
            <a:ext cx="0" cy="609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7153655" y="2652857"/>
            <a:ext cx="0" cy="609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7147559" y="3594450"/>
            <a:ext cx="0" cy="609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6681216" y="3594450"/>
            <a:ext cx="0" cy="609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607552" y="2006681"/>
            <a:ext cx="2243328" cy="6461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Airline Check-in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698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Bakery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hop example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65066922"/>
              </p:ext>
            </p:extLst>
          </p:nvPr>
        </p:nvGraphicFramePr>
        <p:xfrm>
          <a:off x="752856" y="2374265"/>
          <a:ext cx="5181600" cy="276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2159181536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79365074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6230745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Arrival Time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 time Interval</a:t>
                      </a:r>
                      <a:r>
                        <a:rPr lang="en-IN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(in </a:t>
                      </a:r>
                      <a:r>
                        <a:rPr lang="en-IN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mins</a:t>
                      </a:r>
                      <a:r>
                        <a:rPr lang="en-IN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7501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9:03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813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9:05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233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9:07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532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9:09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308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9:10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615661"/>
                  </a:ext>
                </a:extLst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03008" y="2767583"/>
            <a:ext cx="3206496" cy="16171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Observe: </a:t>
            </a:r>
          </a:p>
          <a:p>
            <a:pPr marL="0" indent="0">
              <a:buNone/>
            </a:pPr>
            <a:r>
              <a:rPr lang="en-IN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Arrival &amp; </a:t>
            </a:r>
            <a:r>
              <a:rPr lang="en-IN" sz="1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Servive</a:t>
            </a:r>
            <a:r>
              <a:rPr lang="en-IN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one of random nature</a:t>
            </a:r>
            <a:endParaRPr lang="en-IN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3"/>
          <p:cNvSpPr txBox="1">
            <a:spLocks/>
          </p:cNvSpPr>
          <p:nvPr/>
        </p:nvSpPr>
        <p:spPr>
          <a:xfrm>
            <a:off x="6248400" y="5114543"/>
            <a:ext cx="5181600" cy="1617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is to develop tools to predict the performance of the queueing syetem.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089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General </a:t>
            </a:r>
            <a:r>
              <a:rPr lang="en-IN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characterstics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86995"/>
            <a:ext cx="10515600" cy="4351338"/>
          </a:xfrm>
        </p:spPr>
        <p:txBody>
          <a:bodyPr/>
          <a:lstStyle/>
          <a:p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Concept of “Customers”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Concept of “Server”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Channel capacity          Number of servers (c) </a:t>
            </a:r>
          </a:p>
          <a:p>
            <a:r>
              <a:rPr lang="en-IN" sz="1800" b="1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Arrival Process </a:t>
            </a:r>
            <a:r>
              <a:rPr lang="en-IN" sz="1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(Poisson Process):</a:t>
            </a:r>
          </a:p>
          <a:p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Modeled as a stochastic Process, usually a renewal process  (inter-arrival times are independent random variables)</a:t>
            </a:r>
          </a:p>
          <a:p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Assumed Stationary (doesn’t depend on time)</a:t>
            </a:r>
          </a:p>
          <a:p>
            <a:pPr marL="0" indent="0">
              <a:buNone/>
            </a:pPr>
            <a:endParaRPr lang="en-I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791968" y="2743200"/>
            <a:ext cx="4998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508840493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6149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5048" y="499872"/>
                <a:ext cx="10515600" cy="589654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Poisson process has a single parameter ‘</a:t>
                </a:r>
                <a14:m>
                  <m:oMath xmlns:m="http://schemas.openxmlformats.org/officeDocument/2006/math">
                    <m:r>
                      <a:rPr lang="en-IN" sz="1800" b="1" i="1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IN" sz="1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 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(Arrival rate: No. of customers/time)</a:t>
                </a:r>
              </a:p>
              <a:p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statistical data, usually we compute </a:t>
                </a:r>
                <a:r>
                  <a:rPr lang="en-IN" sz="1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1/</a:t>
                </a:r>
                <a:r>
                  <a:rPr lang="en-IN" sz="1800" b="1" dirty="0" smtClean="0"/>
                  <a:t> </a:t>
                </a:r>
                <a14:m>
                  <m:oMath xmlns:m="http://schemas.openxmlformats.org/officeDocument/2006/math">
                    <m:r>
                      <a:rPr lang="en-IN" sz="1800" b="1" i="1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IN" sz="1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(mean time between arrivals)</a:t>
                </a:r>
              </a:p>
              <a:p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800" b="1" i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Service process :</a:t>
                </a:r>
              </a:p>
              <a:p>
                <a:pPr marL="0" indent="0"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Start of the next service depends on the completion of the previous service (not a </a:t>
                </a:r>
                <a:r>
                  <a:rPr lang="en-IN" sz="1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poisson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process)</a:t>
                </a:r>
              </a:p>
              <a:p>
                <a:pPr marL="0" indent="0"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Service time should be independent of each other including arrival time.</a:t>
                </a:r>
              </a:p>
              <a:p>
                <a:pPr marL="0" indent="0">
                  <a:buNone/>
                </a:pPr>
                <a:r>
                  <a:rPr lang="en-IN" sz="1800" b="1" dirty="0" smtClean="0"/>
                  <a:t>- </a:t>
                </a:r>
                <a14:m>
                  <m:oMath xmlns:m="http://schemas.openxmlformats.org/officeDocument/2006/math">
                    <m:r>
                      <a:rPr lang="en-IN" sz="1800" b="1" i="1" dirty="0" smtClean="0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mean service rate (reciprocal of mean service time)</a:t>
                </a:r>
              </a:p>
              <a:p>
                <a:pPr marL="0" indent="0"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– negative exponential distribution</a:t>
                </a:r>
              </a:p>
              <a:p>
                <a:pPr marL="0" indent="0">
                  <a:buNone/>
                </a:pP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No. of customers in a system = No. of customers in service + No. of customers in queue</a:t>
                </a:r>
              </a:p>
              <a:p>
                <a:endParaRPr lang="en-IN" sz="1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800" b="1" i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Finite length Queue</a:t>
                </a:r>
              </a:p>
              <a:p>
                <a:pPr marL="0" indent="0">
                  <a:buNone/>
                </a:pP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Capacity of a system (N)</a:t>
                </a:r>
              </a:p>
              <a:p>
                <a:pPr marL="0" indent="0">
                  <a:buNone/>
                </a:pP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Finite capacity/Length of the queue = N-C</a:t>
                </a:r>
              </a:p>
              <a:p>
                <a:endParaRPr lang="en-IN" sz="18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800" b="1" i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Queue Discipline</a:t>
                </a:r>
                <a:r>
                  <a:rPr lang="en-IN" sz="18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            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FCFS, LCFS, RSS</a:t>
                </a:r>
              </a:p>
              <a:p>
                <a:endParaRPr lang="en-IN" sz="1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5048" y="499872"/>
                <a:ext cx="10515600" cy="5896547"/>
              </a:xfrm>
              <a:blipFill>
                <a:blip r:embed="rId3"/>
                <a:stretch>
                  <a:fillRect l="-522" t="-14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6960295"/>
              </p:ext>
            </p:extLst>
          </p:nvPr>
        </p:nvGraphicFramePr>
        <p:xfrm>
          <a:off x="4794250" y="24987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" name="Equation" r:id="rId4" imgW="114120" imgH="177480" progId="Equation.DSMT4">
                  <p:embed/>
                </p:oleObj>
              </mc:Choice>
              <mc:Fallback>
                <p:oleObj name="Equation" r:id="rId4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94250" y="24987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6206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02336"/>
            <a:ext cx="10515600" cy="614476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sz="1800" b="1" i="1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Population</a:t>
            </a:r>
          </a:p>
          <a:p>
            <a:pPr marL="0" indent="0">
              <a:buNone/>
            </a:pPr>
            <a:r>
              <a:rPr lang="en-IN" sz="18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i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IN" sz="1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 Finite (limited number of potential customers)</a:t>
            </a:r>
          </a:p>
          <a:p>
            <a:pPr marL="0" indent="0">
              <a:buNone/>
            </a:pPr>
            <a:r>
              <a:rPr lang="en-IN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- Infinite</a:t>
            </a:r>
          </a:p>
          <a:p>
            <a:pPr marL="0" indent="0">
              <a:buNone/>
            </a:pPr>
            <a:endParaRPr lang="en-IN" sz="18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i="1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Kendall’s Notation:     </a:t>
            </a:r>
          </a:p>
          <a:p>
            <a:pPr marL="0" indent="0">
              <a:buNone/>
            </a:pPr>
            <a:r>
              <a:rPr lang="en-IN" sz="1800" i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GI / E</a:t>
            </a:r>
            <a:r>
              <a:rPr lang="en-IN" sz="1800" i="1" baseline="-25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800" i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/ C / 10 / 10 / LCFS                  </a:t>
            </a:r>
          </a:p>
          <a:p>
            <a:pPr marL="0" indent="0">
              <a:buNone/>
            </a:pPr>
            <a:endParaRPr lang="en-IN" sz="18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800" i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General independent    Erlang-3          No. of         System        Finite source        Queue discipline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800" i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inter-arrival time        Service time     servers       capacity            size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800" i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 : Markovian (negative exponential) inter-arrival/service time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  : Deterministic inter-arrival/service time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800" i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1800" i="1" baseline="-25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IN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IN" sz="18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Erlang</a:t>
            </a:r>
            <a:r>
              <a:rPr lang="en-IN" sz="1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-R</a:t>
            </a:r>
            <a:r>
              <a:rPr lang="en-IN" sz="1800" i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inter-arrival/service time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 : General Independent inter-arrival/service time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  : General service times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IN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en-IN" sz="1800" i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M/ D/2/N    M/M/1   M/M/C    M/M/C/C     M/M/C/N/FCFS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2128266" y="2548128"/>
            <a:ext cx="1139190" cy="390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3472434" y="2621280"/>
            <a:ext cx="233934" cy="3169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4203192" y="2548128"/>
            <a:ext cx="421005" cy="390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555236" y="2548128"/>
            <a:ext cx="1138428" cy="390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965192" y="2548128"/>
            <a:ext cx="2033016" cy="390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 flipV="1">
            <a:off x="5791200" y="2548128"/>
            <a:ext cx="2938272" cy="4754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5844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04800"/>
                <a:ext cx="10515600" cy="58721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1800" b="1" i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Performance measures: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1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Steady-state performance is often misunderstood.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1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(Expected behaviour of the system in the long run)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average settles down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1800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Most basic information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Probability distribution of the number of customers in the system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= probability that ‘</a:t>
                </a:r>
                <a:r>
                  <a:rPr lang="en-IN" sz="18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 customers are present in the system   ; </a:t>
                </a:r>
                <a:r>
                  <a:rPr lang="en-IN" sz="18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0 to N or </a:t>
                </a:r>
                <a14:m>
                  <m:oMath xmlns:m="http://schemas.openxmlformats.org/officeDocument/2006/math">
                    <m:r>
                      <a:rPr lang="en-IN" sz="180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IN" sz="1800" i="1" dirty="0" smtClean="0">
                  <a:latin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(All other performance measures such as mean delay, utilization of server etc. can be derived from p</a:t>
                </a:r>
                <a:r>
                  <a:rPr lang="en-IN" sz="18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) </a:t>
                </a: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18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p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30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= 0.3      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can be interpreted in two ways – probability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– fraction of time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P(all ‘c’ servers are busy)   =    p</a:t>
                </a:r>
                <a:r>
                  <a:rPr lang="en-IN" sz="18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+   p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c+1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+   p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c+2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+    p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c+3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+…… = P(delay for a new customer)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IN" sz="1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Suppose b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= Probability that ‘</a:t>
                </a:r>
                <a:r>
                  <a:rPr lang="en-IN" sz="18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 servers are busy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 for </a:t>
                </a:r>
                <a:r>
                  <a:rPr lang="en-IN" sz="1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&lt;c, 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       b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p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18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IN" sz="18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04800"/>
                <a:ext cx="10515600" cy="5872163"/>
              </a:xfrm>
              <a:blipFill>
                <a:blip r:embed="rId2"/>
                <a:stretch>
                  <a:fillRect l="-522" t="-9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838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414528"/>
                <a:ext cx="10515600" cy="576243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IN" sz="1800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Queue length distribution</a:t>
                </a:r>
                <a:r>
                  <a:rPr lang="en-IN" sz="1800" i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</a:t>
                </a:r>
                <a:r>
                  <a:rPr lang="en-IN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=   p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+    p</a:t>
                </a:r>
                <a:r>
                  <a:rPr lang="en-IN" sz="18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+   p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+……..     + 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                            </a:t>
                </a:r>
                <a:r>
                  <a:rPr lang="en-IN" sz="18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IN" sz="1800" i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IN" sz="1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q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=   </a:t>
                </a:r>
                <a:r>
                  <a:rPr lang="en-IN" sz="18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IN" sz="18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c+i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                 </a:t>
                </a:r>
                <a:r>
                  <a:rPr lang="en-IN" sz="18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&gt;0</a:t>
                </a:r>
              </a:p>
              <a:p>
                <a:pPr marL="0" indent="0">
                  <a:buNone/>
                </a:pP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IN" sz="1800" b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Computation of  some mean values</a:t>
                </a:r>
                <a:r>
                  <a:rPr lang="en-IN" sz="1800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buNone/>
                </a:pPr>
                <a:endParaRPr lang="en-IN" sz="1800" u="sng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9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   = Mean number of customers in the system (mean of the p</a:t>
                </a:r>
                <a:r>
                  <a:rPr lang="en-IN" sz="19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19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distribution)</a:t>
                </a:r>
              </a:p>
              <a:p>
                <a:pPr marL="0" indent="0">
                  <a:buNone/>
                </a:pPr>
                <a:r>
                  <a:rPr lang="en-IN" sz="19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   =</a:t>
                </a:r>
                <a14:m>
                  <m:oMath xmlns:m="http://schemas.openxmlformats.org/officeDocument/2006/math">
                    <m:r>
                      <a:rPr lang="en-IN" sz="1900" b="0" i="1" dirty="0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limLoc m:val="undOvr"/>
                        <m:grow m:val="on"/>
                        <m:supHide m:val="on"/>
                        <m:ctrlPr>
                          <a:rPr lang="en-IN" sz="19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19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IN" sz="19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IN" sz="19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90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190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IN" sz="19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9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  = Mean of the busy servers (from b</a:t>
                </a:r>
                <a:r>
                  <a:rPr lang="en-IN" sz="19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19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distribution)</a:t>
                </a:r>
              </a:p>
              <a:p>
                <a:pPr marL="0" indent="0">
                  <a:buNone/>
                </a:pPr>
                <a:r>
                  <a:rPr lang="en-IN" sz="19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IN" sz="19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IN" sz="19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= Mean queue length (from q</a:t>
                </a:r>
                <a:r>
                  <a:rPr lang="en-IN" sz="19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19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distribution)</a:t>
                </a:r>
              </a:p>
              <a:p>
                <a:pPr marL="0" indent="0">
                  <a:buNone/>
                </a:pPr>
                <a:r>
                  <a:rPr lang="en-IN" sz="19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IN" sz="19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= Average utilization of servers</a:t>
                </a:r>
              </a:p>
              <a:p>
                <a:pPr marL="0" indent="0">
                  <a:buNone/>
                </a:pPr>
                <a:r>
                  <a:rPr lang="en-IN" sz="19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    = Throughput rate</a:t>
                </a:r>
              </a:p>
              <a:p>
                <a:pPr marL="0" indent="0">
                  <a:buNone/>
                </a:pPr>
                <a:r>
                  <a:rPr lang="en-IN" sz="19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   = Average waiting time in the system</a:t>
                </a:r>
              </a:p>
              <a:p>
                <a:pPr marL="0" indent="0">
                  <a:buNone/>
                </a:pPr>
                <a:r>
                  <a:rPr lang="en-IN" sz="19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IN" sz="19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IN" sz="19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= Average waiting time in the queue</a:t>
                </a:r>
              </a:p>
              <a:p>
                <a:pPr marL="0" indent="0">
                  <a:buNone/>
                </a:pPr>
                <a:endParaRPr lang="en-IN" sz="1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</a:t>
                </a:r>
                <a:endParaRPr lang="en-IN" sz="1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i="1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i="1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14528"/>
                <a:ext cx="10515600" cy="5762435"/>
              </a:xfrm>
              <a:blipFill>
                <a:blip r:embed="rId2"/>
                <a:stretch>
                  <a:fillRect l="-522" t="-10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0637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597408"/>
                <a:ext cx="10515600" cy="5815584"/>
              </a:xfrm>
            </p:spPr>
            <p:txBody>
              <a:bodyPr>
                <a:normAutofit fontScale="25000" lnSpcReduction="20000"/>
              </a:bodyPr>
              <a:lstStyle/>
              <a:p>
                <a:r>
                  <a:rPr lang="en-IN" sz="7200" b="1" i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Relations among the performance measures</a:t>
                </a:r>
              </a:p>
              <a:p>
                <a:pPr marL="0" indent="0">
                  <a:buNone/>
                </a:pPr>
                <a:r>
                  <a:rPr lang="en-IN" sz="7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 = </a:t>
                </a:r>
                <a:r>
                  <a:rPr lang="en-IN" sz="7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IN" sz="72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IN" sz="7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IN" sz="7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         </a:t>
                </a:r>
              </a:p>
              <a:p>
                <a:pPr marL="0" indent="0">
                  <a:buNone/>
                </a:pPr>
                <a:r>
                  <a:rPr lang="en-IN" sz="7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 = </a:t>
                </a:r>
                <a:r>
                  <a:rPr lang="en-IN" sz="7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7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IN" sz="72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IN" sz="7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+ 1/</a:t>
                </a:r>
                <a14:m>
                  <m:oMath xmlns:m="http://schemas.openxmlformats.org/officeDocument/2006/math">
                    <m:r>
                      <a:rPr lang="en-IN" sz="7200" i="1" dirty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en-IN" sz="72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7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= B/c</a:t>
                </a:r>
              </a:p>
              <a:p>
                <a:pPr marL="0" indent="0">
                  <a:buNone/>
                </a:pPr>
                <a:r>
                  <a:rPr lang="en-IN" sz="7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only one server</a:t>
                </a:r>
                <a:r>
                  <a:rPr lang="en-IN" sz="7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u = B =1- p</a:t>
                </a:r>
                <a:r>
                  <a:rPr lang="en-IN" sz="72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IN" sz="72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7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Throughput must be equal to arrival rate for stability</a:t>
                </a:r>
              </a:p>
              <a:p>
                <a:pPr marL="0" indent="0">
                  <a:buNone/>
                </a:pPr>
                <a:r>
                  <a:rPr lang="en-IN" sz="7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R = </a:t>
                </a:r>
                <a14:m>
                  <m:oMath xmlns:m="http://schemas.openxmlformats.org/officeDocument/2006/math">
                    <m:r>
                      <a:rPr lang="en-IN" sz="72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IN" sz="7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; for infinite capacity queue</a:t>
                </a:r>
              </a:p>
              <a:p>
                <a:pPr marL="0" indent="0">
                  <a:buNone/>
                </a:pPr>
                <a:r>
                  <a:rPr lang="en-IN" sz="7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7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R = </a:t>
                </a:r>
                <a14:m>
                  <m:oMath xmlns:m="http://schemas.openxmlformats.org/officeDocument/2006/math">
                    <m:r>
                      <a:rPr lang="en-IN" sz="72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IN" sz="7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(1- </a:t>
                </a:r>
                <a:r>
                  <a:rPr lang="en-IN" sz="7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IN" sz="72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IN" sz="7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       ; </a:t>
                </a:r>
                <a:r>
                  <a:rPr lang="en-IN" sz="7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finite capacity N</a:t>
                </a:r>
              </a:p>
              <a:p>
                <a:pPr marL="0" indent="0">
                  <a:buNone/>
                </a:pPr>
                <a:endParaRPr lang="en-IN" sz="7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7200" b="1" i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Little’s Law:</a:t>
                </a:r>
              </a:p>
              <a:p>
                <a:pPr marL="0" indent="0">
                  <a:buNone/>
                </a:pPr>
                <a:r>
                  <a:rPr lang="en-IN" sz="7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Relation between waiting time and length of the system (no. of customers in the system)</a:t>
                </a:r>
              </a:p>
              <a:p>
                <a:pPr marL="0" indent="0">
                  <a:buNone/>
                </a:pPr>
                <a:r>
                  <a:rPr lang="en-IN" sz="7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</a:t>
                </a:r>
              </a:p>
              <a:p>
                <a:pPr marL="0" indent="0">
                  <a:buNone/>
                </a:pPr>
                <a:r>
                  <a:rPr lang="en-IN" sz="7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7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L = RW      ;        </a:t>
                </a:r>
                <a:r>
                  <a:rPr lang="en-IN" sz="7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IN" sz="72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IN" sz="7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IN" sz="7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RW</a:t>
                </a:r>
                <a:r>
                  <a:rPr lang="en-IN" sz="72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endParaRPr lang="en-IN" sz="72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7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7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finite capacity queue    </a:t>
                </a:r>
                <a:r>
                  <a:rPr lang="en-IN" sz="7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 = </a:t>
                </a:r>
                <a14:m>
                  <m:oMath xmlns:m="http://schemas.openxmlformats.org/officeDocument/2006/math">
                    <m:r>
                      <a:rPr lang="en-IN" sz="72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IN" sz="7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</a:t>
                </a:r>
              </a:p>
              <a:p>
                <a:pPr marL="0" indent="0">
                  <a:buNone/>
                </a:pPr>
                <a:r>
                  <a:rPr lang="en-IN" sz="7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infinite capacity queue  R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7200" b="0" i="0" smtClean="0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IN" sz="7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(1- </a:t>
                </a:r>
                <a:r>
                  <a:rPr lang="en-IN" sz="72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IN" sz="72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IN" sz="7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  <a:p>
                <a:pPr marL="0" indent="0">
                  <a:buNone/>
                </a:pPr>
                <a:endParaRPr lang="en-IN" sz="7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1800" u="sng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1800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</a:t>
                </a:r>
                <a:endParaRPr lang="en-IN" sz="1800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97408"/>
                <a:ext cx="10515600" cy="5815584"/>
              </a:xfrm>
              <a:blipFill>
                <a:blip r:embed="rId2"/>
                <a:stretch>
                  <a:fillRect l="-522" t="-17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8297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29184"/>
                <a:ext cx="10515600" cy="584777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1800" b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Markovian Queueing Model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Negative exponentially distributed with </a:t>
                </a:r>
                <a14:m>
                  <m:oMath xmlns:m="http://schemas.openxmlformats.org/officeDocument/2006/math">
                    <m:r>
                      <a:rPr lang="en-IN" sz="18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14:m>
                  <m:oMath xmlns:m="http://schemas.openxmlformats.org/officeDocument/2006/math">
                    <m:r>
                      <a:rPr lang="en-IN" sz="1800" i="1" dirty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- inter-arrival time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- service time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Sets up linear steady-state equations to find out 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distribution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IN" sz="1800" b="1" i="1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IN" sz="1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</a:t>
                </a:r>
                <a14:m>
                  <m:oMath xmlns:m="http://schemas.openxmlformats.org/officeDocument/2006/math">
                    <m:r>
                      <a:rPr lang="en-IN" sz="1800" b="1" i="1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IN" sz="1800" b="1" dirty="0" smtClean="0"/>
                  <a:t>                               </a:t>
                </a:r>
                <a14:m>
                  <m:oMath xmlns:m="http://schemas.openxmlformats.org/officeDocument/2006/math">
                    <m:r>
                      <a:rPr lang="en-IN" sz="1800" b="1" i="1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IN" sz="1800" b="1" dirty="0" smtClean="0"/>
                  <a:t>                           </a:t>
                </a:r>
                <a14:m>
                  <m:oMath xmlns:m="http://schemas.openxmlformats.org/officeDocument/2006/math">
                    <m:r>
                      <a:rPr lang="en-IN" sz="1800" b="1" i="1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endParaRPr lang="en-IN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1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                                </a:t>
                </a:r>
                <a:r>
                  <a:rPr lang="en-IN" sz="1800" b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M/M/1 Model</a:t>
                </a:r>
                <a:endParaRPr lang="en-IN" sz="1800" b="1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800" b="1" i="1" dirty="0" smtClean="0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IN" sz="1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</a:t>
                </a:r>
                <a14:m>
                  <m:oMath xmlns:m="http://schemas.openxmlformats.org/officeDocument/2006/math">
                    <m:r>
                      <a:rPr lang="en-IN" sz="1800" b="1" i="1" dirty="0" smtClean="0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IN" sz="1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</a:t>
                </a:r>
                <a14:m>
                  <m:oMath xmlns:m="http://schemas.openxmlformats.org/officeDocument/2006/math">
                    <m:r>
                      <a:rPr lang="en-IN" sz="1800" b="1" i="1" dirty="0" smtClean="0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IN" sz="1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</a:t>
                </a:r>
                <a14:m>
                  <m:oMath xmlns:m="http://schemas.openxmlformats.org/officeDocument/2006/math">
                    <m:r>
                      <a:rPr lang="en-IN" sz="1800" b="1" i="1" dirty="0" smtClean="0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endParaRPr lang="en-IN" sz="1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1800" b="1" dirty="0" smtClean="0"/>
                  <a:t> 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29184"/>
                <a:ext cx="10515600" cy="5847779"/>
              </a:xfrm>
              <a:blipFill>
                <a:blip r:embed="rId2"/>
                <a:stretch>
                  <a:fillRect l="-522" t="-9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/>
          <p:cNvSpPr/>
          <p:nvPr/>
        </p:nvSpPr>
        <p:spPr>
          <a:xfrm>
            <a:off x="1818132" y="2795873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i-1</a:t>
            </a:r>
            <a:endParaRPr lang="en-IN" dirty="0"/>
          </a:p>
        </p:txBody>
      </p:sp>
      <p:sp>
        <p:nvSpPr>
          <p:cNvPr id="8" name="Oval 7"/>
          <p:cNvSpPr/>
          <p:nvPr/>
        </p:nvSpPr>
        <p:spPr>
          <a:xfrm>
            <a:off x="3603498" y="2795873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 smtClean="0"/>
              <a:t>i</a:t>
            </a:r>
            <a:endParaRPr lang="en-IN" dirty="0"/>
          </a:p>
        </p:txBody>
      </p:sp>
      <p:sp>
        <p:nvSpPr>
          <p:cNvPr id="9" name="Oval 8"/>
          <p:cNvSpPr/>
          <p:nvPr/>
        </p:nvSpPr>
        <p:spPr>
          <a:xfrm>
            <a:off x="5388864" y="2795873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i+1</a:t>
            </a:r>
            <a:endParaRPr lang="en-IN" dirty="0"/>
          </a:p>
        </p:txBody>
      </p:sp>
      <p:sp>
        <p:nvSpPr>
          <p:cNvPr id="11" name="Curved Down Arrow 10"/>
          <p:cNvSpPr/>
          <p:nvPr/>
        </p:nvSpPr>
        <p:spPr>
          <a:xfrm>
            <a:off x="985266" y="2493264"/>
            <a:ext cx="1063752" cy="377952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" name="Curved Down Arrow 11"/>
          <p:cNvSpPr/>
          <p:nvPr/>
        </p:nvSpPr>
        <p:spPr>
          <a:xfrm>
            <a:off x="2636139" y="2543985"/>
            <a:ext cx="1063752" cy="377952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3" name="Curved Down Arrow 12"/>
          <p:cNvSpPr/>
          <p:nvPr/>
        </p:nvSpPr>
        <p:spPr>
          <a:xfrm>
            <a:off x="4398264" y="2493264"/>
            <a:ext cx="1063752" cy="377952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Curved Down Arrow 13"/>
          <p:cNvSpPr/>
          <p:nvPr/>
        </p:nvSpPr>
        <p:spPr>
          <a:xfrm>
            <a:off x="6063996" y="2470833"/>
            <a:ext cx="1063752" cy="377952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8" name="Curved Down Arrow 17"/>
          <p:cNvSpPr/>
          <p:nvPr/>
        </p:nvSpPr>
        <p:spPr>
          <a:xfrm flipH="1" flipV="1">
            <a:off x="5981700" y="3710272"/>
            <a:ext cx="1192530" cy="544735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9" name="Curved Down Arrow 18"/>
          <p:cNvSpPr/>
          <p:nvPr/>
        </p:nvSpPr>
        <p:spPr>
          <a:xfrm flipH="1" flipV="1">
            <a:off x="4346448" y="3706987"/>
            <a:ext cx="1192530" cy="544735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0" name="Curved Down Arrow 19"/>
          <p:cNvSpPr/>
          <p:nvPr/>
        </p:nvSpPr>
        <p:spPr>
          <a:xfrm flipH="1" flipV="1">
            <a:off x="2568321" y="3710272"/>
            <a:ext cx="1192530" cy="544735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1" name="Curved Down Arrow 20"/>
          <p:cNvSpPr/>
          <p:nvPr/>
        </p:nvSpPr>
        <p:spPr>
          <a:xfrm flipH="1" flipV="1">
            <a:off x="875919" y="3710272"/>
            <a:ext cx="1192530" cy="544735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183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292608"/>
                <a:ext cx="10515600" cy="5884355"/>
              </a:xfrm>
            </p:spPr>
            <p:txBody>
              <a:bodyPr>
                <a:normAutofit/>
              </a:bodyPr>
              <a:lstStyle/>
              <a:p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Why assumption of birth-death process?</a:t>
                </a:r>
              </a:p>
              <a:p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Only one arrival or one service completion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80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</a:p>
              <a:p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Numerical difficulty in solving stead-state equations for other MCS.</a:t>
                </a:r>
              </a:p>
              <a:p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Flow balance principle</a:t>
                </a:r>
              </a:p>
              <a:p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 is flow ?         </a:t>
                </a:r>
                <a:r>
                  <a:rPr lang="en-IN" sz="1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IN" sz="18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</a:t>
                </a:r>
                <a:r>
                  <a:rPr lang="en-IN" sz="1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j       ;   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flow =    </a:t>
                </a:r>
                <a:r>
                  <a:rPr lang="en-IN" sz="18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IN" sz="18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endParaRPr lang="en-IN" sz="1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</a:t>
                </a:r>
              </a:p>
              <a:p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each state, we get a flow balance equation (Total incoming flow = Total outgoing flow)</a:t>
                </a:r>
              </a:p>
              <a:p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Normalizing equation: </a:t>
                </a:r>
              </a:p>
              <a:p>
                <a:pPr marL="0" indent="0"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supHide m:val="on"/>
                        <m:ctrlPr>
                          <a:rPr lang="en-IN" sz="18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IN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acc>
                              <m:accPr>
                                <m:chr m:val="̇"/>
                                <m:ctrlPr>
                                  <a:rPr lang="en-IN" sz="18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18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acc>
                          </m:sub>
                        </m:sSub>
                      </m:e>
                    </m:nary>
                    <m:r>
                      <a:rPr lang="en-IN" sz="180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IN" sz="18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92608"/>
                <a:ext cx="10515600" cy="5884355"/>
              </a:xfrm>
              <a:blipFill>
                <a:blip r:embed="rId2"/>
                <a:stretch>
                  <a:fillRect l="-522" t="-9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rved Down Arrow 3"/>
          <p:cNvSpPr/>
          <p:nvPr/>
        </p:nvSpPr>
        <p:spPr>
          <a:xfrm>
            <a:off x="3011424" y="2426208"/>
            <a:ext cx="865632" cy="24384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872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                     </a:t>
            </a:r>
            <a:r>
              <a:rPr lang="en-I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M/M/1 Model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 smtClean="0"/>
                  <a:t>Applying the principle of flow balance:</a:t>
                </a:r>
              </a:p>
              <a:p>
                <a:endParaRPr lang="en-I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IN" sz="1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8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sz="18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sz="1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800" i="1" dirty="0">
                          <a:latin typeface="Cambria Math" panose="02040503050406030204" pitchFamily="18" charset="0"/>
                        </a:rPr>
                        <m:t>𝜇</m:t>
                      </m:r>
                      <m:sSub>
                        <m:sSubPr>
                          <m:ctrlPr>
                            <a:rPr lang="en-IN" sz="1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8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sz="1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1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(</a:t>
                </a:r>
                <a14:m>
                  <m:oMath xmlns:m="http://schemas.openxmlformats.org/officeDocument/2006/math">
                    <m:r>
                      <a:rPr lang="en-IN" sz="18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IN" sz="18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180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IN" sz="1800" b="0" i="1" dirty="0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1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800" i="1" dirty="0" smtClean="0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18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𝜇</m:t>
                    </m:r>
                    <m:sSub>
                      <m:sSubPr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IN" sz="1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(</a:t>
                </a:r>
                <a14:m>
                  <m:oMath xmlns:m="http://schemas.openxmlformats.org/officeDocument/2006/math">
                    <m:r>
                      <a:rPr lang="en-IN" sz="18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IN" sz="18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180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IN" sz="1800" b="0" i="1" dirty="0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800" i="1" dirty="0" smtClean="0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1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18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𝜇</m:t>
                    </m:r>
                    <m:sSub>
                      <m:sSubPr>
                        <m:ctrlPr>
                          <a:rPr lang="en-IN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18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IN" sz="1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      .</a:t>
                </a:r>
              </a:p>
              <a:p>
                <a:pPr marL="0" indent="0">
                  <a:buNone/>
                </a:pP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      .</a:t>
                </a:r>
              </a:p>
              <a:p>
                <a:pPr marL="0" indent="0">
                  <a:buNone/>
                </a:pP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      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1800" b="0" i="1" dirty="0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                                      </m:t>
                    </m:r>
                    <m:r>
                      <a:rPr lang="en-IN" sz="1800" i="1" dirty="0" smtClean="0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1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18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IN" sz="1800" b="0" i="1" dirty="0" smtClean="0">
                        <a:latin typeface="Cambria Math" panose="02040503050406030204" pitchFamily="18" charset="0"/>
                      </a:rPr>
                      <m:t> − </m:t>
                    </m:r>
                  </m:oMath>
                </a14:m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18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IN" sz="18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180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IN" sz="1800" b="0" i="1" dirty="0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1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18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𝜇</m:t>
                    </m:r>
                    <m:sSub>
                      <m:sSubPr>
                        <m:ctrlPr>
                          <a:rPr lang="en-IN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1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1800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=  0</a:t>
                </a:r>
                <a:endParaRPr lang="en-IN" sz="18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1125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597408"/>
                <a:ext cx="10515600" cy="5579555"/>
              </a:xfrm>
            </p:spPr>
            <p:txBody>
              <a:bodyPr>
                <a:normAutofit fontScale="25000" lnSpcReduction="20000"/>
              </a:bodyPr>
              <a:lstStyle/>
              <a:p>
                <a:r>
                  <a:rPr lang="en-IN" sz="7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Solving the equations, </a:t>
                </a:r>
                <a:endParaRPr lang="en-IN" sz="7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7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7000" b="0" i="1" dirty="0" smtClean="0">
                            <a:latin typeface="Cambria Math" panose="02040503050406030204" pitchFamily="18" charset="0"/>
                          </a:rPr>
                          <m:t>                                                                   </m:t>
                        </m:r>
                        <m:r>
                          <a:rPr lang="en-IN" sz="70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7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7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7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IN" sz="70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7000" i="1" dirty="0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num>
                          <m:den>
                            <m:r>
                              <a:rPr lang="en-IN" sz="7000" i="1" dirty="0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m:rPr>
                                <m:nor/>
                              </m:rPr>
                              <a:rPr lang="en-IN" sz="7000" i="1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den>
                        </m:f>
                        <m:r>
                          <a:rPr lang="en-IN" sz="7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IN" sz="70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7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7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7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7000" b="0" i="1" dirty="0" smtClean="0">
                            <a:latin typeface="Cambria Math" panose="02040503050406030204" pitchFamily="18" charset="0"/>
                          </a:rPr>
                          <m:t>                                                                   </m:t>
                        </m:r>
                        <m:r>
                          <a:rPr lang="en-IN" sz="70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7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7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7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pt-BR" sz="70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f>
                              <m:fPr>
                                <m:ctrlPr>
                                  <a:rPr lang="en-IN" sz="7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7000" i="0" dirty="0" smtClean="0"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7000" i="0" dirty="0" smtClean="0">
                                    <a:latin typeface="Cambria Math" panose="02040503050406030204" pitchFamily="18" charset="0"/>
                                  </a:rPr>
                                  <m:t>μ</m:t>
                                </m:r>
                                <m:r>
                                  <m:rPr>
                                    <m:nor/>
                                  </m:rPr>
                                  <a:rPr lang="en-IN" sz="7000" dirty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den>
                            </m:f>
                            <m:r>
                              <a:rPr lang="en-IN" sz="7000" b="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70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70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7000" i="0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IN" sz="7000" i="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7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…..</a:t>
                </a:r>
              </a:p>
              <a:p>
                <a:pPr marL="0" indent="0">
                  <a:buNone/>
                </a:pPr>
                <a:endParaRPr lang="en-IN" sz="7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7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7000" b="0" i="1" dirty="0" smtClean="0">
                            <a:latin typeface="Cambria Math" panose="02040503050406030204" pitchFamily="18" charset="0"/>
                          </a:rPr>
                          <m:t>                                        …..                    </m:t>
                        </m:r>
                        <m:r>
                          <a:rPr lang="en-IN" sz="70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7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7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7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pt-BR" sz="70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f>
                              <m:fPr>
                                <m:ctrlPr>
                                  <a:rPr lang="en-IN" sz="7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7000" i="0" dirty="0" smtClean="0"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7000" i="0" dirty="0" smtClean="0">
                                    <a:latin typeface="Cambria Math" panose="02040503050406030204" pitchFamily="18" charset="0"/>
                                  </a:rPr>
                                  <m:t>μ</m:t>
                                </m:r>
                                <m:r>
                                  <m:rPr>
                                    <m:nor/>
                                  </m:rPr>
                                  <a:rPr lang="en-IN" sz="7000" dirty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den>
                            </m:f>
                            <m:r>
                              <a:rPr lang="en-IN" sz="7000" b="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7000" b="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i</m:t>
                            </m:r>
                          </m:sup>
                        </m:sSup>
                        <m:r>
                          <a:rPr lang="en-IN" sz="70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7000" i="0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IN" sz="7000" i="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IN" sz="7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7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7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1 =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7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70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700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7000" i="0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7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70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700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7000" i="0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7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70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70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7000" i="0" dirty="0" smtClean="0">
                        <a:latin typeface="Cambria Math" panose="02040503050406030204" pitchFamily="18" charset="0"/>
                      </a:rPr>
                      <m:t>+…</m:t>
                    </m:r>
                  </m:oMath>
                </a14:m>
                <a:r>
                  <a:rPr lang="en-IN" sz="7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</a:p>
              <a:p>
                <a:pPr marL="0" indent="0">
                  <a:buNone/>
                </a:pPr>
                <a:r>
                  <a:rPr lang="en-IN" sz="7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7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1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7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70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700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7000" i="0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IN" sz="7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70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7000" i="1" dirty="0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num>
                          <m:den>
                            <m:r>
                              <a:rPr lang="en-IN" sz="7000" i="1" dirty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7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70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700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7000" b="0" i="1" dirty="0" smtClean="0">
                        <a:latin typeface="Cambria Math" panose="02040503050406030204" pitchFamily="18" charset="0"/>
                      </a:rPr>
                      <m:t>+ </m:t>
                    </m:r>
                  </m:oMath>
                </a14:m>
                <a:r>
                  <a:rPr lang="en-IN" sz="7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7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pt-BR" sz="70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f>
                              <m:fPr>
                                <m:ctrlPr>
                                  <a:rPr lang="en-IN" sz="7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7000" i="0" dirty="0" smtClean="0"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7000" i="0" dirty="0" smtClean="0">
                                    <a:latin typeface="Cambria Math" panose="02040503050406030204" pitchFamily="18" charset="0"/>
                                  </a:rPr>
                                  <m:t>μ</m:t>
                                </m:r>
                                <m:r>
                                  <m:rPr>
                                    <m:nor/>
                                  </m:rPr>
                                  <a:rPr lang="en-IN" sz="7000" dirty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den>
                            </m:f>
                            <m:r>
                              <a:rPr lang="en-IN" sz="7000" b="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70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70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7000" i="0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IN" sz="7000" i="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7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…</a:t>
                </a:r>
              </a:p>
              <a:p>
                <a:pPr marL="0" indent="0">
                  <a:buNone/>
                </a:pPr>
                <a:r>
                  <a:rPr lang="en-IN" sz="7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7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1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7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70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700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7000" b="0" i="1" dirty="0" smtClean="0">
                        <a:latin typeface="Cambria Math" panose="02040503050406030204" pitchFamily="18" charset="0"/>
                      </a:rPr>
                      <m:t>[1</m:t>
                    </m:r>
                    <m:r>
                      <a:rPr lang="en-IN" sz="7000" i="0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IN" sz="7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70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7000" i="1" dirty="0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num>
                          <m:den>
                            <m:r>
                              <a:rPr lang="en-IN" sz="7000" i="1" dirty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</m:e>
                    </m:d>
                    <m:r>
                      <a:rPr lang="en-IN" sz="7000" b="0" i="1" dirty="0" smtClean="0">
                        <a:latin typeface="Cambria Math" panose="02040503050406030204" pitchFamily="18" charset="0"/>
                      </a:rPr>
                      <m:t>+ </m:t>
                    </m:r>
                    <m:r>
                      <m:rPr>
                        <m:nor/>
                      </m:rPr>
                      <a:rPr lang="en-IN" sz="7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IN" sz="7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pt-BR" sz="70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f>
                              <m:fPr>
                                <m:ctrlPr>
                                  <a:rPr lang="en-IN" sz="7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7000" i="0" dirty="0" smtClean="0"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7000" i="0" dirty="0" smtClean="0">
                                    <a:latin typeface="Cambria Math" panose="02040503050406030204" pitchFamily="18" charset="0"/>
                                  </a:rPr>
                                  <m:t>μ</m:t>
                                </m:r>
                                <m:r>
                                  <m:rPr>
                                    <m:nor/>
                                  </m:rPr>
                                  <a:rPr lang="en-IN" sz="7000" dirty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den>
                            </m:f>
                            <m:r>
                              <a:rPr lang="en-IN" sz="7000" b="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70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70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b>
                        <m:r>
                          <a:rPr lang="en-IN" sz="7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IN" sz="7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 …]</a:t>
                </a:r>
              </a:p>
              <a:p>
                <a:pPr marL="0" indent="0">
                  <a:buNone/>
                </a:pPr>
                <a:r>
                  <a:rPr lang="en-IN" sz="7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7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</a:t>
                </a:r>
              </a:p>
              <a:p>
                <a:pPr marL="0" indent="0">
                  <a:buNone/>
                </a:pPr>
                <a:r>
                  <a:rPr lang="en-IN" sz="7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1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7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700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700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d>
                          <m:dPr>
                            <m:ctrlPr>
                              <a:rPr lang="en-IN" sz="7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70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700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num>
                              <m:den>
                                <m:r>
                                  <a:rPr lang="en-IN" sz="700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lang="en-IN" sz="7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7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70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700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7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7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70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700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7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IN" sz="7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7000" i="0" dirty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IN" sz="7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700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IN" sz="700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den>
                    </m:f>
                  </m:oMath>
                </a14:m>
                <a:r>
                  <a:rPr lang="en-IN" sz="7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7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700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IN" sz="700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den>
                    </m:f>
                  </m:oMath>
                </a14:m>
                <a:r>
                  <a:rPr lang="en-IN" sz="7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 1</a:t>
                </a:r>
              </a:p>
              <a:p>
                <a:pPr marL="0" indent="0">
                  <a:buNone/>
                </a:pPr>
                <a:endParaRPr lang="en-IN" sz="7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7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7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70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7000" b="0" i="0" dirty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IN" sz="7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7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pt-BR" sz="70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f>
                              <m:fPr>
                                <m:ctrlPr>
                                  <a:rPr lang="en-IN" sz="7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7000" i="0" dirty="0" smtClean="0"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7000" i="0" dirty="0" smtClean="0">
                                    <a:latin typeface="Cambria Math" panose="02040503050406030204" pitchFamily="18" charset="0"/>
                                  </a:rPr>
                                  <m:t>μ</m:t>
                                </m:r>
                                <m:r>
                                  <m:rPr>
                                    <m:nor/>
                                  </m:rPr>
                                  <a:rPr lang="en-IN" sz="7000" dirty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den>
                            </m:f>
                            <m:r>
                              <a:rPr lang="en-IN" sz="7000" b="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7000" b="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i</m:t>
                            </m:r>
                          </m:sup>
                        </m:sSup>
                        <m:r>
                          <a:rPr lang="en-IN" sz="70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(</m:t>
                        </m:r>
                        <m:r>
                          <a:rPr lang="en-IN" sz="7000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7000" i="0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IN" sz="70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7000" i="1" dirty="0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num>
                          <m:den>
                            <m:r>
                              <a:rPr lang="en-IN" sz="7000" i="1" dirty="0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den>
                        </m:f>
                        <m:r>
                          <a:rPr lang="en-IN" sz="70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/>
                    </m:sSub>
                  </m:oMath>
                </a14:m>
                <a:r>
                  <a:rPr lang="en-IN" sz="7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7200" i="0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7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7200" b="0" i="1" dirty="0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IN" sz="7200" b="0" i="1" dirty="0" smtClean="0">
                            <a:latin typeface="Cambria Math" panose="02040503050406030204" pitchFamily="18" charset="0"/>
                          </a:rPr>
                          <m:t>ⅈ</m:t>
                        </m:r>
                      </m:sup>
                    </m:sSup>
                    <m:d>
                      <m:dPr>
                        <m:ctrlPr>
                          <a:rPr lang="en-IN" sz="7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7200" b="0" i="1" dirty="0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IN" sz="72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</m:oMath>
                </a14:m>
                <a:r>
                  <a:rPr lang="en-IN" sz="7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     where </a:t>
                </a:r>
                <a14:m>
                  <m:oMath xmlns:m="http://schemas.openxmlformats.org/officeDocument/2006/math">
                    <m:r>
                      <a:rPr lang="en-IN" sz="66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IN" sz="7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7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700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IN" sz="700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den>
                    </m:f>
                  </m:oMath>
                </a14:m>
                <a:r>
                  <a:rPr lang="en-IN" sz="7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&lt; 1   (Traffic  Intensity)</a:t>
                </a:r>
              </a:p>
              <a:p>
                <a:pPr marL="0" indent="0">
                  <a:buNone/>
                </a:pPr>
                <a:endParaRPr lang="en-IN" sz="1800" dirty="0" smtClean="0">
                  <a:latin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dirty="0" smtClean="0">
                  <a:latin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</a:t>
                </a: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97408"/>
                <a:ext cx="10515600" cy="5579555"/>
              </a:xfrm>
              <a:blipFill>
                <a:blip r:embed="rId2"/>
                <a:stretch>
                  <a:fillRect l="-522" t="-18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Arrow 3"/>
          <p:cNvSpPr/>
          <p:nvPr/>
        </p:nvSpPr>
        <p:spPr>
          <a:xfrm>
            <a:off x="4376928" y="4389120"/>
            <a:ext cx="633984" cy="19507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352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475488"/>
                <a:ext cx="10515600" cy="57014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IN" sz="1800" b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Interpretation of </a:t>
                </a:r>
                <a14:m>
                  <m:oMath xmlns:m="http://schemas.openxmlformats.org/officeDocument/2006/math">
                    <m:r>
                      <a:rPr lang="en-IN" sz="1800" b="1" i="1" u="sng" dirty="0" smtClean="0">
                        <a:latin typeface="Cambria Math" panose="02040503050406030204" pitchFamily="18" charset="0"/>
                      </a:rPr>
                      <m:t>𝝆</m:t>
                    </m:r>
                  </m:oMath>
                </a14:m>
                <a:endParaRPr lang="en-IN" sz="1800" b="1" u="sng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dirty="0" smtClean="0"/>
                  <a:t>                                                        </a:t>
                </a:r>
                <a14:m>
                  <m:oMath xmlns:m="http://schemas.openxmlformats.org/officeDocument/2006/math">
                    <m:r>
                      <a:rPr lang="en-IN" sz="18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IN" sz="18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180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1800" i="1" dirty="0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IN" sz="18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180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1800" i="1" dirty="0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den>
                        </m:f>
                      </m:den>
                    </m:f>
                    <m:r>
                      <a:rPr lang="en-IN" sz="1800" b="0" i="1" dirty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IN" sz="1800" b="0" dirty="0" smtClean="0">
                    <a:latin typeface="Times New Roman" panose="02020603050405020304" pitchFamily="18" charset="0"/>
                  </a:rPr>
                  <a:t> = (Mean service time)/(Mean inter-arrival time)</a:t>
                </a:r>
              </a:p>
              <a:p>
                <a:pPr marL="0" indent="0">
                  <a:buNone/>
                </a:pPr>
                <a:endParaRPr lang="en-IN" sz="1800" dirty="0">
                  <a:latin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</a:t>
                </a:r>
                <a14:m>
                  <m:oMath xmlns:m="http://schemas.openxmlformats.org/officeDocument/2006/math">
                    <m:r>
                      <a:rPr lang="en-IN" sz="18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IN" sz="1800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IN" sz="1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8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𝜇</m:t>
                        </m:r>
                      </m:den>
                    </m:f>
                  </m:oMath>
                </a14:m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- arrival rate*mean service time</a:t>
                </a:r>
              </a:p>
              <a:p>
                <a:pPr marL="0" indent="0"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 will not give an answer if customers are arriving faster than they can be serviced.</a:t>
                </a:r>
              </a:p>
              <a:p>
                <a:pPr marL="0" indent="0">
                  <a:buNone/>
                </a:pP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= 1-p</a:t>
                </a:r>
                <a:r>
                  <a:rPr lang="en-IN" sz="18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= </a:t>
                </a:r>
                <a14:m>
                  <m:oMath xmlns:m="http://schemas.openxmlformats.org/officeDocument/2006/math">
                    <m:r>
                      <a:rPr lang="en-IN" sz="1800" i="1" dirty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u = B (for single server)</a:t>
                </a:r>
              </a:p>
              <a:p>
                <a:pPr marL="0" indent="0"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= </a:t>
                </a:r>
                <a14:m>
                  <m:oMath xmlns:m="http://schemas.openxmlformats.org/officeDocument/2006/math">
                    <m:r>
                      <a:rPr lang="en-IN" sz="1800" i="1" dirty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 1</a:t>
                </a:r>
              </a:p>
              <a:p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L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IN" sz="18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18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1800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IN" sz="1800" i="0" dirty="0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IN" sz="18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IN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180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= 0.p</a:t>
                </a:r>
                <a:r>
                  <a:rPr lang="en-IN" sz="18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+ 1.p</a:t>
                </a:r>
                <a:r>
                  <a:rPr lang="en-IN" sz="18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+ 2.p</a:t>
                </a:r>
                <a:r>
                  <a:rPr lang="en-IN" sz="18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+…</a:t>
                </a:r>
              </a:p>
              <a:p>
                <a:pPr marL="0" indent="0">
                  <a:buNone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= (1-</a:t>
                </a:r>
                <a:r>
                  <a:rPr lang="en-IN" sz="1800" dirty="0"/>
                  <a:t> </a:t>
                </a:r>
                <a14:m>
                  <m:oMath xmlns:m="http://schemas.openxmlformats.org/officeDocument/2006/math">
                    <m:r>
                      <a:rPr lang="en-IN" sz="1800" i="1" dirty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)(</a:t>
                </a:r>
                <a14:m>
                  <m:oMath xmlns:m="http://schemas.openxmlformats.org/officeDocument/2006/math">
                    <m:r>
                      <a:rPr lang="en-IN" sz="1800" i="1" dirty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+ 2</a:t>
                </a:r>
                <a14:m>
                  <m:oMath xmlns:m="http://schemas.openxmlformats.org/officeDocument/2006/math">
                    <m:r>
                      <a:rPr lang="en-IN" sz="1800" i="1" dirty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IN" sz="1800" baseline="30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+ 3</a:t>
                </a:r>
                <a14:m>
                  <m:oMath xmlns:m="http://schemas.openxmlformats.org/officeDocument/2006/math">
                    <m:r>
                      <a:rPr lang="en-IN" sz="1800" i="1" dirty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IN" sz="1800" baseline="30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+…)</a:t>
                </a:r>
              </a:p>
              <a:p>
                <a:pPr marL="0" indent="0">
                  <a:buNone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r>
                          <a:rPr lang="en-IN" sz="1800" i="0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𝜌</m:t>
                        </m:r>
                      </m:den>
                    </m:f>
                    <m:r>
                      <a:rPr lang="en-IN" sz="1800" b="0" i="1" dirty="0" smtClean="0">
                        <a:latin typeface="Cambria Math" panose="02040503050406030204" pitchFamily="18" charset="0"/>
                      </a:rPr>
                      <m:t>                               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IN" sz="1800" b="0" i="1" dirty="0" smtClean="0">
                        <a:latin typeface="Cambria Math" panose="02040503050406030204" pitchFamily="18" charset="0"/>
                      </a:rPr>
                      <m:t>&lt;1           ;</m:t>
                    </m:r>
                    <m:r>
                      <a:rPr lang="en-IN" sz="18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1800" b="0" i="0" dirty="0" smtClean="0">
                        <a:latin typeface="Cambria Math" panose="02040503050406030204" pitchFamily="18" charset="0"/>
                      </a:rPr>
                      <m:t>Permissible</m:t>
                    </m:r>
                    <m:r>
                      <a:rPr lang="en-IN" sz="18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1800" b="0" i="0" dirty="0" smtClean="0">
                        <a:latin typeface="Cambria Math" panose="02040503050406030204" pitchFamily="18" charset="0"/>
                      </a:rPr>
                      <m:t>range</m:t>
                    </m:r>
                    <m:r>
                      <a:rPr lang="en-IN" sz="1800" b="0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IN" sz="18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1800" i="0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IN" sz="1800" i="0" dirty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</a:t>
                </a: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75488"/>
                <a:ext cx="10515600" cy="5701475"/>
              </a:xfrm>
              <a:blipFill>
                <a:blip r:embed="rId2"/>
                <a:stretch>
                  <a:fillRect l="-522" t="-14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9440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65760"/>
                <a:ext cx="10515600" cy="5811203"/>
              </a:xfrm>
            </p:spPr>
            <p:txBody>
              <a:bodyPr/>
              <a:lstStyle/>
              <a:p>
                <a:r>
                  <a:rPr lang="en-IN" sz="1800" b="1" i="1" u="sng" dirty="0" smtClean="0"/>
                  <a:t>q-distribution</a:t>
                </a:r>
              </a:p>
              <a:p>
                <a:pPr marL="0" indent="0">
                  <a:buNone/>
                </a:pPr>
                <a:r>
                  <a:rPr lang="en-IN" sz="1800" b="1" dirty="0"/>
                  <a:t> </a:t>
                </a:r>
                <a:r>
                  <a:rPr lang="en-IN" sz="1800" b="1" dirty="0" smtClean="0"/>
                  <a:t>    </a:t>
                </a:r>
                <a:r>
                  <a:rPr lang="en-IN" sz="1800" dirty="0" smtClean="0"/>
                  <a:t>q</a:t>
                </a:r>
                <a:r>
                  <a:rPr lang="en-IN" sz="1800" baseline="-25000" dirty="0" smtClean="0"/>
                  <a:t>0</a:t>
                </a:r>
                <a:r>
                  <a:rPr lang="en-IN" sz="1800" dirty="0" smtClean="0"/>
                  <a:t> = p</a:t>
                </a:r>
                <a:r>
                  <a:rPr lang="en-IN" sz="1800" baseline="-25000" dirty="0" smtClean="0"/>
                  <a:t>0</a:t>
                </a:r>
                <a:r>
                  <a:rPr lang="en-IN" sz="1800" dirty="0" smtClean="0"/>
                  <a:t> + p</a:t>
                </a:r>
                <a:r>
                  <a:rPr lang="en-IN" sz="1800" baseline="-25000" dirty="0" smtClean="0"/>
                  <a:t>1</a:t>
                </a:r>
                <a:r>
                  <a:rPr lang="en-IN" sz="1800" dirty="0" smtClean="0"/>
                  <a:t> =(1-</a:t>
                </a:r>
                <a:r>
                  <a:rPr lang="en-IN" sz="1800" dirty="0"/>
                  <a:t> </a:t>
                </a:r>
                <a14:m>
                  <m:oMath xmlns:m="http://schemas.openxmlformats.org/officeDocument/2006/math">
                    <m:r>
                      <a:rPr lang="en-IN" sz="1800" i="1" dirty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IN" sz="1800" dirty="0" smtClean="0"/>
                  <a:t>) + </a:t>
                </a:r>
                <a14:m>
                  <m:oMath xmlns:m="http://schemas.openxmlformats.org/officeDocument/2006/math">
                    <m:r>
                      <a:rPr lang="en-IN" sz="1800" i="1" dirty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IN" sz="1800" dirty="0" smtClean="0"/>
                  <a:t>(1-</a:t>
                </a:r>
                <a:r>
                  <a:rPr lang="en-IN" sz="1800" dirty="0"/>
                  <a:t> </a:t>
                </a:r>
                <a14:m>
                  <m:oMath xmlns:m="http://schemas.openxmlformats.org/officeDocument/2006/math">
                    <m:r>
                      <a:rPr lang="en-IN" sz="1800" i="1" dirty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IN" sz="1800" dirty="0" smtClean="0"/>
                  <a:t>) = 1-</a:t>
                </a:r>
                <a:r>
                  <a:rPr lang="en-IN" sz="1800" dirty="0"/>
                  <a:t> </a:t>
                </a:r>
                <a14:m>
                  <m:oMath xmlns:m="http://schemas.openxmlformats.org/officeDocument/2006/math">
                    <m:r>
                      <a:rPr lang="en-IN" sz="1800" i="1" dirty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IN" sz="1800" baseline="30000" dirty="0" smtClean="0"/>
                  <a:t>2</a:t>
                </a:r>
              </a:p>
              <a:p>
                <a:pPr marL="0" indent="0">
                  <a:buNone/>
                </a:pPr>
                <a:r>
                  <a:rPr lang="en-IN" sz="1800" baseline="30000" dirty="0" smtClean="0"/>
                  <a:t>  </a:t>
                </a:r>
                <a:r>
                  <a:rPr lang="en-IN" sz="1800" dirty="0" smtClean="0"/>
                  <a:t>    q</a:t>
                </a:r>
                <a:r>
                  <a:rPr lang="en-IN" sz="1800" baseline="-25000" dirty="0" smtClean="0"/>
                  <a:t>i</a:t>
                </a:r>
                <a:r>
                  <a:rPr lang="en-IN" sz="1800" dirty="0" smtClean="0"/>
                  <a:t> = p</a:t>
                </a:r>
                <a:r>
                  <a:rPr lang="en-IN" sz="1800" baseline="-25000" dirty="0" smtClean="0"/>
                  <a:t>i+1</a:t>
                </a:r>
                <a:r>
                  <a:rPr lang="en-IN" sz="1800" dirty="0" smtClean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800" i="1" dirty="0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IN" sz="1800" i="0" dirty="0" smtClean="0">
                            <a:latin typeface="Cambria Math" panose="02040503050406030204" pitchFamily="18" charset="0"/>
                          </a:rPr>
                          <m:t>ⅈ+1</m:t>
                        </m:r>
                      </m:sup>
                    </m:sSup>
                    <m:d>
                      <m:dPr>
                        <m:ctrlPr>
                          <a:rPr lang="en-IN" sz="1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800" b="0" i="0" dirty="0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IN" sz="1800" i="1" dirty="0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</m:oMath>
                </a14:m>
                <a:r>
                  <a:rPr lang="en-IN" sz="1800" dirty="0" smtClean="0"/>
                  <a:t>                                                                   </a:t>
                </a:r>
              </a:p>
              <a:p>
                <a:pPr marL="0" indent="0">
                  <a:buNone/>
                </a:pPr>
                <a:endParaRPr lang="en-IN" sz="1800" dirty="0"/>
              </a:p>
              <a:p>
                <a:pPr marL="0" indent="0">
                  <a:buNone/>
                </a:pPr>
                <a:r>
                  <a:rPr lang="en-IN" sz="1800" dirty="0" smtClean="0"/>
                  <a:t>Now,           </a:t>
                </a:r>
                <a:r>
                  <a:rPr lang="en-IN" sz="1800" dirty="0" err="1" smtClean="0"/>
                  <a:t>L</a:t>
                </a:r>
                <a:r>
                  <a:rPr lang="en-IN" sz="1800" baseline="-25000" dirty="0" err="1" smtClean="0"/>
                  <a:t>q</a:t>
                </a:r>
                <a:r>
                  <a:rPr lang="en-IN" sz="1800" dirty="0" smtClean="0"/>
                  <a:t> = 0q</a:t>
                </a:r>
                <a:r>
                  <a:rPr lang="en-IN" sz="1800" baseline="-25000" dirty="0" smtClean="0"/>
                  <a:t>0</a:t>
                </a:r>
                <a:r>
                  <a:rPr lang="en-IN" sz="1800" dirty="0" smtClean="0"/>
                  <a:t> + 1q</a:t>
                </a:r>
                <a:r>
                  <a:rPr lang="en-IN" sz="1800" baseline="-25000" dirty="0" smtClean="0"/>
                  <a:t>1</a:t>
                </a:r>
                <a:r>
                  <a:rPr lang="en-IN" sz="1800" dirty="0" smtClean="0"/>
                  <a:t> + 2q</a:t>
                </a:r>
                <a:r>
                  <a:rPr lang="en-IN" sz="1800" baseline="-25000" dirty="0" smtClean="0"/>
                  <a:t>2</a:t>
                </a:r>
                <a:r>
                  <a:rPr lang="en-IN" sz="1800" dirty="0" smtClean="0"/>
                  <a:t> +…                                      </a:t>
                </a:r>
              </a:p>
              <a:p>
                <a:pPr marL="0" indent="0">
                  <a:buNone/>
                </a:pPr>
                <a:r>
                  <a:rPr lang="en-IN" sz="1800" dirty="0"/>
                  <a:t> </a:t>
                </a:r>
                <a:r>
                  <a:rPr lang="en-IN" sz="1800" dirty="0" smtClean="0"/>
                  <a:t>                 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800" i="1" dirty="0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IN" sz="180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1800" i="0" dirty="0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IN" sz="1800" i="1" dirty="0" smtClean="0">
                            <a:latin typeface="Cambria Math" panose="02040503050406030204" pitchFamily="18" charset="0"/>
                          </a:rPr>
                          <m:t>𝜌</m:t>
                        </m:r>
                      </m:den>
                    </m:f>
                    <m:r>
                      <a:rPr lang="en-IN" sz="1800" b="0" i="1" dirty="0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endParaRPr lang="en-IN" sz="1800" b="0" dirty="0" smtClean="0"/>
              </a:p>
              <a:p>
                <a:pPr marL="0" indent="0">
                  <a:buNone/>
                </a:pPr>
                <a:r>
                  <a:rPr lang="en-IN" sz="1800" dirty="0" smtClean="0"/>
                  <a:t>                     L = </a:t>
                </a:r>
                <a:r>
                  <a:rPr lang="en-IN" sz="1800" dirty="0" err="1" smtClean="0"/>
                  <a:t>L</a:t>
                </a:r>
                <a:r>
                  <a:rPr lang="en-IN" sz="1800" baseline="-25000" dirty="0" err="1" smtClean="0"/>
                  <a:t>q</a:t>
                </a:r>
                <a:r>
                  <a:rPr lang="en-IN" sz="1800" dirty="0" smtClean="0"/>
                  <a:t> + B</a:t>
                </a:r>
              </a:p>
              <a:p>
                <a:pPr marL="0" indent="0">
                  <a:buNone/>
                </a:pPr>
                <a:endParaRPr lang="en-IN" sz="1800" dirty="0"/>
              </a:p>
              <a:p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Contrary to intuition</a:t>
                </a:r>
              </a:p>
              <a:p>
                <a:pPr marL="0" indent="0"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IN" sz="1800" i="1" dirty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something less than 1</a:t>
                </a:r>
              </a:p>
              <a:p>
                <a:pPr marL="0" indent="0">
                  <a:buNone/>
                </a:pPr>
                <a:r>
                  <a:rPr lang="en-IN" sz="1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Ocassional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idleness/backlogs could be due to variability</a:t>
                </a:r>
              </a:p>
              <a:p>
                <a:pPr marL="0" indent="0"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inter-arrival time/service </a:t>
                </a:r>
                <a:r>
                  <a:rPr lang="en-IN" sz="180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                                                       </a:t>
                </a:r>
                <a:r>
                  <a:rPr lang="en-IN" sz="18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 and </a:t>
                </a:r>
                <a:r>
                  <a:rPr lang="en-IN" sz="1800" b="1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IN" sz="1800" b="1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IN" sz="18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a function of </a:t>
                </a:r>
                <a14:m>
                  <m:oMath xmlns:m="http://schemas.openxmlformats.org/officeDocument/2006/math">
                    <m:r>
                      <a:rPr lang="en-IN" sz="1800" b="1" i="1" dirty="0">
                        <a:latin typeface="Cambria Math" panose="02040503050406030204" pitchFamily="18" charset="0"/>
                      </a:rPr>
                      <m:t>𝝆</m:t>
                    </m:r>
                  </m:oMath>
                </a14:m>
                <a:endParaRPr lang="en-IN" sz="18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dirty="0" smtClean="0"/>
              </a:p>
              <a:p>
                <a:pPr marL="0" indent="0">
                  <a:buNone/>
                </a:pPr>
                <a:endParaRPr lang="en-IN" sz="1800" dirty="0" smtClean="0"/>
              </a:p>
              <a:p>
                <a:pPr marL="0" indent="0">
                  <a:buNone/>
                </a:pPr>
                <a:endParaRPr lang="en-IN" sz="1800" dirty="0"/>
              </a:p>
              <a:p>
                <a:pPr marL="0" indent="0">
                  <a:buNone/>
                </a:pPr>
                <a:endParaRPr lang="en-IN" sz="1800" dirty="0" smtClean="0"/>
              </a:p>
              <a:p>
                <a:pPr marL="0" indent="0">
                  <a:buNone/>
                </a:pPr>
                <a:endParaRPr lang="en-IN" sz="1800" dirty="0"/>
              </a:p>
              <a:p>
                <a:pPr marL="0" indent="0">
                  <a:buNone/>
                </a:pPr>
                <a:endParaRPr lang="en-IN" sz="1800" dirty="0" smtClean="0"/>
              </a:p>
              <a:p>
                <a:pPr marL="0" indent="0">
                  <a:buNone/>
                </a:pPr>
                <a:endParaRPr lang="en-IN" sz="1800" dirty="0"/>
              </a:p>
              <a:p>
                <a:pPr marL="457200" lvl="1" indent="0">
                  <a:buNone/>
                </a:pPr>
                <a:endParaRPr lang="en-IN" sz="1400" dirty="0" smtClean="0"/>
              </a:p>
              <a:p>
                <a:pPr marL="0" indent="0">
                  <a:buNone/>
                </a:pPr>
                <a:endParaRPr lang="en-IN" sz="1800" dirty="0"/>
              </a:p>
              <a:p>
                <a:pPr marL="0" indent="0">
                  <a:buNone/>
                </a:pPr>
                <a:endParaRPr lang="en-IN" sz="1800" dirty="0" smtClean="0"/>
              </a:p>
              <a:p>
                <a:pPr marL="0" indent="0">
                  <a:buNone/>
                </a:pPr>
                <a:endParaRPr lang="en-IN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65760"/>
                <a:ext cx="10515600" cy="5811203"/>
              </a:xfrm>
              <a:blipFill>
                <a:blip r:embed="rId2"/>
                <a:stretch>
                  <a:fillRect l="-522" t="-9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156" y="775811"/>
            <a:ext cx="3733800" cy="380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072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38912" y="329184"/>
                <a:ext cx="10914888" cy="584777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1800" b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Limited Queueing Capacity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M/M/1/N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N – Maximum number of customers allowed in the system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Schematic version of the finite queue: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1800" b="1" dirty="0" smtClean="0"/>
                  <a:t>          </a:t>
                </a:r>
                <a14:m>
                  <m:oMath xmlns:m="http://schemas.openxmlformats.org/officeDocument/2006/math">
                    <m:r>
                      <a:rPr lang="en-IN" sz="1800" b="1" i="1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IN" sz="1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</a:t>
                </a:r>
                <a14:m>
                  <m:oMath xmlns:m="http://schemas.openxmlformats.org/officeDocument/2006/math">
                    <m:r>
                      <a:rPr lang="en-IN" sz="1800" b="1" i="1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IN" sz="1800" b="1" dirty="0" smtClean="0"/>
                  <a:t>                               </a:t>
                </a:r>
                <a14:m>
                  <m:oMath xmlns:m="http://schemas.openxmlformats.org/officeDocument/2006/math">
                    <m:r>
                      <a:rPr lang="en-IN" sz="1800" b="1" i="1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IN" sz="1800" b="1" dirty="0" smtClean="0"/>
                  <a:t>                           </a:t>
                </a:r>
                <a14:m>
                  <m:oMath xmlns:m="http://schemas.openxmlformats.org/officeDocument/2006/math">
                    <m:r>
                      <a:rPr lang="en-IN" sz="1800" b="1" i="1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endParaRPr lang="en-IN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1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                               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800" b="0" i="0" dirty="0" smtClean="0"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a:rPr lang="en-IN" sz="1800" b="1" i="1" dirty="0" smtClean="0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IN" sz="1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</a:t>
                </a:r>
                <a14:m>
                  <m:oMath xmlns:m="http://schemas.openxmlformats.org/officeDocument/2006/math">
                    <m:r>
                      <a:rPr lang="en-IN" sz="1800" b="1" i="1" dirty="0" smtClean="0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IN" sz="1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</a:t>
                </a:r>
                <a14:m>
                  <m:oMath xmlns:m="http://schemas.openxmlformats.org/officeDocument/2006/math">
                    <m:r>
                      <a:rPr lang="en-IN" sz="1800" b="1" i="1" dirty="0" smtClean="0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IN" sz="1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</a:t>
                </a:r>
                <a14:m>
                  <m:oMath xmlns:m="http://schemas.openxmlformats.org/officeDocument/2006/math">
                    <m:r>
                      <a:rPr lang="en-IN" sz="1800" b="1" i="1" dirty="0" smtClean="0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endParaRPr lang="en-IN" sz="1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</a:t>
                </a:r>
                <a:r>
                  <a:rPr lang="en-IN" sz="1800" i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Transition diagram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1800" b="1" dirty="0" smtClean="0"/>
                  <a:t> 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8912" y="329184"/>
                <a:ext cx="10914888" cy="5847779"/>
              </a:xfrm>
              <a:blipFill>
                <a:blip r:embed="rId2"/>
                <a:stretch>
                  <a:fillRect l="-447" t="-9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/>
          <p:cNvSpPr/>
          <p:nvPr/>
        </p:nvSpPr>
        <p:spPr>
          <a:xfrm>
            <a:off x="1818132" y="2795873"/>
            <a:ext cx="914400" cy="914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3603498" y="2795873"/>
            <a:ext cx="914400" cy="914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2</a:t>
            </a:r>
            <a:endParaRPr lang="en-IN" dirty="0"/>
          </a:p>
        </p:txBody>
      </p:sp>
      <p:sp>
        <p:nvSpPr>
          <p:cNvPr id="9" name="Oval 8"/>
          <p:cNvSpPr/>
          <p:nvPr/>
        </p:nvSpPr>
        <p:spPr>
          <a:xfrm>
            <a:off x="5388864" y="2795873"/>
            <a:ext cx="914400" cy="914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3</a:t>
            </a:r>
            <a:endParaRPr lang="en-IN" dirty="0"/>
          </a:p>
        </p:txBody>
      </p:sp>
      <p:sp>
        <p:nvSpPr>
          <p:cNvPr id="11" name="Curved Down Arrow 10"/>
          <p:cNvSpPr/>
          <p:nvPr/>
        </p:nvSpPr>
        <p:spPr>
          <a:xfrm>
            <a:off x="1136904" y="2438162"/>
            <a:ext cx="1063752" cy="377952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" name="Curved Down Arrow 11"/>
          <p:cNvSpPr/>
          <p:nvPr/>
        </p:nvSpPr>
        <p:spPr>
          <a:xfrm>
            <a:off x="2636139" y="2543985"/>
            <a:ext cx="1063752" cy="377952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3" name="Curved Down Arrow 12"/>
          <p:cNvSpPr/>
          <p:nvPr/>
        </p:nvSpPr>
        <p:spPr>
          <a:xfrm>
            <a:off x="4398264" y="2493264"/>
            <a:ext cx="1063752" cy="377952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Curved Down Arrow 13"/>
          <p:cNvSpPr/>
          <p:nvPr/>
        </p:nvSpPr>
        <p:spPr>
          <a:xfrm>
            <a:off x="6063996" y="2470833"/>
            <a:ext cx="1063752" cy="377952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8" name="Curved Down Arrow 17"/>
          <p:cNvSpPr/>
          <p:nvPr/>
        </p:nvSpPr>
        <p:spPr>
          <a:xfrm flipH="1" flipV="1">
            <a:off x="5981700" y="3710272"/>
            <a:ext cx="1192530" cy="544735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9" name="Curved Down Arrow 18"/>
          <p:cNvSpPr/>
          <p:nvPr/>
        </p:nvSpPr>
        <p:spPr>
          <a:xfrm flipH="1" flipV="1">
            <a:off x="4346448" y="3706987"/>
            <a:ext cx="1192530" cy="544735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0" name="Curved Down Arrow 19"/>
          <p:cNvSpPr/>
          <p:nvPr/>
        </p:nvSpPr>
        <p:spPr>
          <a:xfrm flipH="1" flipV="1">
            <a:off x="2568321" y="3710272"/>
            <a:ext cx="1192530" cy="544735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1" name="Curved Down Arrow 20"/>
          <p:cNvSpPr/>
          <p:nvPr/>
        </p:nvSpPr>
        <p:spPr>
          <a:xfrm flipH="1" flipV="1">
            <a:off x="1082993" y="3727703"/>
            <a:ext cx="1192530" cy="544735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653796" y="2833544"/>
            <a:ext cx="914400" cy="914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593075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451104"/>
                <a:ext cx="10515600" cy="5725859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IN" sz="1800" i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Steady –state equations</a:t>
                </a:r>
                <a:r>
                  <a:rPr lang="en-IN" sz="1800" b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endParaRPr lang="en-IN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IN" sz="1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IN" sz="1800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den>
                    </m:f>
                  </m:oMath>
                </a14:m>
                <a:endParaRPr lang="en-IN" sz="1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8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IN" sz="18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pt-BR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f>
                              <m:fPr>
                                <m:ctrlPr>
                                  <a:rPr lang="en-IN" sz="18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1800" dirty="0"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1800" dirty="0">
                                    <a:latin typeface="Cambria Math" panose="02040503050406030204" pitchFamily="18" charset="0"/>
                                  </a:rPr>
                                  <m:t>μ</m:t>
                                </m:r>
                                <m:r>
                                  <m:rPr>
                                    <m:nor/>
                                  </m:rPr>
                                  <a:rPr lang="en-IN" sz="1800" dirty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den>
                            </m:f>
                            <m:r>
                              <a:rPr lang="en-IN" sz="1800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1800" b="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j</m:t>
                            </m:r>
                          </m:sup>
                        </m:sSup>
                        <m:r>
                          <a:rPr lang="en-IN" sz="18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1800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IN" sz="180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IN" sz="1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r>
                          <a:rPr lang="en-IN" sz="1800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𝜌</m:t>
                        </m:r>
                      </m:den>
                    </m:f>
                    <m:r>
                      <a:rPr lang="en-IN" sz="1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IN" sz="1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den>
                    </m:f>
                  </m:oMath>
                </a14:m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8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sSup>
                          <m:sSupPr>
                            <m:ctrlPr>
                              <a:rPr lang="en-IN" sz="1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num>
                      <m:den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IN" sz="1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den>
                    </m:f>
                  </m:oMath>
                </a14:m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for </a:t>
                </a:r>
                <a14:m>
                  <m:oMath xmlns:m="http://schemas.openxmlformats.org/officeDocument/2006/math">
                    <m:r>
                      <a:rPr lang="en-IN" sz="18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IN" sz="1800" i="1" dirty="0" smtClean="0">
                        <a:latin typeface="Cambria Math" panose="02040503050406030204" pitchFamily="18" charset="0"/>
                      </a:rPr>
                      <m:t>≠1</m:t>
                    </m:r>
                  </m:oMath>
                </a14:m>
                <a:endParaRPr lang="en-IN" sz="1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=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8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180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1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</a:t>
                </a:r>
                <a:r>
                  <a:rPr lang="en-IN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1800" i="1" dirty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IN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IN" sz="1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800" i="0" dirty="0">
                        <a:latin typeface="Cambria Math" panose="02040503050406030204" pitchFamily="18" charset="0"/>
                      </a:rPr>
                      <m:t>ρ</m:t>
                    </m:r>
                  </m:oMath>
                </a14:m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low and N is large, then 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r>
                          <a:rPr lang="en-IN" sz="1800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𝜌</m:t>
                        </m:r>
                      </m:den>
                    </m:f>
                  </m:oMath>
                </a14:m>
                <a:endParaRPr lang="en-IN" sz="1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18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800" i="1" dirty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&gt;&gt;1 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IN" sz="18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 sz="180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18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(Heavily overloaded system)</a:t>
                </a:r>
              </a:p>
              <a:p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Fraction of customers lost due to blocking = Prob. that the system is full (</a:t>
                </a:r>
                <a:r>
                  <a:rPr lang="en-IN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IN" sz="18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</a:t>
                </a:r>
                <a:r>
                  <a:rPr lang="en-IN" sz="1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IN" sz="18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IN" sz="1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den>
                    </m:f>
                  </m:oMath>
                </a14:m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                        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1800" i="1" dirty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≠1</m:t>
                    </m:r>
                  </m:oMath>
                </a14:m>
                <a:endParaRPr lang="en-IN" sz="18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1800" b="0" i="0" dirty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IN" sz="1800" b="0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IN" sz="1800" b="0" i="0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1800" i="1" dirty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IN" sz="1800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IN" sz="1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 blocked per unit time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IN" sz="18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N</m:t>
                    </m:r>
                    <m:r>
                      <a:rPr lang="en-IN" sz="18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(Assessment of the impact of increasing N)</a:t>
                </a:r>
                <a:endParaRPr lang="en-IN" sz="18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</a:t>
                </a: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i="1" dirty="0" smtClean="0"/>
                  <a:t>                 </a:t>
                </a:r>
              </a:p>
              <a:p>
                <a:endParaRPr lang="en-IN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51104"/>
                <a:ext cx="10515600" cy="5725859"/>
              </a:xfrm>
              <a:blipFill>
                <a:blip r:embed="rId2"/>
                <a:stretch>
                  <a:fillRect l="-406" t="-14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3473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38912" y="329184"/>
                <a:ext cx="10914888" cy="584777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1800" b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Multiple servers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M/M/</a:t>
                </a:r>
                <a:r>
                  <a:rPr lang="en-IN" sz="1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c/N</a:t>
                </a: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c –number of servers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= c (No waiting)              N = </a:t>
                </a:r>
                <a14:m>
                  <m:oMath xmlns:m="http://schemas.openxmlformats.org/officeDocument/2006/math">
                    <m:r>
                      <a:rPr lang="en-IN" sz="1800" dirty="0" smtClean="0">
                        <a:latin typeface="Cambria Math" panose="02040503050406030204" pitchFamily="18" charset="0"/>
                      </a:rPr>
                      <m:t>∞</m:t>
                    </m:r>
                    <m:r>
                      <a:rPr lang="en-IN" sz="1800" b="0" i="0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IN" sz="1800" b="0" i="0" dirty="0" smtClean="0">
                        <a:latin typeface="Cambria Math" panose="02040503050406030204" pitchFamily="18" charset="0"/>
                      </a:rPr>
                      <m:t>Infinite</m:t>
                    </m:r>
                    <m:r>
                      <a:rPr lang="en-IN" sz="1800" b="0" i="0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IN" sz="1800" b="0" i="0" dirty="0" smtClean="0">
                        <a:latin typeface="Cambria Math" panose="02040503050406030204" pitchFamily="18" charset="0"/>
                      </a:rPr>
                      <m:t>capacity</m:t>
                    </m:r>
                    <m:r>
                      <a:rPr lang="en-IN" sz="1800" b="0" i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1800" b="1" dirty="0" smtClean="0"/>
                  <a:t>          </a:t>
                </a:r>
                <a14:m>
                  <m:oMath xmlns:m="http://schemas.openxmlformats.org/officeDocument/2006/math">
                    <m:r>
                      <a:rPr lang="en-IN" sz="1800" b="1" i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IN" sz="1800" b="1" i="1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IN" sz="1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</a:t>
                </a:r>
                <a14:m>
                  <m:oMath xmlns:m="http://schemas.openxmlformats.org/officeDocument/2006/math">
                    <m:r>
                      <a:rPr lang="en-IN" sz="1800" b="1" i="1" smtClean="0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IN" sz="1800" b="1" i="1" smtClean="0">
                        <a:latin typeface="Cambria Math" panose="02040503050406030204" pitchFamily="18" charset="0"/>
                      </a:rPr>
                      <m:t>                      </m:t>
                    </m:r>
                    <m:r>
                      <a:rPr lang="en-IN" sz="1800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IN" sz="1800" b="1" dirty="0"/>
                  <a:t> </a:t>
                </a:r>
                <a14:m>
                  <m:oMath xmlns:m="http://schemas.openxmlformats.org/officeDocument/2006/math">
                    <m:r>
                      <a:rPr lang="en-IN" sz="1800" b="1" i="0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                 </m:t>
                    </m:r>
                    <m:r>
                      <a:rPr lang="en-IN" sz="1800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IN" sz="1800" b="1" dirty="0"/>
                  <a:t> </a:t>
                </a:r>
                <a14:m>
                  <m:oMath xmlns:m="http://schemas.openxmlformats.org/officeDocument/2006/math">
                    <m:r>
                      <a:rPr lang="en-IN" sz="1800" b="1" i="0" smtClean="0">
                        <a:latin typeface="Cambria Math" panose="02040503050406030204" pitchFamily="18" charset="0"/>
                      </a:rPr>
                      <m:t>                          </m:t>
                    </m:r>
                    <m:r>
                      <a:rPr lang="en-IN" sz="1800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endParaRPr lang="en-IN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1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      ……..                                     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800" b="0" i="0" dirty="0" smtClean="0">
                        <a:latin typeface="Cambria Math" panose="02040503050406030204" pitchFamily="18" charset="0"/>
                      </a:rPr>
                      <m:t>                        </m:t>
                    </m:r>
                    <m:r>
                      <a:rPr lang="en-IN" sz="1800" b="1" i="1" dirty="0" smtClean="0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IN" sz="1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2</a:t>
                </a:r>
                <a14:m>
                  <m:oMath xmlns:m="http://schemas.openxmlformats.org/officeDocument/2006/math">
                    <m:r>
                      <a:rPr lang="en-IN" sz="1800" b="1" i="1" dirty="0" smtClean="0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IN" sz="1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3</a:t>
                </a:r>
                <a14:m>
                  <m:oMath xmlns:m="http://schemas.openxmlformats.org/officeDocument/2006/math">
                    <m:r>
                      <a:rPr lang="en-IN" sz="1800" b="1" i="1" dirty="0" smtClean="0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IN" sz="1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c</a:t>
                </a:r>
                <a14:m>
                  <m:oMath xmlns:m="http://schemas.openxmlformats.org/officeDocument/2006/math">
                    <m:r>
                      <a:rPr lang="en-IN" sz="1800" b="1" i="1" dirty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IN" sz="1800" b="1" i="1" dirty="0" smtClean="0">
                        <a:latin typeface="Cambria Math" panose="02040503050406030204" pitchFamily="18" charset="0"/>
                      </a:rPr>
                      <m:t>                      </m:t>
                    </m:r>
                    <m:r>
                      <a:rPr lang="en-IN" sz="1800" b="1" i="1" dirty="0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IN" sz="18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1800" b="1" i="1" dirty="0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IN" sz="1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</a:t>
                </a:r>
                <a:r>
                  <a:rPr lang="en-IN" sz="1800" i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Transition diagram for multiple servers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1800" b="1" dirty="0" smtClean="0"/>
                  <a:t> 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8912" y="329184"/>
                <a:ext cx="10914888" cy="5847779"/>
              </a:xfrm>
              <a:blipFill>
                <a:blip r:embed="rId2"/>
                <a:stretch>
                  <a:fillRect l="-447" t="-9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/>
          <p:cNvSpPr/>
          <p:nvPr/>
        </p:nvSpPr>
        <p:spPr>
          <a:xfrm>
            <a:off x="1766697" y="2938033"/>
            <a:ext cx="914400" cy="630079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2907601" y="2938033"/>
            <a:ext cx="914400" cy="63336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2</a:t>
            </a:r>
            <a:endParaRPr lang="en-IN" dirty="0"/>
          </a:p>
        </p:txBody>
      </p:sp>
      <p:sp>
        <p:nvSpPr>
          <p:cNvPr id="9" name="Oval 8"/>
          <p:cNvSpPr/>
          <p:nvPr/>
        </p:nvSpPr>
        <p:spPr>
          <a:xfrm>
            <a:off x="4048505" y="2956868"/>
            <a:ext cx="914400" cy="630079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3</a:t>
            </a:r>
            <a:endParaRPr lang="en-IN" dirty="0"/>
          </a:p>
        </p:txBody>
      </p:sp>
      <p:sp>
        <p:nvSpPr>
          <p:cNvPr id="11" name="Curved Down Arrow 10"/>
          <p:cNvSpPr/>
          <p:nvPr/>
        </p:nvSpPr>
        <p:spPr>
          <a:xfrm>
            <a:off x="1147382" y="2517957"/>
            <a:ext cx="1063752" cy="377952"/>
          </a:xfrm>
          <a:prstGeom prst="curved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" name="Curved Down Arrow 11"/>
          <p:cNvSpPr/>
          <p:nvPr/>
        </p:nvSpPr>
        <p:spPr>
          <a:xfrm>
            <a:off x="2414778" y="2560081"/>
            <a:ext cx="1063752" cy="377952"/>
          </a:xfrm>
          <a:prstGeom prst="curved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3" name="Curved Down Arrow 12"/>
          <p:cNvSpPr/>
          <p:nvPr/>
        </p:nvSpPr>
        <p:spPr>
          <a:xfrm>
            <a:off x="3655124" y="2507836"/>
            <a:ext cx="1063752" cy="377952"/>
          </a:xfrm>
          <a:prstGeom prst="curved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Curved Down Arrow 13"/>
          <p:cNvSpPr/>
          <p:nvPr/>
        </p:nvSpPr>
        <p:spPr>
          <a:xfrm>
            <a:off x="7274243" y="2503693"/>
            <a:ext cx="1063752" cy="377952"/>
          </a:xfrm>
          <a:prstGeom prst="curved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8" name="Curved Down Arrow 17"/>
          <p:cNvSpPr/>
          <p:nvPr/>
        </p:nvSpPr>
        <p:spPr>
          <a:xfrm flipH="1" flipV="1">
            <a:off x="4836794" y="3568111"/>
            <a:ext cx="1192530" cy="544735"/>
          </a:xfrm>
          <a:prstGeom prst="curved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9" name="Curved Down Arrow 18"/>
          <p:cNvSpPr/>
          <p:nvPr/>
        </p:nvSpPr>
        <p:spPr>
          <a:xfrm flipH="1" flipV="1">
            <a:off x="3590735" y="3568112"/>
            <a:ext cx="1192530" cy="544735"/>
          </a:xfrm>
          <a:prstGeom prst="curved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0" name="Curved Down Arrow 19"/>
          <p:cNvSpPr/>
          <p:nvPr/>
        </p:nvSpPr>
        <p:spPr>
          <a:xfrm flipH="1" flipV="1">
            <a:off x="2270379" y="3595853"/>
            <a:ext cx="1192530" cy="544735"/>
          </a:xfrm>
          <a:prstGeom prst="curved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1" name="Curved Down Arrow 20"/>
          <p:cNvSpPr/>
          <p:nvPr/>
        </p:nvSpPr>
        <p:spPr>
          <a:xfrm flipH="1" flipV="1">
            <a:off x="907352" y="3595853"/>
            <a:ext cx="1192530" cy="544735"/>
          </a:xfrm>
          <a:prstGeom prst="curved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625793" y="2975704"/>
            <a:ext cx="914400" cy="59240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0</a:t>
            </a:r>
          </a:p>
        </p:txBody>
      </p:sp>
      <p:sp>
        <p:nvSpPr>
          <p:cNvPr id="16" name="Oval 15"/>
          <p:cNvSpPr/>
          <p:nvPr/>
        </p:nvSpPr>
        <p:spPr>
          <a:xfrm>
            <a:off x="6938582" y="2925447"/>
            <a:ext cx="914400" cy="59240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  <a:r>
              <a:rPr lang="en-IN" dirty="0" smtClean="0"/>
              <a:t>-1</a:t>
            </a:r>
            <a:endParaRPr lang="en-IN" dirty="0"/>
          </a:p>
        </p:txBody>
      </p:sp>
      <p:sp>
        <p:nvSpPr>
          <p:cNvPr id="17" name="Oval 16"/>
          <p:cNvSpPr/>
          <p:nvPr/>
        </p:nvSpPr>
        <p:spPr>
          <a:xfrm>
            <a:off x="8155020" y="2938033"/>
            <a:ext cx="914400" cy="59240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c</a:t>
            </a:r>
            <a:endParaRPr lang="en-IN" dirty="0"/>
          </a:p>
        </p:txBody>
      </p:sp>
      <p:sp>
        <p:nvSpPr>
          <p:cNvPr id="22" name="Oval 21"/>
          <p:cNvSpPr/>
          <p:nvPr/>
        </p:nvSpPr>
        <p:spPr>
          <a:xfrm>
            <a:off x="9371459" y="2996955"/>
            <a:ext cx="914400" cy="59240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  <a:r>
              <a:rPr lang="en-IN" dirty="0" smtClean="0"/>
              <a:t>+1</a:t>
            </a:r>
            <a:endParaRPr lang="en-IN" dirty="0"/>
          </a:p>
        </p:txBody>
      </p:sp>
      <p:sp>
        <p:nvSpPr>
          <p:cNvPr id="24" name="Curved Down Arrow 23"/>
          <p:cNvSpPr/>
          <p:nvPr/>
        </p:nvSpPr>
        <p:spPr>
          <a:xfrm>
            <a:off x="4985004" y="2656093"/>
            <a:ext cx="1063752" cy="377952"/>
          </a:xfrm>
          <a:prstGeom prst="curved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5" name="Curved Down Arrow 24"/>
          <p:cNvSpPr/>
          <p:nvPr/>
        </p:nvSpPr>
        <p:spPr>
          <a:xfrm>
            <a:off x="8690468" y="2503693"/>
            <a:ext cx="1063752" cy="377952"/>
          </a:xfrm>
          <a:prstGeom prst="curved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6" name="Curved Down Arrow 25"/>
          <p:cNvSpPr/>
          <p:nvPr/>
        </p:nvSpPr>
        <p:spPr>
          <a:xfrm>
            <a:off x="9996680" y="2503693"/>
            <a:ext cx="1063752" cy="377952"/>
          </a:xfrm>
          <a:prstGeom prst="curved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7" name="Curved Down Arrow 26"/>
          <p:cNvSpPr/>
          <p:nvPr/>
        </p:nvSpPr>
        <p:spPr>
          <a:xfrm>
            <a:off x="6521004" y="2503693"/>
            <a:ext cx="668371" cy="377952"/>
          </a:xfrm>
          <a:prstGeom prst="curved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8" name="Curved Down Arrow 27"/>
          <p:cNvSpPr/>
          <p:nvPr/>
        </p:nvSpPr>
        <p:spPr>
          <a:xfrm flipH="1" flipV="1">
            <a:off x="7230666" y="3630708"/>
            <a:ext cx="1192530" cy="544735"/>
          </a:xfrm>
          <a:prstGeom prst="curved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9" name="Curved Down Arrow 28"/>
          <p:cNvSpPr/>
          <p:nvPr/>
        </p:nvSpPr>
        <p:spPr>
          <a:xfrm flipH="1" flipV="1">
            <a:off x="8561690" y="3630709"/>
            <a:ext cx="1192530" cy="544735"/>
          </a:xfrm>
          <a:prstGeom prst="curved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0" name="Curved Down Arrow 29"/>
          <p:cNvSpPr/>
          <p:nvPr/>
        </p:nvSpPr>
        <p:spPr>
          <a:xfrm flipH="1" flipV="1">
            <a:off x="9870999" y="3568111"/>
            <a:ext cx="1192530" cy="544735"/>
          </a:xfrm>
          <a:prstGeom prst="curved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1" name="Curved Down Arrow 30"/>
          <p:cNvSpPr/>
          <p:nvPr/>
        </p:nvSpPr>
        <p:spPr>
          <a:xfrm flipH="1" flipV="1">
            <a:off x="6389134" y="3630708"/>
            <a:ext cx="782525" cy="468254"/>
          </a:xfrm>
          <a:prstGeom prst="curved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4589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04800"/>
                <a:ext cx="10515600" cy="58721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1800" i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Case 1: No waiting (N=c)</a:t>
                </a:r>
              </a:p>
              <a:p>
                <a:pPr marL="0" indent="0">
                  <a:buNone/>
                </a:pPr>
                <a:r>
                  <a:rPr lang="en-IN" sz="1800" b="0" dirty="0" smtClean="0"/>
                  <a:t> </a:t>
                </a:r>
              </a:p>
              <a:p>
                <a:pPr marL="0" indent="0">
                  <a:buNone/>
                </a:pP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</a:t>
                </a:r>
                <a:r>
                  <a:rPr lang="en-IN" sz="18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IN" sz="18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8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IN" sz="18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a:rPr lang="en-IN" sz="1800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  <a:p>
                <a:pPr marL="0" indent="0">
                  <a:buNone/>
                </a:pPr>
                <a:r>
                  <a:rPr lang="en-IN" sz="1800" dirty="0" smtClean="0"/>
                  <a:t>                                                                                     p</a:t>
                </a:r>
                <a:r>
                  <a:rPr lang="en-IN" sz="1800" baseline="-25000" dirty="0" smtClean="0"/>
                  <a:t>0</a:t>
                </a:r>
                <a:r>
                  <a:rPr lang="en-IN" sz="1800" dirty="0" smtClean="0"/>
                  <a:t> </a:t>
                </a:r>
                <a14:m>
                  <m:oMath xmlns:m="http://schemas.openxmlformats.org/officeDocument/2006/math">
                    <m:r>
                      <a:rPr lang="en-IN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1800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 </m:t>
                    </m:r>
                    <m:f>
                      <m:fPr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nary>
                          <m:naryPr>
                            <m:chr m:val="∑"/>
                            <m:limLoc m:val="undOvr"/>
                            <m:grow m:val="on"/>
                            <m:ctrlPr>
                              <a:rPr lang="en-IN" sz="18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acc>
                              <m:accPr>
                                <m:chr m:val="̇"/>
                                <m:ctrlPr>
                                  <a:rPr lang="en-IN" sz="18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18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acc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f>
                              <m:fPr>
                                <m:ctrlPr>
                                  <a:rPr lang="en-IN" sz="18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IN" sz="1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800" i="1" dirty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p>
                                    <m:r>
                                      <a:rPr lang="en-IN" sz="18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18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sz="1800" i="1" dirty="0"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den>
                            </m:f>
                          </m:e>
                        </m:nary>
                      </m:den>
                    </m:f>
                  </m:oMath>
                </a14:m>
                <a:endParaRPr lang="en-IN" sz="1800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c is large compared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800" i="0" dirty="0">
                        <a:latin typeface="Cambria Math" panose="02040503050406030204" pitchFamily="18" charset="0"/>
                      </a:rPr>
                      <m:t>ρ</m:t>
                    </m:r>
                  </m:oMath>
                </a14:m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</a:t>
                </a:r>
              </a:p>
              <a:p>
                <a:pPr marL="0" indent="0">
                  <a:buNone/>
                </a:pPr>
                <a:r>
                  <a:rPr lang="en-IN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</a:t>
                </a:r>
              </a:p>
              <a:p>
                <a:pPr marL="0" indent="0">
                  <a:buNone/>
                </a:pPr>
                <a:r>
                  <a:rPr lang="en-IN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p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e^(-</a:t>
                </a:r>
                <a:r>
                  <a:rPr lang="en-IN" sz="1800" dirty="0"/>
                  <a:t> </a:t>
                </a:r>
                <a14:m>
                  <m:oMath xmlns:m="http://schemas.openxmlformats.org/officeDocument/2006/math">
                    <m:r>
                      <a:rPr lang="en-IN" sz="1800" i="1" dirty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:endParaRPr lang="en-IN" sz="1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Prob. Distribution of the number of busy server 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IN" sz="18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IN" sz="18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8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en-IN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e^(-</a:t>
                </a:r>
                <a:r>
                  <a:rPr lang="en-IN" sz="1800" dirty="0"/>
                  <a:t> </a:t>
                </a:r>
                <a14:m>
                  <m:oMath xmlns:m="http://schemas.openxmlformats.org/officeDocument/2006/math">
                    <m:r>
                      <a:rPr lang="en-IN" sz="1800" i="1" dirty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    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(Poisson distribution)</a:t>
                </a:r>
              </a:p>
              <a:p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Otherwise,     </a:t>
                </a:r>
                <a:r>
                  <a:rPr lang="en-IN" sz="1800" dirty="0" err="1" smtClean="0"/>
                  <a:t>p</a:t>
                </a:r>
                <a:r>
                  <a:rPr lang="en-IN" sz="1800" baseline="-25000" dirty="0" err="1"/>
                  <a:t>j</a:t>
                </a:r>
                <a:r>
                  <a:rPr lang="en-IN" sz="1800" dirty="0" smtClean="0"/>
                  <a:t> </a:t>
                </a:r>
                <a14:m>
                  <m:oMath xmlns:m="http://schemas.openxmlformats.org/officeDocument/2006/math">
                    <m:r>
                      <a:rPr lang="en-IN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1800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 </m:t>
                    </m:r>
                    <m:f>
                      <m:fPr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IN" sz="18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sSup>
                          <m:sSupPr>
                            <m:ctrlPr>
                              <a:rPr lang="en-IN" sz="1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limLoc m:val="undOvr"/>
                            <m:grow m:val="on"/>
                            <m:ctrlPr>
                              <a:rPr lang="en-IN" sz="18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acc>
                              <m:accPr>
                                <m:chr m:val="̇"/>
                                <m:ctrlPr>
                                  <a:rPr lang="en-IN" sz="18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18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acc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IN" sz="1800" b="0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  <m:e>
                            <m:f>
                              <m:fPr>
                                <m:ctrlPr>
                                  <a:rPr lang="en-IN" sz="18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IN" sz="1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800" i="1" dirty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p>
                                    <m:r>
                                      <a:rPr lang="en-IN" sz="18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18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sz="1800" i="1" dirty="0"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den>
                            </m:f>
                          </m:e>
                        </m:nary>
                      </m:den>
                    </m:f>
                  </m:oMath>
                </a14:m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(Truncated Poisson distribution)</a:t>
                </a: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04800"/>
                <a:ext cx="10515600" cy="5872163"/>
              </a:xfrm>
              <a:blipFill>
                <a:blip r:embed="rId2"/>
                <a:stretch>
                  <a:fillRect l="-522" t="-9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2767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475488"/>
                <a:ext cx="10515600" cy="5701475"/>
              </a:xfrm>
            </p:spPr>
            <p:txBody>
              <a:bodyPr>
                <a:normAutofit/>
              </a:bodyPr>
              <a:lstStyle/>
              <a:p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Prob. That all servers are occupied (system is full):</a:t>
                </a:r>
              </a:p>
              <a:p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</a:t>
                </a:r>
                <a:r>
                  <a:rPr lang="en-IN" sz="1800" dirty="0" err="1" smtClean="0"/>
                  <a:t>p</a:t>
                </a:r>
                <a:r>
                  <a:rPr lang="en-IN" sz="1800" baseline="-25000" dirty="0" err="1" smtClean="0"/>
                  <a:t>N</a:t>
                </a:r>
                <a:r>
                  <a:rPr lang="en-IN" sz="1800" dirty="0" smtClean="0"/>
                  <a:t> </a:t>
                </a:r>
                <a14:m>
                  <m:oMath xmlns:m="http://schemas.openxmlformats.org/officeDocument/2006/math">
                    <m:r>
                      <a:rPr lang="en-IN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1800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 </m:t>
                    </m:r>
                    <m:f>
                      <m:fPr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IN" sz="18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1800" b="0" i="1" dirty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sSup>
                          <m:sSupPr>
                            <m:ctrlPr>
                              <a:rPr lang="en-IN" sz="1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IN" sz="1800" b="0" i="1" dirty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limLoc m:val="undOvr"/>
                            <m:grow m:val="on"/>
                            <m:ctrlPr>
                              <a:rPr lang="en-IN" sz="18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acc>
                              <m:accPr>
                                <m:chr m:val="̇"/>
                                <m:ctrlPr>
                                  <a:rPr lang="en-IN" sz="18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18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acc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IN" sz="18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  <m:e>
                            <m:f>
                              <m:fPr>
                                <m:ctrlPr>
                                  <a:rPr lang="en-IN" sz="18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IN" sz="1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800" i="1" dirty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p>
                                    <m:r>
                                      <a:rPr lang="en-IN" sz="18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18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sz="1800" i="1" dirty="0"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den>
                            </m:f>
                          </m:e>
                        </m:nary>
                      </m:den>
                    </m:f>
                  </m:oMath>
                </a14:m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</a:t>
                </a:r>
                <a:r>
                  <a:rPr lang="en-IN" sz="1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IN" sz="1800" b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Earlang’s</a:t>
                </a:r>
                <a:r>
                  <a:rPr lang="en-IN" sz="1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lost call formula/ </a:t>
                </a:r>
                <a:r>
                  <a:rPr lang="en-IN" sz="1800" b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Earlang’s</a:t>
                </a:r>
                <a:r>
                  <a:rPr lang="en-IN" sz="1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B-formula/First </a:t>
                </a:r>
                <a:r>
                  <a:rPr lang="en-IN" sz="1800" b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Earlang</a:t>
                </a:r>
                <a:r>
                  <a:rPr lang="en-IN" sz="1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function)</a:t>
                </a:r>
              </a:p>
              <a:p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 number of occupied servers or customers in the system</a:t>
                </a:r>
              </a:p>
              <a:p>
                <a:pPr marL="0" indent="0"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</a:t>
                </a:r>
              </a:p>
              <a:p>
                <a:pPr marL="0" indent="0">
                  <a:buNone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L = </a:t>
                </a:r>
                <a14:m>
                  <m:oMath xmlns:m="http://schemas.openxmlformats.org/officeDocument/2006/math">
                    <m:r>
                      <a:rPr lang="en-IN" sz="1800" i="1" dirty="0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IN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800" i="0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18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1800" b="0" i="1" dirty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75488"/>
                <a:ext cx="10515600" cy="5701475"/>
              </a:xfrm>
              <a:blipFill>
                <a:blip r:embed="rId2"/>
                <a:stretch>
                  <a:fillRect l="-406" t="-9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9332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425E511BB91D4C9767C20E748AB7E9" ma:contentTypeVersion="4" ma:contentTypeDescription="Create a new document." ma:contentTypeScope="" ma:versionID="51ff205111fa0dd9447dc2f61e9e8ecf">
  <xsd:schema xmlns:xsd="http://www.w3.org/2001/XMLSchema" xmlns:xs="http://www.w3.org/2001/XMLSchema" xmlns:p="http://schemas.microsoft.com/office/2006/metadata/properties" xmlns:ns2="d41da0ac-92b9-4cfd-9975-d34b7e2d1d6d" targetNamespace="http://schemas.microsoft.com/office/2006/metadata/properties" ma:root="true" ma:fieldsID="680504199317ce7e14acf83ee43d6a12" ns2:_="">
    <xsd:import namespace="d41da0ac-92b9-4cfd-9975-d34b7e2d1d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1da0ac-92b9-4cfd-9975-d34b7e2d1d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A1CF677-DE97-4124-A042-8630C3EF38FA}"/>
</file>

<file path=customXml/itemProps2.xml><?xml version="1.0" encoding="utf-8"?>
<ds:datastoreItem xmlns:ds="http://schemas.openxmlformats.org/officeDocument/2006/customXml" ds:itemID="{9AC723D1-8AAD-408F-BB79-FB324FE21C2E}"/>
</file>

<file path=customXml/itemProps3.xml><?xml version="1.0" encoding="utf-8"?>
<ds:datastoreItem xmlns:ds="http://schemas.openxmlformats.org/officeDocument/2006/customXml" ds:itemID="{0ADF97E3-4782-4EF3-B4A4-ECEEB2578B53}"/>
</file>

<file path=docProps/app.xml><?xml version="1.0" encoding="utf-8"?>
<Properties xmlns="http://schemas.openxmlformats.org/officeDocument/2006/extended-properties" xmlns:vt="http://schemas.openxmlformats.org/officeDocument/2006/docPropsVTypes">
  <TotalTime>1534</TotalTime>
  <Words>1020</Words>
  <Application>Microsoft Office PowerPoint</Application>
  <PresentationFormat>Widescreen</PresentationFormat>
  <Paragraphs>336</Paragraphs>
  <Slides>21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Times New Roman</vt:lpstr>
      <vt:lpstr>Office Theme</vt:lpstr>
      <vt:lpstr>Equation</vt:lpstr>
      <vt:lpstr>Queueing Models</vt:lpstr>
      <vt:lpstr>PowerPoint Presentation</vt:lpstr>
      <vt:lpstr>PowerPoint Presentation</vt:lpstr>
      <vt:lpstr>Bakery shop example</vt:lpstr>
      <vt:lpstr>General characterstics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  M/M/1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Queueing Models</dc:title>
  <dc:creator>Neha</dc:creator>
  <cp:lastModifiedBy>Goutam</cp:lastModifiedBy>
  <cp:revision>109</cp:revision>
  <dcterms:created xsi:type="dcterms:W3CDTF">2020-04-24T05:07:19Z</dcterms:created>
  <dcterms:modified xsi:type="dcterms:W3CDTF">2023-04-12T15:48:07Z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0x0101006C425E511BB91D4C9767C20E748AB7E9</vt:lpwstr>
  </property>
</Properties>
</file>