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5" r:id="rId8"/>
    <p:sldId id="264" r:id="rId9"/>
    <p:sldId id="263" r:id="rId10"/>
    <p:sldId id="262" r:id="rId11"/>
    <p:sldId id="261" r:id="rId12"/>
    <p:sldId id="269" r:id="rId13"/>
    <p:sldId id="260" r:id="rId14"/>
    <p:sldId id="270" r:id="rId15"/>
    <p:sldId id="271" r:id="rId16"/>
    <p:sldId id="267" r:id="rId17"/>
    <p:sldId id="276" r:id="rId18"/>
    <p:sldId id="275" r:id="rId19"/>
    <p:sldId id="277" r:id="rId20"/>
    <p:sldId id="274" r:id="rId21"/>
    <p:sldId id="273" r:id="rId22"/>
    <p:sldId id="272" r:id="rId23"/>
    <p:sldId id="266" r:id="rId24"/>
    <p:sldId id="278" r:id="rId25"/>
    <p:sldId id="279" r:id="rId26"/>
    <p:sldId id="285" r:id="rId27"/>
    <p:sldId id="281" r:id="rId28"/>
    <p:sldId id="286" r:id="rId29"/>
    <p:sldId id="287" r:id="rId30"/>
    <p:sldId id="282" r:id="rId31"/>
    <p:sldId id="283" r:id="rId32"/>
    <p:sldId id="284" r:id="rId33"/>
    <p:sldId id="288" r:id="rId34"/>
    <p:sldId id="299" r:id="rId35"/>
    <p:sldId id="289" r:id="rId36"/>
    <p:sldId id="300" r:id="rId37"/>
    <p:sldId id="301" r:id="rId38"/>
    <p:sldId id="312" r:id="rId39"/>
    <p:sldId id="313" r:id="rId40"/>
    <p:sldId id="302" r:id="rId41"/>
    <p:sldId id="303" r:id="rId42"/>
    <p:sldId id="310" r:id="rId43"/>
    <p:sldId id="311" r:id="rId44"/>
    <p:sldId id="293" r:id="rId45"/>
    <p:sldId id="296" r:id="rId46"/>
    <p:sldId id="297" r:id="rId47"/>
    <p:sldId id="298" r:id="rId48"/>
    <p:sldId id="304" r:id="rId49"/>
    <p:sldId id="305" r:id="rId50"/>
    <p:sldId id="306" r:id="rId51"/>
    <p:sldId id="307" r:id="rId52"/>
    <p:sldId id="308" r:id="rId53"/>
    <p:sldId id="30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4660"/>
  </p:normalViewPr>
  <p:slideViewPr>
    <p:cSldViewPr snapToGrid="0">
      <p:cViewPr varScale="1">
        <p:scale>
          <a:sx n="88" d="100"/>
          <a:sy n="88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64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6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52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8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2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60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03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0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44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6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96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82520-1AF7-459D-9965-C7E18591C9F4}" type="datetimeFigureOut">
              <a:rPr lang="en-IN" smtClean="0"/>
              <a:t>18-02-2022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C32C1-03FC-4C54-B193-E7DE0FAF8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8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704" y="25353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Duality Theory</a:t>
            </a:r>
            <a:endParaRPr lang="en-I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707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90144"/>
                <a:ext cx="5181600" cy="57868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18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800" i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1……m</a:t>
                </a:r>
                <a:endParaRPr lang="en-IN" sz="1800" i="1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j = 1……..n</a:t>
                </a:r>
              </a:p>
              <a:p>
                <a:pPr marL="0" indent="0">
                  <a:buNone/>
                </a:pPr>
                <a:endParaRPr lang="en-IN" sz="18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cx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     </a:t>
                </a:r>
                <a:r>
                  <a:rPr lang="en-IN" sz="1800" i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x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18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 x</a:t>
                </a:r>
                <a:r>
                  <a:rPr lang="en-IN" sz="18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18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s.t:</a:t>
                </a:r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b="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</a:t>
                </a:r>
                <a:endParaRPr lang="en-IN" sz="1800" b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2x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b="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</a:t>
                </a:r>
              </a:p>
              <a:p>
                <a:pPr marL="0" indent="0" algn="just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3 </a:t>
                </a: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b="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18</a:t>
                </a:r>
              </a:p>
              <a:p>
                <a:pPr marL="0" indent="0" algn="just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b="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;   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b="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90144"/>
                <a:ext cx="5181600" cy="5786819"/>
              </a:xfrm>
              <a:blipFill>
                <a:blip r:embed="rId2"/>
                <a:stretch>
                  <a:fillRect l="-1176" t="-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58496"/>
                <a:ext cx="5181600" cy="6018467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IN" sz="1800" b="1" i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</a:t>
                </a:r>
              </a:p>
              <a:p>
                <a:r>
                  <a:rPr lang="en-IN" sz="18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18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  <m:r>
                      <a:rPr lang="en-IN" sz="1800" b="0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</m:oMath>
                </a14:m>
                <a:r>
                  <a:rPr lang="en-IN" sz="1800" i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800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1……n</a:t>
                </a:r>
                <a:endParaRPr lang="en-IN" sz="1800" i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800" i="1" dirty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b="0" i="1" dirty="0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i = 1……..m</a:t>
                </a: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1800" i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endParaRPr lang="en-IN" sz="18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       </a:t>
                </a:r>
                <a:r>
                  <a:rPr lang="en-IN" sz="1800" i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18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y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IN" sz="18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4y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+ 12y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+ 18y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800" i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+ 3y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2y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y</a:t>
                </a:r>
                <a:r>
                  <a:rPr lang="en-IN" sz="1800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58496"/>
                <a:ext cx="5181600" cy="6018467"/>
              </a:xfrm>
              <a:blipFill>
                <a:blip r:embed="rId3"/>
                <a:stretch>
                  <a:fillRect l="-1176" t="-2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08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 of the Dual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1       </a:t>
                </a:r>
                <a:r>
                  <a:rPr lang="en-IN" sz="18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– c     </a:t>
                </a:r>
                <a:r>
                  <a:rPr lang="en-IN" sz="18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</a:t>
                </a:r>
                <a:r>
                  <a:rPr lang="en-IN" sz="18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8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           B</a:t>
                </a: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           B</a:t>
                </a: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=                      B</a:t>
                </a:r>
                <a:r>
                  <a:rPr lang="en-IN" sz="18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       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1800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 =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 = z – c                                      [ 1     z – c     y ]     = [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                   </a:t>
                </a:r>
                <a:r>
                  <a:rPr lang="en-I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row</a:t>
                </a:r>
              </a:p>
              <a:p>
                <a:pPr marL="0" indent="0">
                  <a:buNone/>
                </a:pP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=  Z =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y = 1……n                                 </a:t>
                </a:r>
                <a:r>
                  <a:rPr lang="en-IN" sz="1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b="1" i="1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              </a:t>
                </a:r>
                <a:r>
                  <a:rPr lang="en-IN" sz="1600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interpreted as surplus variables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……………. 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n+1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n+2       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n+m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RHS</a:t>
                </a:r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1    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…………….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y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y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IN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 rotWithShape="1">
                <a:blip r:embed="rId2"/>
                <a:stretch>
                  <a:fillRect l="-462" t="-82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uble Bracket 3"/>
          <p:cNvSpPr/>
          <p:nvPr/>
        </p:nvSpPr>
        <p:spPr>
          <a:xfrm>
            <a:off x="4401312" y="633984"/>
            <a:ext cx="2755392" cy="80467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8507799" y="640496"/>
            <a:ext cx="816864" cy="62179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217664" y="1950720"/>
            <a:ext cx="53644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644384" y="3560064"/>
            <a:ext cx="5486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17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63032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 for optimality</a:t>
                </a:r>
              </a:p>
              <a:p>
                <a:pPr marL="0" indent="0">
                  <a:buNone/>
                </a:pPr>
                <a:endParaRPr lang="en-IN" sz="20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  <a:r>
                  <a:rPr lang="en-IN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sz="20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20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1 ……….. n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  </m:t>
                        </m:r>
                        <m:r>
                          <a:rPr lang="en-I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</a:t>
                </a: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1…………m</a:t>
                </a:r>
              </a:p>
              <a:p>
                <a:pPr marL="0" indent="0">
                  <a:buNone/>
                </a:pP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20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sz="2000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200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2000" b="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20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2000" i="1" dirty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dirty="0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20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  <m:r>
                      <a:rPr lang="en-IN" sz="18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</m:oMath>
                </a14:m>
                <a:r>
                  <a:rPr lang="en-IN" sz="1800" i="1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8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1……n</a:t>
                </a:r>
                <a:endParaRPr lang="en-IN" sz="1800" i="1" baseline="-25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baseline="-250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i = 1……..m</a:t>
                </a:r>
                <a:endParaRPr lang="en-IN" sz="20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should be </a:t>
                </a:r>
                <a:r>
                  <a:rPr lang="en-IN" sz="1800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minimization</a:t>
                </a:r>
              </a:p>
              <a:p>
                <a:endParaRPr lang="en-IN" sz="18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solution to the primal is a feasible solution to the dual</a:t>
                </a:r>
              </a:p>
              <a:p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other tables except the final table yields infeasible solution to the d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ual       </a:t>
                </a:r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</a:p>
              <a:p>
                <a:endParaRPr lang="en-IN" sz="1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6303264"/>
              </a:xfrm>
              <a:blipFill rotWithShape="1">
                <a:blip r:embed="rId2"/>
                <a:stretch>
                  <a:fillRect l="-638" t="-9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90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022796"/>
              </p:ext>
            </p:extLst>
          </p:nvPr>
        </p:nvGraphicFramePr>
        <p:xfrm>
          <a:off x="606552" y="402336"/>
          <a:ext cx="10515600" cy="264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01326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9988469"/>
                    </a:ext>
                  </a:extLst>
                </a:gridCol>
                <a:gridCol w="4450080">
                  <a:extLst>
                    <a:ext uri="{9D8B030D-6E8A-4147-A177-3AD203B41FA5}">
                      <a16:colId xmlns:a16="http://schemas.microsoft.com/office/drawing/2014/main" val="3347895668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700827911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Primal</a:t>
                      </a:r>
                      <a:endParaRPr lang="en-IN" sz="2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Dual</a:t>
                      </a:r>
                      <a:endParaRPr lang="en-IN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201919"/>
                  </a:ext>
                </a:extLst>
              </a:tr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Iteration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0 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y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            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Z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c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Z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c</a:t>
                      </a:r>
                      <a:r>
                        <a:rPr lang="en-IN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b="1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645591"/>
                  </a:ext>
                </a:extLst>
              </a:tr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      -5     0     0       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          0           0                  -3                -5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852"/>
                  </a:ext>
                </a:extLst>
              </a:tr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      </a:t>
                      </a:r>
                      <a:r>
                        <a:rPr lang="en-IN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    0    5/2     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</a:t>
                      </a:r>
                      <a:r>
                        <a:rPr lang="en-IN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5/2         0                  -3                  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367216"/>
                  </a:ext>
                </a:extLst>
              </a:tr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0        0     0</a:t>
                      </a:r>
                      <a:r>
                        <a:rPr lang="en-IN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3/2      1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         3/2         1                   0                  0 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IN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81613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60832" y="3340608"/>
                <a:ext cx="1055827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4y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+ 12y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+ 18y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b="1" i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(</a:t>
                </a:r>
                <a:r>
                  <a:rPr lang="en-IN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b="1" i="1" baseline="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</a:t>
                </a:r>
                <a:r>
                  <a:rPr lang="en-IN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baseline="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2y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IN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b="1" i="1" baseline="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</a:t>
                </a:r>
                <a:r>
                  <a:rPr lang="en-IN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5</a:t>
                </a:r>
              </a:p>
              <a:p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i="1" baseline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i="1" baseline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y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+ 3y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- 3           </a:t>
                </a:r>
                <a:r>
                  <a:rPr lang="en-IN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  <a:r>
                  <a:rPr lang="en-IN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algn="ctr"/>
                <a:endParaRPr lang="en-IN" i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i="1" baseline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i="1" baseline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i="1" baseline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2y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+ 2y</a:t>
                </a:r>
                <a:r>
                  <a:rPr lang="en-IN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- 5           </a:t>
                </a:r>
                <a:r>
                  <a:rPr lang="en-IN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  <a:r>
                  <a:rPr lang="en-IN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r>
                  <a:rPr lang="en-IN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IN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3340608"/>
                <a:ext cx="10558272" cy="3416320"/>
              </a:xfrm>
              <a:prstGeom prst="rect">
                <a:avLst/>
              </a:prstGeom>
              <a:blipFill>
                <a:blip r:embed="rId2"/>
                <a:stretch>
                  <a:fillRect l="-520" t="-10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75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8472" y="1706880"/>
                <a:ext cx="10515600" cy="30845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 smtClean="0"/>
                  <a:t>Summary: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Weak Duality</a:t>
                </a:r>
                <a:r>
                  <a:rPr lang="en-IN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en-IN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𝑦𝑏</m:t>
                    </m:r>
                    <m:r>
                      <a:rPr lang="en-IN" b="0" i="1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Strong Duality</a:t>
                </a:r>
                <a:r>
                  <a:rPr lang="en-IN" b="0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IN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cx* = y*b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8472" y="1706880"/>
                <a:ext cx="10515600" cy="3084575"/>
              </a:xfrm>
              <a:blipFill>
                <a:blip r:embed="rId2"/>
                <a:stretch>
                  <a:fillRect l="-1217" t="-33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82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Complementary solution Property</a:t>
                </a:r>
              </a:p>
              <a:p>
                <a:pPr marL="0" indent="0">
                  <a:buNone/>
                </a:pPr>
                <a:endParaRPr lang="en-IN" sz="2000" b="1" u="sng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 = yb                                            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- optimal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y - feasible and optimal</a:t>
                </a:r>
              </a:p>
              <a:p>
                <a:pPr marL="0" indent="0">
                  <a:buNone/>
                </a:pPr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x- not optimal</a:t>
                </a:r>
              </a:p>
              <a:p>
                <a:pPr marL="0" indent="0">
                  <a:buNone/>
                </a:pPr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y – infeasible         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cx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 </m:t>
                    </m:r>
                  </m:oMath>
                </a14:m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endParaRPr lang="en-IN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Duality Theorem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feasible and bounded problem   -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Strong Duality</a:t>
                </a:r>
              </a:p>
              <a:p>
                <a:pPr marL="457200" indent="-457200">
                  <a:buFont typeface="+mj-lt"/>
                  <a:buAutoNum type="arabicParenR"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problem feasible and unbounded, the other problem is infeasible</a:t>
                </a:r>
              </a:p>
              <a:p>
                <a:pPr marL="457200" indent="-457200">
                  <a:buFont typeface="+mj-lt"/>
                  <a:buAutoNum type="arabicParenR"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one problem is infeasible, the other problem is infeasible or unbounded</a:t>
                </a: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696" t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79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6376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slackness</a:t>
            </a:r>
          </a:p>
          <a:p>
            <a:pPr marL="0" indent="0">
              <a:buNone/>
            </a:pPr>
            <a:endParaRPr lang="en-IN" sz="2400" b="1" u="sng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Primal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I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Dual</a:t>
            </a:r>
          </a:p>
          <a:p>
            <a:pPr marL="0" indent="0" algn="ctr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sz="18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                             Non-basic (</a:t>
            </a:r>
            <a:r>
              <a:rPr lang="en-IN" sz="1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8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variables)</a:t>
            </a:r>
          </a:p>
          <a:p>
            <a:pPr marL="0" indent="0" algn="ctr">
              <a:buNone/>
            </a:pPr>
            <a:r>
              <a:rPr lang="en-IN" sz="18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Non-basic                              Basic (</a:t>
            </a:r>
            <a:r>
              <a:rPr lang="en-IN" sz="1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8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variables)</a:t>
            </a:r>
          </a:p>
          <a:p>
            <a:pPr marL="0" indent="0">
              <a:buNone/>
            </a:pPr>
            <a:r>
              <a:rPr lang="en-IN" sz="20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sz="20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feasible ?</a:t>
            </a:r>
            <a:endParaRPr lang="en-IN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632704" y="1767840"/>
            <a:ext cx="9753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638800" y="2115312"/>
            <a:ext cx="9753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521090"/>
              </p:ext>
            </p:extLst>
          </p:nvPr>
        </p:nvGraphicFramePr>
        <p:xfrm>
          <a:off x="1727200" y="3060192"/>
          <a:ext cx="81280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049442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26182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303620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287077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25908162"/>
                    </a:ext>
                  </a:extLst>
                </a:gridCol>
              </a:tblGrid>
              <a:tr h="334602"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Primal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17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(0,0,4,12,18)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(0,0,0,-3,-5)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19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(4,0,0,12,6)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(3,0,0,0,-3)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7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(6,0,-2,12,0)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(0,0,1,0,-3)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65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(4,3,0,6,0)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(-9/2,0,5/2,0,0)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70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(0,6,4,0,6)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(0,5/2,0,-3,0)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(2,6,2,0,0)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(0,3/2,1,0,0)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(4,6,0,0,-6)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(3,5/2,0,0,0)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52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(0,9,4,-6,0)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(0,0,5/2,9/2,0)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659752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7388352" y="3011424"/>
            <a:ext cx="0" cy="5120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53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648"/>
            <a:ext cx="10515600" cy="5908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Finding solution using complementary slackness</a:t>
            </a:r>
          </a:p>
          <a:p>
            <a:pPr marL="0" indent="0">
              <a:buNone/>
            </a:pPr>
            <a:endParaRPr lang="en-IN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(4,6,0,0,-6)                      Primal</a:t>
            </a:r>
          </a:p>
          <a:p>
            <a:pPr marL="0" indent="0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Non - basic</a:t>
            </a: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Basic</a:t>
            </a:r>
          </a:p>
          <a:p>
            <a:pPr marL="0" indent="0">
              <a:buNone/>
            </a:pP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sz="20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2000" b="1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</a:t>
            </a:r>
            <a:r>
              <a:rPr lang="en-IN" sz="20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</a:t>
            </a:r>
            <a:r>
              <a:rPr lang="en-IN" sz="2000" b="1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en-IN" sz="20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2000" b="1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</a:t>
            </a:r>
            <a:r>
              <a:rPr lang="en-IN" sz="20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</a:t>
            </a:r>
            <a:r>
              <a:rPr lang="en-IN" sz="2000" b="1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                    </a:t>
            </a:r>
            <a:r>
              <a:rPr lang="en-IN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Non-basic = 0</a:t>
            </a:r>
          </a:p>
          <a:p>
            <a:pPr marL="0" indent="0">
              <a:buNone/>
            </a:pP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i="1" baseline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000" b="1" i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1  ,  </a:t>
            </a:r>
            <a:r>
              <a:rPr lang="en-IN" sz="2000" b="1" i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I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IN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621024" y="1280160"/>
            <a:ext cx="5852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322320" y="2078736"/>
            <a:ext cx="5852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352800" y="2487168"/>
            <a:ext cx="5852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474976" y="1377696"/>
            <a:ext cx="60960" cy="573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987296" y="2621280"/>
            <a:ext cx="353568" cy="487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755392" y="2657856"/>
            <a:ext cx="48768" cy="499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243072" y="2609088"/>
            <a:ext cx="390144" cy="524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4145280" y="3121153"/>
            <a:ext cx="658368" cy="243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913888" y="4059936"/>
            <a:ext cx="5852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4876800" y="4291584"/>
                <a:ext cx="3706368" cy="165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i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+ 3y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(z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pPr algn="ctr"/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(z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  <a:p>
                <a:pPr algn="ctr"/>
                <a:endParaRPr lang="en-IN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     y</a:t>
                </a:r>
                <a:r>
                  <a:rPr lang="en-IN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5/2</a:t>
                </a:r>
              </a:p>
              <a:p>
                <a:pPr algn="ctr"/>
                <a:endParaRPr lang="en-IN" b="1" i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291584"/>
                <a:ext cx="3706368" cy="1658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87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Adapting to other Primal forms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</a:t>
                </a:r>
                <a:r>
                  <a:rPr lang="en-IN" sz="20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form</a:t>
                </a:r>
                <a:endParaRPr lang="en-IN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Min. 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Max.      -</a:t>
                </a:r>
                <a:r>
                  <a:rPr lang="en-IN" sz="2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endParaRPr lang="en-IN" sz="2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     </a:t>
                </a:r>
                <a:r>
                  <a:rPr lang="en-IN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   - </a:t>
                </a:r>
                <a:r>
                  <a:rPr lang="en-IN" sz="2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-c 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                                                                          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 </a:t>
                </a: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form</a:t>
                </a:r>
              </a:p>
              <a:p>
                <a:pPr marL="0" indent="0">
                  <a:buNone/>
                </a:pP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Max.     cx</a:t>
                </a:r>
              </a:p>
              <a:p>
                <a:pPr marL="0" indent="0">
                  <a:buNone/>
                </a:pPr>
                <a:r>
                  <a:rPr lang="en-IN" sz="18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IN" sz="18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endParaRPr lang="en-IN" sz="1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</a:t>
                </a:r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696" t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3645408" y="1389888"/>
            <a:ext cx="1414272" cy="426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5413248" y="3023616"/>
                <a:ext cx="3706368" cy="223113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IN" u="sng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</a:t>
                </a:r>
                <a:endParaRPr lang="en-IN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Min.   -cx</a:t>
                </a:r>
              </a:p>
              <a:p>
                <a:pPr algn="ctr"/>
                <a:r>
                  <a:rPr lang="en-IN" sz="2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- </a:t>
                </a:r>
                <a:r>
                  <a:rPr lang="en-IN" sz="2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≥−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000" b="0" i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IN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248" y="3023616"/>
                <a:ext cx="3706368" cy="223113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4" idx="0"/>
          </p:cNvCxnSpPr>
          <p:nvPr/>
        </p:nvCxnSpPr>
        <p:spPr>
          <a:xfrm>
            <a:off x="7266432" y="3023616"/>
            <a:ext cx="0" cy="5852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 flipH="1">
            <a:off x="3535680" y="3919728"/>
            <a:ext cx="1389888" cy="426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8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SOB Method</a:t>
            </a:r>
            <a:r>
              <a:rPr lang="en-I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(Sensible, Odd, Bizarre Method)</a:t>
            </a:r>
            <a:br>
              <a:rPr lang="en-I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 - Z  = - 0.4x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0.3x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+ 0.1x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(O)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0.6x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 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94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     2.7y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</a:p>
              <a:p>
                <a:pPr marL="0" indent="0">
                  <a:buNone/>
                </a:pPr>
                <a:endParaRPr lang="en-IN" sz="20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unrestricted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endParaRPr lang="en-IN" sz="20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-0.4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-0.5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94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03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SOB Method</a:t>
            </a:r>
            <a:r>
              <a:rPr lang="en-I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(Sensible, Odd, Bizarre Method)</a:t>
            </a:r>
            <a:br>
              <a:rPr lang="en-I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 = 0.4x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0.3x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+ 0.1x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(O)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0.6x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  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x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94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     2.7y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</a:p>
              <a:p>
                <a:pPr marL="0" indent="0">
                  <a:buNone/>
                </a:pPr>
                <a:endParaRPr lang="en-IN" sz="20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unrestricted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IN" sz="20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+ 0.6y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0.4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 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+ 0.4y</a:t>
                </a:r>
                <a:r>
                  <a:rPr lang="en-IN" sz="20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≤</m:t>
                    </m:r>
                  </m:oMath>
                </a14:m>
                <a:r>
                  <a:rPr lang="en-I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i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endParaRPr lang="en-I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94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31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5908739"/>
          </a:xfrm>
        </p:spPr>
        <p:txBody>
          <a:bodyPr/>
          <a:lstStyle/>
          <a:p>
            <a:endParaRPr lang="en-IN" b="1" dirty="0" smtClean="0"/>
          </a:p>
          <a:p>
            <a:pPr marL="0" indent="0">
              <a:buNone/>
            </a:pP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Z         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         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 </a:t>
            </a:r>
            <a:r>
              <a:rPr lang="en-I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RHS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sz="2400" dirty="0" smtClean="0"/>
              <a:t>   Z       -1         0              0            0.5      M-1.1        0       -M             -5.25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      </a:t>
            </a:r>
            <a:r>
              <a:rPr lang="en-IN" dirty="0" smtClean="0">
                <a:solidFill>
                  <a:srgbClr val="FF0000"/>
                </a:solidFill>
              </a:rPr>
              <a:t>y</a:t>
            </a:r>
            <a:r>
              <a:rPr lang="en-IN" baseline="-25000" dirty="0" smtClean="0">
                <a:solidFill>
                  <a:srgbClr val="FF0000"/>
                </a:solidFill>
              </a:rPr>
              <a:t>1             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smtClean="0">
                <a:solidFill>
                  <a:srgbClr val="FF0000"/>
                </a:solidFill>
              </a:rPr>
              <a:t>y</a:t>
            </a:r>
            <a:r>
              <a:rPr lang="en-IN" baseline="-25000" smtClean="0">
                <a:solidFill>
                  <a:srgbClr val="FF0000"/>
                </a:solidFill>
              </a:rPr>
              <a:t>2</a:t>
            </a:r>
            <a:r>
              <a:rPr lang="en-IN" smtClean="0">
                <a:solidFill>
                  <a:srgbClr val="FF0000"/>
                </a:solidFill>
              </a:rPr>
              <a:t>                 y</a:t>
            </a:r>
            <a:r>
              <a:rPr lang="en-IN" baseline="-25000" smtClean="0">
                <a:solidFill>
                  <a:srgbClr val="FF0000"/>
                </a:solidFill>
              </a:rPr>
              <a:t>3 </a:t>
            </a:r>
            <a:r>
              <a:rPr lang="en-IN" smtClean="0">
                <a:solidFill>
                  <a:srgbClr val="FF0000"/>
                </a:solidFill>
              </a:rPr>
              <a:t>  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6035040" y="853440"/>
            <a:ext cx="2804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991856" y="835152"/>
            <a:ext cx="2804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77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5908739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  <a:p>
            <a:pPr marL="0" indent="0">
              <a:buNone/>
            </a:pP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No. of constraints (m)   &gt;   No. of variables (n)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Suppose ‘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x’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Primal feasible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‘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is a dual feasible found by inspection</a:t>
            </a:r>
          </a:p>
          <a:p>
            <a:pPr marL="0" indent="0">
              <a:buNone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If  cx =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‘x’ is optimal  (no need to apply simplex)</a:t>
            </a:r>
          </a:p>
          <a:p>
            <a:pPr marL="0" indent="0">
              <a:buNone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If  cx &lt; 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still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provides an upper bound</a:t>
            </a:r>
            <a:endParaRPr lang="en-IN" sz="18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438400" y="3718560"/>
            <a:ext cx="3901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55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5908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Reddy </a:t>
            </a:r>
            <a:r>
              <a:rPr lang="en-IN" sz="2400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Mikks</a:t>
            </a:r>
            <a:r>
              <a:rPr lang="en-IN"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Model </a:t>
            </a:r>
            <a:r>
              <a:rPr lang="en-IN" sz="2000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Reddy </a:t>
            </a:r>
            <a:r>
              <a:rPr lang="en-IN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Mikks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produces both interior and exterior paints from two raw materials M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M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market Survey :</a:t>
            </a: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Daily demand for interior paint cannot exceed that of exterior paint by more than 1 ton. Also, the maximum daily demand of interior paint is 2 tons</a:t>
            </a:r>
            <a:endParaRPr lang="en-I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168975"/>
              </p:ext>
            </p:extLst>
          </p:nvPr>
        </p:nvGraphicFramePr>
        <p:xfrm>
          <a:off x="1922272" y="1963250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45087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669341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803287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5900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b="1" dirty="0" smtClean="0"/>
                        <a:t>Tons of raw material per ton of</a:t>
                      </a:r>
                      <a:endParaRPr lang="en-IN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b="1" dirty="0" smtClean="0"/>
                        <a:t>Maximum daily     availabilities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1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Exterior Paint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Interior Paint</a:t>
                      </a:r>
                      <a:endParaRPr lang="en-IN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63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Raw material M</a:t>
                      </a:r>
                      <a:r>
                        <a:rPr lang="en-IN" b="1" baseline="-25000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24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1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Raw material M</a:t>
                      </a:r>
                      <a:r>
                        <a:rPr lang="en-IN" b="1" baseline="-25000" dirty="0" smtClean="0"/>
                        <a:t>2</a:t>
                      </a:r>
                      <a:r>
                        <a:rPr lang="en-IN" b="1" baseline="0" dirty="0" smtClean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416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Profit per ton ($1000)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61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87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008" y="1706880"/>
            <a:ext cx="10515600" cy="3011424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Graphical Sensitivity Analysis</a:t>
            </a:r>
          </a:p>
          <a:p>
            <a:pPr marL="0" indent="0">
              <a:buNone/>
            </a:pP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in the objective coefficients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in the RHS</a:t>
            </a:r>
          </a:p>
          <a:p>
            <a:pPr marL="342900" indent="-342900">
              <a:buFont typeface="+mj-lt"/>
              <a:buAutoNum type="arabicPeriod"/>
            </a:pPr>
            <a:endParaRPr lang="en-I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00877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ln w="3810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IN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Changes in the objective coefficients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IN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2000" b="1" dirty="0" smtClean="0"/>
                  <a:t>Max Z = c</a:t>
                </a:r>
                <a:r>
                  <a:rPr lang="en-IN" sz="2000" b="1" baseline="-25000" dirty="0" smtClean="0"/>
                  <a:t>1</a:t>
                </a:r>
                <a:r>
                  <a:rPr lang="en-IN" sz="2000" b="1" dirty="0" smtClean="0"/>
                  <a:t>x</a:t>
                </a:r>
                <a:r>
                  <a:rPr lang="en-IN" sz="2000" b="1" baseline="-25000" dirty="0" smtClean="0"/>
                  <a:t>1 </a:t>
                </a:r>
                <a:r>
                  <a:rPr lang="en-IN" sz="2000" b="1" dirty="0" smtClean="0"/>
                  <a:t> +  c</a:t>
                </a:r>
                <a:r>
                  <a:rPr lang="en-IN" sz="2000" b="1" baseline="-25000" dirty="0" smtClean="0"/>
                  <a:t>2</a:t>
                </a:r>
                <a:r>
                  <a:rPr lang="en-IN" sz="2000" b="1" dirty="0" smtClean="0"/>
                  <a:t>x</a:t>
                </a:r>
                <a:r>
                  <a:rPr lang="en-IN" sz="2000" b="1" baseline="-25000" dirty="0" smtClean="0"/>
                  <a:t>2</a:t>
                </a:r>
                <a:r>
                  <a:rPr lang="en-IN" sz="2000" b="1" dirty="0" smtClean="0"/>
                  <a:t> </a:t>
                </a:r>
              </a:p>
              <a:p>
                <a:pPr marL="0" indent="0">
                  <a:buNone/>
                </a:pPr>
                <a:endParaRPr lang="en-IN" sz="2000" dirty="0" smtClean="0"/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Range of optimality for the ratio 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(or, 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/c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 that will keep the present optimal solution </a:t>
                </a:r>
                <a:r>
                  <a:rPr lang="en-IN" sz="2000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unchanged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                                           Range of </a:t>
                </a:r>
                <a:endParaRPr lang="en-IN" sz="2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Reddy </a:t>
                </a:r>
                <a:r>
                  <a:rPr lang="en-IN" sz="2000" u="sng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Mikks</a:t>
                </a:r>
                <a:r>
                  <a:rPr lang="en-IN" sz="2000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Model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                                                           Optimality</a:t>
                </a:r>
              </a:p>
              <a:p>
                <a:pPr marL="0" indent="0">
                  <a:buNone/>
                </a:pP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Max Z = 5x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+ 4x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2000" dirty="0" err="1" smtClean="0">
                    <a:solidFill>
                      <a:srgbClr val="FF0000"/>
                    </a:solidFill>
                  </a:rPr>
                  <a:t>s.t.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   6x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IN" sz="2000" dirty="0">
                    <a:solidFill>
                      <a:srgbClr val="FF0000"/>
                    </a:solidFill>
                  </a:rPr>
                  <a:t>+ 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4x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≤24</m:t>
                    </m:r>
                  </m:oMath>
                </a14:m>
                <a:endParaRPr lang="en-IN" sz="2000" baseline="-25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           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IN" sz="2000" dirty="0">
                    <a:solidFill>
                      <a:srgbClr val="FF0000"/>
                    </a:solidFill>
                  </a:rPr>
                  <a:t>+ 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2x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sz="2000" dirty="0" smtClean="0">
                    <a:solidFill>
                      <a:srgbClr val="FF0000"/>
                    </a:solidFill>
                  </a:rPr>
                  <a:t>                                                                                                   </a:t>
                </a:r>
                <a:r>
                  <a:rPr lang="en-IN" sz="2000" dirty="0" smtClean="0">
                    <a:solidFill>
                      <a:schemeClr val="tx1"/>
                    </a:solidFill>
                  </a:rPr>
                  <a:t>x</a:t>
                </a:r>
                <a:r>
                  <a:rPr lang="en-IN" sz="2000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IN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IN" sz="2000" dirty="0">
                    <a:solidFill>
                      <a:schemeClr val="tx1"/>
                    </a:solidFill>
                  </a:rPr>
                  <a:t>+ 2x</a:t>
                </a:r>
                <a:r>
                  <a:rPr lang="en-IN" sz="200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I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≤6</m:t>
                    </m:r>
                  </m:oMath>
                </a14:m>
                <a:endParaRPr lang="en-IN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            -x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+x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                    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IN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dirty="0">
                    <a:solidFill>
                      <a:srgbClr val="FF0000"/>
                    </a:solidFill>
                  </a:rPr>
                  <a:t> 2 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                                                                                                         </a:t>
                </a:r>
                <a:r>
                  <a:rPr lang="en-IN" sz="2000" dirty="0" smtClean="0">
                    <a:solidFill>
                      <a:schemeClr val="tx1"/>
                    </a:solidFill>
                  </a:rPr>
                  <a:t>6x</a:t>
                </a:r>
                <a:r>
                  <a:rPr lang="en-IN" sz="2000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IN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IN" sz="2000" dirty="0">
                    <a:solidFill>
                      <a:schemeClr val="tx1"/>
                    </a:solidFill>
                  </a:rPr>
                  <a:t>+ 4x</a:t>
                </a:r>
                <a:r>
                  <a:rPr lang="en-IN" sz="200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I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≤24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</a:t>
                </a:r>
                <a:endParaRPr lang="en-IN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                  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1,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x</a:t>
                </a:r>
                <a:r>
                  <a:rPr lang="en-IN" sz="2000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I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924" t="-1538" r="-69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6242304" y="2584704"/>
            <a:ext cx="0" cy="326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815584" y="5705856"/>
            <a:ext cx="5364480" cy="121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266688" y="4181856"/>
            <a:ext cx="658368" cy="7802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937248" y="4194048"/>
            <a:ext cx="1292352" cy="24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93024" y="4206240"/>
            <a:ext cx="731520" cy="5120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24544" y="4706112"/>
            <a:ext cx="609600" cy="10119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7766304" y="3267456"/>
            <a:ext cx="1255776" cy="154838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7010400" y="3316224"/>
            <a:ext cx="1207008" cy="90220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8595360" y="4437888"/>
            <a:ext cx="536448" cy="195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9351264" y="5279136"/>
            <a:ext cx="493776" cy="67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rved Down Arrow 47"/>
          <p:cNvSpPr/>
          <p:nvPr/>
        </p:nvSpPr>
        <p:spPr>
          <a:xfrm>
            <a:off x="7351776" y="3389376"/>
            <a:ext cx="633984" cy="158496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95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dirty="0" smtClean="0"/>
                  <a:t>                      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If c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i="0" baseline="-25000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i="0" baseline="-25000" dirty="0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1</m:t>
                        </m:r>
                      </m:den>
                    </m:f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cannot be horizontal</a:t>
                </a:r>
              </a:p>
              <a:p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If c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sz="2000" b="1" dirty="0" smtClean="0"/>
                  <a:t>             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cannot be vertical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Both applicable in this example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2000" dirty="0" smtClean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>
                    <a:solidFill>
                      <a:srgbClr val="FF0000"/>
                    </a:solidFill>
                  </a:rPr>
                  <a:t>Z = 5x</a:t>
                </a:r>
                <a:r>
                  <a:rPr lang="en-IN" sz="20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IN" sz="2000" dirty="0">
                    <a:solidFill>
                      <a:srgbClr val="FF0000"/>
                    </a:solidFill>
                  </a:rPr>
                  <a:t> + 4x</a:t>
                </a:r>
                <a:r>
                  <a:rPr lang="en-IN" sz="2000" baseline="-25000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2000" dirty="0" smtClean="0"/>
                  <a:t>        </a:t>
                </a:r>
              </a:p>
              <a:p>
                <a:pPr marL="0" indent="0">
                  <a:buNone/>
                </a:pPr>
                <a:r>
                  <a:rPr lang="en-IN" sz="2000" dirty="0"/>
                  <a:t> </a:t>
                </a:r>
                <a:r>
                  <a:rPr lang="en-IN" sz="2000" dirty="0" smtClean="0"/>
                  <a:t>  </a:t>
                </a:r>
                <a:r>
                  <a:rPr lang="en-IN" sz="2000" b="1" dirty="0" smtClean="0"/>
                  <a:t>2           6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Bracket 1"/>
          <p:cNvSpPr/>
          <p:nvPr/>
        </p:nvSpPr>
        <p:spPr>
          <a:xfrm>
            <a:off x="2206752" y="963168"/>
            <a:ext cx="377952" cy="1011936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499616" y="1536192"/>
            <a:ext cx="621792" cy="719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353312" y="4425696"/>
            <a:ext cx="512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243584" y="3742944"/>
            <a:ext cx="182880" cy="499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438656" y="3755136"/>
            <a:ext cx="536448" cy="53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4279392" y="3035808"/>
                <a:ext cx="6071616" cy="3133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Suppose c</a:t>
                </a:r>
                <a:r>
                  <a:rPr lang="en-IN" sz="2000" b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4 fixed</a:t>
                </a:r>
              </a:p>
              <a:p>
                <a:pPr algn="ctr"/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What is the optimality range of c</a:t>
                </a:r>
                <a:r>
                  <a:rPr lang="en-IN" sz="2000" b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?</a:t>
                </a:r>
              </a:p>
              <a:p>
                <a:pPr algn="ctr"/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sz="2000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IN" sz="24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IN" dirty="0" smtClean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000" b="1" i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1" i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000" b="1" i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1" i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IN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IN" b="1" baseline="-25000" dirty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</m:t>
                        </m:r>
                      </m:den>
                    </m:f>
                  </m:oMath>
                </a14:m>
                <a:r>
                  <a:rPr lang="en-I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IN" sz="20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dirty="0" smtClean="0"/>
                  <a:t> </a:t>
                </a:r>
                <a:r>
                  <a:rPr lang="en-IN" b="1" dirty="0" smtClean="0">
                    <a:solidFill>
                      <a:srgbClr val="FF0000"/>
                    </a:solidFill>
                  </a:rPr>
                  <a:t>x 4                   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c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92" y="3035808"/>
                <a:ext cx="6071616" cy="3133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38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6400800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Change in the availability of resources</a:t>
                </a:r>
              </a:p>
              <a:p>
                <a:pPr marL="0" indent="0">
                  <a:buNone/>
                </a:pPr>
                <a:r>
                  <a:rPr lang="en-IN" b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</a:t>
                </a:r>
                <a:endParaRPr lang="en-IN" b="1" u="sng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</a:rPr>
                  <a:t>            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18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dirty="0" smtClean="0">
                    <a:solidFill>
                      <a:srgbClr val="FF0000"/>
                    </a:solidFill>
                  </a:rPr>
                  <a:t>         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1800" b="1" dirty="0" smtClean="0">
                    <a:solidFill>
                      <a:srgbClr val="FF0000"/>
                    </a:solidFill>
                  </a:rPr>
                  <a:t> = 20   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1800" b="1" dirty="0" smtClean="0">
                    <a:solidFill>
                      <a:srgbClr val="FF0000"/>
                    </a:solidFill>
                  </a:rPr>
                  <a:t> = 24      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IN" sz="1800" b="1" dirty="0" smtClean="0">
                    <a:solidFill>
                      <a:srgbClr val="FF0000"/>
                    </a:solidFill>
                  </a:rPr>
                  <a:t> = 36</a:t>
                </a: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     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Range of feasibility for material M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IN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rgbClr val="FF0000"/>
                    </a:solidFill>
                  </a:rPr>
                  <a:t>                                        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(2,2)</a:t>
                </a:r>
                <a:endParaRPr lang="en-IN" sz="1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            C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                    6x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+ 4x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24</a:t>
                </a: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20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                                     C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(6,0)            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18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None/>
                </a:pPr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Feasibility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: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Range of M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given M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6</a:t>
                </a:r>
              </a:p>
              <a:p>
                <a:pPr marL="0" indent="0">
                  <a:buNone/>
                </a:pPr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IN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1800" b="1" dirty="0">
                        <a:solidFill>
                          <a:srgbClr val="FF0000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en-IN" sz="1800" b="1" baseline="-25000" dirty="0">
                        <a:solidFill>
                          <a:srgbClr val="FF0000"/>
                        </a:solidFill>
                      </a:rPr>
                      <m:t>1</m:t>
                    </m:r>
                    <m:r>
                      <a:rPr lang="en-IN" sz="18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en-IN" sz="1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4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400" b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Intersection point (C) of the lines associated with M</a:t>
                </a:r>
                <a:r>
                  <a:rPr lang="en-IN" sz="1400" b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400" b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&amp; M</a:t>
                </a:r>
                <a:r>
                  <a:rPr lang="en-IN" sz="1400" b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4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</a:t>
                </a:r>
              </a:p>
              <a:p>
                <a:pPr marL="0" indent="0">
                  <a:buNone/>
                </a:pPr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6400800"/>
              </a:xfrm>
              <a:blipFill>
                <a:blip r:embed="rId2"/>
                <a:stretch>
                  <a:fillRect l="-1101" t="-1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 flipH="1">
            <a:off x="2218944" y="1072896"/>
            <a:ext cx="12192" cy="3547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36192" y="4328160"/>
            <a:ext cx="6181344" cy="487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243328" y="2633472"/>
            <a:ext cx="914400" cy="4998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157728" y="2621280"/>
            <a:ext cx="1219200" cy="121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76928" y="2621280"/>
            <a:ext cx="719328" cy="71932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84064" y="3340608"/>
            <a:ext cx="134112" cy="9875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376928" y="1536192"/>
            <a:ext cx="12192" cy="282854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4925568" y="1584960"/>
            <a:ext cx="158496" cy="178003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096256" y="3340608"/>
            <a:ext cx="938784" cy="1048512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 flipV="1">
            <a:off x="5998464" y="1499616"/>
            <a:ext cx="12192" cy="275539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389120" y="1840992"/>
            <a:ext cx="1633728" cy="243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986016" y="5218176"/>
            <a:ext cx="4023360" cy="12192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 value Z will change with the change in RHS</a:t>
            </a: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 flipV="1">
            <a:off x="1304544" y="5669280"/>
            <a:ext cx="48768" cy="414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2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1624" y="231648"/>
                <a:ext cx="10515600" cy="5908739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/>
                  <a:t>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20/3                   </a:t>
                </a:r>
                <a:endParaRPr lang="en-IN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sz="2000" dirty="0" smtClean="0"/>
                  <a:t>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4                            H (8/3,2)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dirty="0" smtClean="0"/>
                  <a:t>               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dirty="0" smtClean="0"/>
                  <a:t>                                    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/>
                  <a:t>                  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</a:p>
              <a:p>
                <a:pPr marL="0" indent="0">
                  <a:buNone/>
                </a:pPr>
                <a:r>
                  <a:rPr lang="en-IN" dirty="0" smtClean="0"/>
                  <a:t>                         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r>
                  <a:rPr lang="en-IN" sz="18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IN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dirty="0" smtClean="0"/>
                  <a:t>                                           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 (4,0)</a:t>
                </a:r>
              </a:p>
              <a:p>
                <a:r>
                  <a:rPr lang="en-IN" dirty="0" smtClean="0"/>
                  <a:t>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Feasibility range for M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4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2400" b="1" dirty="0">
                        <a:solidFill>
                          <a:srgbClr val="FF0000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en-IN" sz="2400" b="1" baseline="-25000" dirty="0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IN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1624" y="231648"/>
                <a:ext cx="10515600" cy="5908739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2157984" y="1243584"/>
            <a:ext cx="24384" cy="32796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828800" y="4230624"/>
            <a:ext cx="4901184" cy="24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182368" y="2804160"/>
            <a:ext cx="877824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60192" y="2791968"/>
            <a:ext cx="890016" cy="121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950208" y="2791968"/>
            <a:ext cx="719328" cy="573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681728" y="3364992"/>
            <a:ext cx="231648" cy="890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2621280" y="2560320"/>
            <a:ext cx="2279904" cy="170688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3048000" y="1694688"/>
            <a:ext cx="2859024" cy="211531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 flipV="1">
            <a:off x="4523232" y="2791968"/>
            <a:ext cx="158496" cy="5608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925824" y="2791968"/>
            <a:ext cx="621792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804160" y="2036064"/>
            <a:ext cx="719328" cy="658368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/>
              <p:cNvSpPr/>
              <p:nvPr/>
            </p:nvSpPr>
            <p:spPr>
              <a:xfrm>
                <a:off x="8010144" y="2182368"/>
                <a:ext cx="1877568" cy="87782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 smtClean="0">
                    <a:solidFill>
                      <a:schemeClr val="tx1"/>
                    </a:solidFill>
                  </a:rPr>
                  <a:t>Given M</a:t>
                </a:r>
                <a:r>
                  <a:rPr lang="en-IN" b="1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IN" b="1" dirty="0" smtClean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b="1" dirty="0">
                        <a:solidFill>
                          <a:srgbClr val="FF0000"/>
                        </a:solidFill>
                      </a:rPr>
                      <m:t>M</m:t>
                    </m:r>
                    <m:r>
                      <a:rPr lang="en-IN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9" name="Rounded 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144" y="2182368"/>
                <a:ext cx="1877568" cy="877824"/>
              </a:xfrm>
              <a:prstGeom prst="roundRect">
                <a:avLst/>
              </a:prstGeom>
              <a:blipFill>
                <a:blip r:embed="rId3"/>
                <a:stretch>
                  <a:fillRect t="-6849" b="-47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11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Unit worth of a resource</a:t>
                </a:r>
              </a:p>
              <a:p>
                <a:pPr marL="0" indent="0">
                  <a:buNone/>
                </a:pPr>
                <a:endParaRPr lang="en-I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IN" sz="20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IN" sz="20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</a:t>
                </a:r>
                <a:r>
                  <a:rPr lang="en-IN" sz="2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resources                                                                 Model output      Objective value (Z)   </a:t>
                </a:r>
              </a:p>
              <a:p>
                <a:pPr marL="0" indent="0">
                  <a:buNone/>
                </a:pPr>
                <a:endParaRPr lang="en-I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2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IN" sz="2000" b="1" u="sng" dirty="0" smtClean="0"/>
                  <a:t>Unit worth of resource ‘</a:t>
                </a:r>
                <a:r>
                  <a:rPr lang="en-IN" sz="2000" b="1" u="sng" dirty="0" err="1" smtClean="0"/>
                  <a:t>i</a:t>
                </a:r>
                <a:r>
                  <a:rPr lang="en-IN" sz="2000" b="1" u="sng" dirty="0" smtClean="0"/>
                  <a:t>’   </a:t>
                </a: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</a:rPr>
                  <a:t>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2000" b="1" baseline="-25000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=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𝒄𝒉𝒂𝒏𝒈𝒆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𝒗𝒂𝒍𝒖𝒆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𝒁</m:t>
                        </m:r>
                      </m:num>
                      <m:den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𝒇𝒆𝒂𝒔𝒊𝒃𝒊𝒍𝒊𝒕𝒚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𝒓𝒂𝒏𝒈𝒆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</m:oMath>
                </a14:m>
                <a:endParaRPr lang="en-IN" sz="2000" b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2000" b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IN" sz="2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IN" sz="2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 </a:t>
                </a:r>
                <a:endParaRPr lang="en-I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1275" t="-1858" r="-1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755136" y="1426464"/>
            <a:ext cx="2450592" cy="853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LP</a:t>
            </a:r>
          </a:p>
          <a:p>
            <a:pPr algn="ctr"/>
            <a:r>
              <a:rPr lang="en-IN" b="1" dirty="0" smtClean="0"/>
              <a:t>Model</a:t>
            </a:r>
          </a:p>
          <a:p>
            <a:pPr algn="ctr"/>
            <a:r>
              <a:rPr lang="en-IN" b="1" dirty="0" smtClean="0"/>
              <a:t>Activities</a:t>
            </a:r>
            <a:endParaRPr lang="en-IN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084576" y="1487424"/>
            <a:ext cx="6583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096768" y="1804416"/>
            <a:ext cx="652272" cy="60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084576" y="2206752"/>
            <a:ext cx="646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260592" y="1773936"/>
            <a:ext cx="652272" cy="60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67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62788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b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Example:</a:t>
                </a:r>
                <a:r>
                  <a:rPr lang="en-IN" sz="2400" dirty="0" smtClean="0">
                    <a:solidFill>
                      <a:srgbClr val="002060"/>
                    </a:solidFill>
                  </a:rPr>
                  <a:t>  </a:t>
                </a:r>
                <a:r>
                  <a:rPr lang="en-IN" sz="24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</a:t>
                </a:r>
                <a:r>
                  <a:rPr lang="en-IN" sz="2400" u="sng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Reddy </a:t>
                </a:r>
                <a:r>
                  <a:rPr lang="en-IN" sz="2400" u="sng" dirty="0" err="1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Mikks</a:t>
                </a:r>
                <a:r>
                  <a:rPr lang="en-IN" sz="2400" u="sng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Model</a:t>
                </a:r>
              </a:p>
              <a:p>
                <a:pPr marL="0" indent="0">
                  <a:buNone/>
                </a:pPr>
                <a:endParaRPr lang="en-IN" sz="2400" b="1" u="sng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Consider M</a:t>
                </a:r>
                <a:r>
                  <a:rPr lang="en-IN" sz="18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</a:p>
              <a:p>
                <a:pPr marL="0" indent="0">
                  <a:buNone/>
                </a:pPr>
                <a:endParaRPr lang="en-IN" sz="18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1800" b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=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𝒄𝒉𝒂𝒏𝒈𝒆</m:t>
                        </m:r>
                        <m: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𝒇𝒓𝒐𝒎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𝒕𝒐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𝑮</m:t>
                        </m:r>
                      </m:num>
                      <m:den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𝟑𝟔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IN" sz="1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1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</m:t>
                    </m:r>
                    <m:r>
                      <m:rPr>
                        <m:nor/>
                      </m:rPr>
                      <a:rPr lang="en-IN" sz="1800" b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1</m:t>
                    </m:r>
                    <m:r>
                      <a:rPr lang="en-IN" sz="1800" b="1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en-IN" sz="1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1800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    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IN" sz="1800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num>
                          <m:den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𝟑𝟔</m:t>
                            </m:r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IN" sz="1800" b="1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𝟐𝟎</m:t>
                            </m:r>
                          </m:den>
                        </m:f>
                      </m:e>
                    </m:box>
                  </m:oMath>
                </a14:m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= 0.75  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(thousand dollars per ton of M</a:t>
                </a:r>
                <a:r>
                  <a:rPr lang="en-IN" sz="18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</a:t>
                </a:r>
              </a:p>
              <a:p>
                <a:pPr marL="0" indent="0">
                  <a:buNone/>
                </a:pP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Extra 1 ton of M</a:t>
                </a:r>
                <a:r>
                  <a:rPr lang="en-IN" sz="1800" b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will increase the profit by $750 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 within the range </a:t>
                </a:r>
                <a14:m>
                  <m:oMath xmlns:m="http://schemas.openxmlformats.org/officeDocument/2006/math">
                    <m:r>
                      <a:rPr lang="en-IN" sz="1800" b="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</m:t>
                    </m:r>
                    <m:r>
                      <m:rPr>
                        <m:nor/>
                      </m:rPr>
                      <a:rPr lang="en-IN" sz="1800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1</m:t>
                    </m:r>
                    <m:r>
                      <a:rPr lang="en-IN" sz="18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)</a:t>
                </a:r>
              </a:p>
              <a:p>
                <a:pPr marL="0" indent="0">
                  <a:buNone/>
                </a:pPr>
                <a:endParaRPr lang="en-IN" sz="18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Consider </a:t>
                </a:r>
                <a:r>
                  <a:rPr lang="en-IN" sz="18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r>
                  <a:rPr lang="en-IN" sz="18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18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</a:t>
                </a: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𝒄𝒉𝒂𝒏𝒈𝒆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𝒇𝒓𝒐𝒎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𝒕𝒐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𝑯</m:t>
                        </m:r>
                      </m:num>
                      <m:den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8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I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=     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IN" sz="18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IN" sz="18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𝟔𝟒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IN" sz="18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𝟐𝟎</m:t>
                            </m:r>
                          </m:num>
                          <m:den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IN" sz="18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IN" sz="18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box>
                  </m:oMath>
                </a14:m>
                <a:r>
                  <a:rPr lang="en-IN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= </a:t>
                </a: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0.5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6278880"/>
              </a:xfrm>
              <a:blipFill>
                <a:blip r:embed="rId2"/>
                <a:stretch>
                  <a:fillRect l="-986" t="-14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15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255521"/>
                <a:ext cx="5181600" cy="2206752"/>
              </a:xfrm>
            </p:spPr>
            <p:txBody>
              <a:bodyPr>
                <a:normAutofit/>
              </a:bodyPr>
              <a:lstStyle/>
              <a:p>
                <a:r>
                  <a:rPr lang="en-IN" sz="18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</a:t>
                </a:r>
                <a:r>
                  <a:rPr lang="en-IN" sz="1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1……m</a:t>
                </a:r>
                <a:endParaRPr lang="en-IN" sz="1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j = 1……..n</a:t>
                </a:r>
              </a:p>
              <a:p>
                <a:pPr marL="0" indent="0">
                  <a:buNone/>
                </a:pP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255521"/>
                <a:ext cx="5181600" cy="2206752"/>
              </a:xfrm>
              <a:blipFill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2084833"/>
                <a:ext cx="5181600" cy="203606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sz="1800" b="1" i="1" u="sng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</a:t>
                </a:r>
              </a:p>
              <a:p>
                <a:r>
                  <a:rPr lang="en-IN" sz="18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</a:t>
                </a:r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sz="18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  <m:r>
                      <a:rPr lang="en-I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</m:oMath>
                </a14:m>
                <a:r>
                  <a:rPr lang="en-IN" sz="18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1……n</a:t>
                </a:r>
                <a:endParaRPr lang="en-IN" sz="18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i = 1……..m</a:t>
                </a: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2084833"/>
                <a:ext cx="5181600" cy="2036064"/>
              </a:xfrm>
              <a:blipFill>
                <a:blip r:embed="rId3"/>
                <a:stretch>
                  <a:fillRect l="-1059" t="-4491" b="-2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792224" y="597408"/>
            <a:ext cx="890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Interpretation of Duality</a:t>
            </a:r>
            <a:endParaRPr lang="en-IN" sz="2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52928" y="4998720"/>
                <a:ext cx="59009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Z = W   Strong Duality</a:t>
                </a:r>
              </a:p>
              <a:p>
                <a:pPr algn="ctr"/>
                <a:endParaRPr lang="en-IN" sz="20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Weak duality</a:t>
                </a: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928" y="4998720"/>
                <a:ext cx="5900928" cy="1015663"/>
              </a:xfrm>
              <a:prstGeom prst="rect">
                <a:avLst/>
              </a:prstGeom>
              <a:blipFill>
                <a:blip r:embed="rId4"/>
                <a:stretch>
                  <a:fillRect t="-3593" b="-125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65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 smtClean="0"/>
                  <a:t>           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2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/>
                  <a:t>                                   </a:t>
                </a:r>
                <a:r>
                  <a:rPr lang="en-IN" dirty="0" smtClean="0">
                    <a:solidFill>
                      <a:srgbClr val="FF0000"/>
                    </a:solidFill>
                  </a:rPr>
                  <a:t>$profit  </a:t>
                </a:r>
                <a:r>
                  <a:rPr lang="en-IN" dirty="0" smtClean="0"/>
                  <a:t>= </a:t>
                </a:r>
                <a:r>
                  <a:rPr lang="en-IN" dirty="0" smtClean="0">
                    <a:solidFill>
                      <a:srgbClr val="FF0000"/>
                    </a:solidFill>
                  </a:rPr>
                  <a:t>units of resource </a:t>
                </a:r>
                <a:r>
                  <a:rPr lang="en-IN" dirty="0" smtClean="0"/>
                  <a:t>x </a:t>
                </a:r>
                <a:r>
                  <a:rPr lang="en-IN" dirty="0" smtClean="0">
                    <a:solidFill>
                      <a:srgbClr val="7030A0"/>
                    </a:solidFill>
                  </a:rPr>
                  <a:t>$ per unit</a:t>
                </a:r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7030A0"/>
                    </a:solidFill>
                  </a:rPr>
                  <a:t> </a:t>
                </a:r>
                <a:r>
                  <a:rPr lang="en-IN" dirty="0" smtClean="0">
                    <a:solidFill>
                      <a:srgbClr val="7030A0"/>
                    </a:solidFill>
                  </a:rPr>
                  <a:t>                                                                                   (worth)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dirty="0">
                    <a:solidFill>
                      <a:srgbClr val="7030A0"/>
                    </a:solidFill>
                  </a:rPr>
                  <a:t> </a:t>
                </a:r>
                <a:r>
                  <a:rPr lang="en-IN" dirty="0" smtClean="0">
                    <a:solidFill>
                      <a:srgbClr val="7030A0"/>
                    </a:solidFill>
                  </a:rPr>
                  <a:t>                                                                                   </a:t>
                </a:r>
                <a:r>
                  <a:rPr lang="en-IN" sz="2400" dirty="0" smtClean="0">
                    <a:solidFill>
                      <a:srgbClr val="7030A0"/>
                    </a:solidFill>
                  </a:rPr>
                  <a:t>Shadow price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 dirty="0">
                    <a:solidFill>
                      <a:srgbClr val="7030A0"/>
                    </a:solidFill>
                  </a:rPr>
                  <a:t> </a:t>
                </a:r>
                <a:r>
                  <a:rPr lang="en-IN" sz="2400" dirty="0" smtClean="0">
                    <a:solidFill>
                      <a:srgbClr val="7030A0"/>
                    </a:solidFill>
                  </a:rPr>
                  <a:t>                                                                                                  Dual price</a:t>
                </a:r>
              </a:p>
              <a:p>
                <a:pPr>
                  <a:spcBef>
                    <a:spcPts val="0"/>
                  </a:spcBef>
                </a:pPr>
                <a:r>
                  <a:rPr lang="en-IN" sz="2400" b="1" dirty="0" smtClean="0">
                    <a:solidFill>
                      <a:srgbClr val="FF0000"/>
                    </a:solidFill>
                  </a:rPr>
                  <a:t>Z &lt; W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 dirty="0" smtClean="0">
                    <a:solidFill>
                      <a:srgbClr val="7030A0"/>
                    </a:solidFill>
                  </a:rPr>
                  <a:t>   profit &lt; worth of resources</a:t>
                </a: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rgbClr val="7030A0"/>
                    </a:solidFill>
                  </a:rPr>
                  <a:t> </a:t>
                </a:r>
                <a:r>
                  <a:rPr lang="en-IN" sz="2400" dirty="0" smtClean="0">
                    <a:solidFill>
                      <a:srgbClr val="7030A0"/>
                    </a:solidFill>
                  </a:rPr>
                  <a:t>               </a:t>
                </a:r>
                <a:r>
                  <a:rPr lang="en-IN" sz="2400" u="sng" dirty="0" smtClean="0">
                    <a:solidFill>
                      <a:srgbClr val="7030A0"/>
                    </a:solidFill>
                  </a:rPr>
                  <a:t>unstable system</a:t>
                </a:r>
                <a:r>
                  <a:rPr lang="en-IN" sz="2400" dirty="0" smtClean="0">
                    <a:solidFill>
                      <a:srgbClr val="7030A0"/>
                    </a:solidFill>
                  </a:rPr>
                  <a:t>        input exceeds output</a:t>
                </a:r>
              </a:p>
              <a:p>
                <a:pPr marL="0" indent="0">
                  <a:buNone/>
                </a:pPr>
                <a:endParaRPr lang="en-IN" sz="2400" dirty="0" smtClean="0">
                  <a:solidFill>
                    <a:srgbClr val="7030A0"/>
                  </a:solidFill>
                </a:endParaRPr>
              </a:p>
              <a:p>
                <a:r>
                  <a:rPr lang="en-IN" sz="2400" b="1" dirty="0" smtClean="0">
                    <a:solidFill>
                      <a:srgbClr val="FF0000"/>
                    </a:solidFill>
                  </a:rPr>
                  <a:t>Z = W</a:t>
                </a:r>
              </a:p>
              <a:p>
                <a:pPr marL="0" indent="0">
                  <a:buNone/>
                </a:pPr>
                <a:r>
                  <a:rPr lang="en-IN" sz="2400" dirty="0" smtClean="0">
                    <a:solidFill>
                      <a:srgbClr val="7030A0"/>
                    </a:solidFill>
                  </a:rPr>
                  <a:t>   profit = worth of resources</a:t>
                </a: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rgbClr val="7030A0"/>
                    </a:solidFill>
                  </a:rPr>
                  <a:t> </a:t>
                </a:r>
                <a:r>
                  <a:rPr lang="en-IN" sz="2400" dirty="0" smtClean="0">
                    <a:solidFill>
                      <a:srgbClr val="7030A0"/>
                    </a:solidFill>
                  </a:rPr>
                  <a:t>              </a:t>
                </a:r>
                <a:r>
                  <a:rPr lang="en-IN" sz="2400" u="sng" dirty="0" smtClean="0">
                    <a:solidFill>
                      <a:srgbClr val="7030A0"/>
                    </a:solidFill>
                  </a:rPr>
                  <a:t>stable system          </a:t>
                </a:r>
                <a:endParaRPr lang="en-IN" sz="2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224"/>
                <a:ext cx="10515600" cy="5908739"/>
              </a:xfrm>
              <a:blipFill>
                <a:blip r:embed="rId2"/>
                <a:stretch>
                  <a:fillRect l="-812" t="-1032" b="-13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6144768" y="768096"/>
            <a:ext cx="0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4553712" y="822960"/>
            <a:ext cx="0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>
            <a:off x="7997952" y="2499360"/>
            <a:ext cx="289559" cy="5242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218432" y="4108704"/>
            <a:ext cx="3779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18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43128" y="326009"/>
                <a:ext cx="5181600" cy="32828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Z</a:t>
                </a:r>
                <a:r>
                  <a:rPr lang="en-IN" sz="2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</a:t>
                </a:r>
                <a:r>
                  <a:rPr lang="en-IN" sz="20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+ 4x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2000" i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s.t.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6x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+ 4x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≤24</m:t>
                    </m:r>
                  </m:oMath>
                </a14:m>
                <a:endParaRPr lang="en-IN" sz="2000" i="1" baseline="-25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-x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IN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2</a:t>
                </a:r>
              </a:p>
              <a:p>
                <a:pPr marL="0" indent="0">
                  <a:buNone/>
                </a:pP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1,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x</a:t>
                </a:r>
                <a:r>
                  <a:rPr lang="en-IN" sz="2000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IN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IN" sz="2000" i="1" dirty="0" smtClean="0"/>
              </a:p>
              <a:p>
                <a:pPr marL="0" indent="0">
                  <a:buNone/>
                </a:pP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3  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1.5   Z =21</a:t>
                </a:r>
                <a:endParaRPr lang="en-IN" sz="2000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3128" y="326009"/>
                <a:ext cx="5181600" cy="3282823"/>
              </a:xfrm>
              <a:blipFill>
                <a:blip r:embed="rId2"/>
                <a:stretch>
                  <a:fillRect l="-1412" t="-2041" b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77128" y="313817"/>
                <a:ext cx="5181600" cy="33193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=      24y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+ 6y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IN" sz="2000" b="1" i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b="1" i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endParaRPr lang="en-IN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             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y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+</m:t>
                    </m:r>
                    <m:r>
                      <m:rPr>
                        <m:nor/>
                      </m:rPr>
                      <a:rPr lang="en-IN" sz="2000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IN" sz="2000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IN" sz="20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b="1" i="1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endParaRPr lang="en-IN" sz="2000" b="1" i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0.75   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    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y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 W = 21</a:t>
                </a:r>
                <a:endParaRPr lang="en-I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77128" y="313817"/>
                <a:ext cx="5181600" cy="3319399"/>
              </a:xfrm>
              <a:blipFill>
                <a:blip r:embed="rId3"/>
                <a:stretch>
                  <a:fillRect l="-1412" t="-2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8096" y="3828288"/>
                <a:ext cx="1103376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0.75      </a:t>
                </a:r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</m:t>
                    </m:r>
                    <m:r>
                      <m:rPr>
                        <m:nor/>
                      </m:rPr>
                      <a:rPr lang="en-IN" b="1" i="1" baseline="-250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1</m:t>
                    </m:r>
                    <m:r>
                      <a:rPr lang="en-IN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en-IN" b="1" i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                                                               </a:t>
                </a:r>
                <a:r>
                  <a:rPr lang="en-IN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only applicable in these feasible range</a:t>
                </a:r>
              </a:p>
              <a:p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         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IN" sz="16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1600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1600" b="1" i="1" dirty="0">
                        <a:solidFill>
                          <a:srgbClr val="002060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en-IN" sz="1600" b="1" i="1" baseline="-25000" dirty="0">
                        <a:solidFill>
                          <a:srgbClr val="002060"/>
                        </a:solidFill>
                      </a:rPr>
                      <m:t>2</m:t>
                    </m:r>
                    <m:r>
                      <a:rPr lang="en-IN" sz="1600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6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IN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IN" sz="1600" i="1" dirty="0">
                  <a:solidFill>
                    <a:srgbClr val="002060"/>
                  </a:solidFill>
                </a:endParaRPr>
              </a:p>
              <a:p>
                <a:endParaRPr lang="en-IN" b="1" i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b="1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increased by 12 units resulting in the profit by 12 X $750 = $ 9000</a:t>
                </a:r>
              </a:p>
              <a:p>
                <a:endParaRPr lang="en-IN" b="1" i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y</a:t>
                </a:r>
                <a:r>
                  <a:rPr lang="en-IN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IN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      their associated resources are abundant </a:t>
                </a:r>
              </a:p>
              <a:p>
                <a:endParaRPr lang="en-IN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:r>
                  <a:rPr lang="en-IN" dirty="0" smtClean="0">
                    <a:solidFill>
                      <a:srgbClr val="002060"/>
                    </a:solidFill>
                  </a:rPr>
                  <a:t>                                     </a:t>
                </a:r>
                <a:r>
                  <a:rPr lang="en-IN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worth per unit is zero</a:t>
                </a:r>
                <a:endParaRPr lang="en-IN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828288"/>
                <a:ext cx="11033760" cy="2585323"/>
              </a:xfrm>
              <a:prstGeom prst="rect">
                <a:avLst/>
              </a:prstGeom>
              <a:blipFill>
                <a:blip r:embed="rId4"/>
                <a:stretch>
                  <a:fillRect l="-497" t="-1415"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6986016" y="5791200"/>
            <a:ext cx="329184" cy="3901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interpretation of Dual constraint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IN" sz="1800" i="1" dirty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 dirty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 dirty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  <m:r>
                      <a:rPr lang="en-IN" sz="180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8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IN" sz="1800" i="1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600" i="1" dirty="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sz="1600" dirty="0" smtClean="0">
                    <a:solidFill>
                      <a:schemeClr val="tx1"/>
                    </a:solidFill>
                    <a:effectLst/>
                  </a:rPr>
                  <a:t> - rate of consumption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600" dirty="0">
                    <a:effectLst/>
                  </a:rPr>
                  <a:t> </a:t>
                </a:r>
                <a:r>
                  <a:rPr lang="en-IN" sz="1600" dirty="0" smtClean="0">
                    <a:effectLst/>
                  </a:rPr>
                  <a:t>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IN" sz="16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 dirty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600" dirty="0" smtClean="0">
                    <a:solidFill>
                      <a:schemeClr val="tx1"/>
                    </a:solidFill>
                    <a:effectLst/>
                  </a:rPr>
                  <a:t> - worth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chemeClr val="tx1"/>
                    </a:solidFill>
                    <a:effectLst/>
                  </a:rPr>
                  <a:t>Total worth of resources being consumed to produce one activity ‘j’ = </a:t>
                </a:r>
                <a:r>
                  <a:rPr lang="en-IN" sz="1800" b="1" dirty="0" smtClean="0">
                    <a:solidFill>
                      <a:srgbClr val="FF0000"/>
                    </a:solidFill>
                    <a:effectLst/>
                  </a:rPr>
                  <a:t>Imputed cost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r>
                  <a:rPr lang="en-IN" sz="1800" dirty="0" smtClean="0">
                    <a:solidFill>
                      <a:schemeClr val="tx1"/>
                    </a:solidFill>
                    <a:effectLst/>
                  </a:rPr>
                  <a:t>    </a:t>
                </a:r>
                <a:r>
                  <a:rPr lang="en-IN" sz="1800" b="1" u="sng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</a:t>
                </a:r>
                <a:r>
                  <a:rPr lang="en-IN" sz="1800" b="1" baseline="-25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– </a:t>
                </a:r>
                <a:r>
                  <a:rPr lang="en-IN" sz="1800" b="1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  <a:r>
                  <a:rPr lang="en-IN" sz="1800" b="1" baseline="-25000" dirty="0" err="1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IN" sz="18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&lt; 0</a:t>
                </a:r>
              </a:p>
              <a:p>
                <a:pPr marL="0" indent="0">
                  <a:buNone/>
                </a:pPr>
                <a:endParaRPr lang="en-IN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16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contribution to profit by the use of mix of  resources</a:t>
                </a:r>
              </a:p>
              <a:p>
                <a:pPr marL="0" indent="0" algn="just">
                  <a:buNone/>
                </a:pPr>
                <a:endParaRPr lang="en-IN" sz="16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/>
                <a:r>
                  <a:rPr lang="en-IN" sz="1600" b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</a:t>
                </a:r>
                <a:r>
                  <a:rPr lang="en-IN" sz="1600" b="1" baseline="-250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– </a:t>
                </a:r>
                <a:r>
                  <a:rPr lang="en-IN" sz="1600" b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  <a:r>
                  <a:rPr lang="en-IN" sz="1600" b="1" baseline="-250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I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&gt; 0</a:t>
                </a:r>
              </a:p>
              <a:p>
                <a:pPr marL="0" indent="0" algn="ctr">
                  <a:buNone/>
                </a:pPr>
                <a:r>
                  <a:rPr lang="en-IN" sz="16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The activity j is already been assigned profitably</a:t>
                </a:r>
                <a:endParaRPr lang="en-IN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/>
                <a:endParaRPr lang="en-IN" sz="16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Revised Simplex</a:t>
            </a: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</a:t>
            </a:r>
            <a:r>
              <a:rPr lang="en-I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c</a:t>
            </a:r>
          </a:p>
          <a:p>
            <a:pPr marL="0" indent="0">
              <a:buNone/>
            </a:pP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I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en-IN" sz="2000" b="1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IN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IN" sz="2000" b="1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en-IN" sz="2000" b="1" dirty="0" smtClean="0">
                <a:solidFill>
                  <a:srgbClr val="FF0000"/>
                </a:solidFill>
              </a:rPr>
              <a:t>Reduced cost</a:t>
            </a:r>
          </a:p>
          <a:p>
            <a:pPr marL="0" indent="0">
              <a:buNone/>
            </a:pPr>
            <a:endParaRPr lang="en-IN" sz="2000" b="1" dirty="0" smtClean="0">
              <a:solidFill>
                <a:srgbClr val="FF0000"/>
              </a:solidFill>
            </a:endParaRPr>
          </a:p>
          <a:p>
            <a:r>
              <a:rPr lang="en-I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en-IN" sz="2000" b="1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</a:t>
            </a:r>
            <a:r>
              <a:rPr lang="en-IN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IN" sz="2000" b="1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imputed cost &lt; profit</a:t>
            </a:r>
          </a:p>
          <a:p>
            <a:pPr marL="0" indent="0" algn="ctr">
              <a:buNone/>
            </a:pPr>
            <a:r>
              <a:rPr lang="en-IN" sz="2000" dirty="0" smtClean="0"/>
              <a:t>The activity j can be initiated to make more profit</a:t>
            </a:r>
          </a:p>
          <a:p>
            <a:pPr marL="0" indent="0" algn="just">
              <a:buNone/>
            </a:pPr>
            <a:endParaRPr lang="en-IN" sz="2000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499616" y="4194048"/>
            <a:ext cx="12192" cy="414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754112" y="3230880"/>
            <a:ext cx="3779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98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68224"/>
            <a:ext cx="10988040" cy="6388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IN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I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2000" dirty="0"/>
          </a:p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endParaRPr lang="en-IN" sz="2000" i="1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362785"/>
              </p:ext>
            </p:extLst>
          </p:nvPr>
        </p:nvGraphicFramePr>
        <p:xfrm>
          <a:off x="2263648" y="366098"/>
          <a:ext cx="8128000" cy="2682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15488690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891893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800593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185418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65953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TOYCO.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Trains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Trucks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Cars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Daily availabilities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60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(in minutes)</a:t>
                      </a:r>
                      <a:endParaRPr lang="en-IN" sz="2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125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Op1 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430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5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Op2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460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33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Op3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420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30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Profits ($)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4171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0288" y="3864864"/>
                <a:ext cx="4230624" cy="19629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2000" b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Z</a:t>
                </a:r>
                <a:r>
                  <a:rPr lang="en-IN" sz="20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5x</a:t>
                </a:r>
                <a:r>
                  <a:rPr lang="en-IN" sz="2000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  <a:p>
                <a:endParaRPr lang="en-IN" sz="2000" b="1" i="1" baseline="-25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:r>
                  <a:rPr lang="en-IN" sz="2000" b="1" i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s.t.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𝟒𝟑𝟎</m:t>
                    </m:r>
                  </m:oMath>
                </a14:m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</a:t>
                </a:r>
              </a:p>
              <a:p>
                <a:pPr algn="ctr"/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3x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𝟒𝟔𝟎</m:t>
                    </m:r>
                  </m:oMath>
                </a14:m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algn="ctr"/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+ 4x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𝟒𝟐𝟎</m:t>
                    </m:r>
                  </m:oMath>
                </a14:m>
                <a:endParaRPr lang="en-IN" sz="2000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:r>
                  <a:rPr lang="en-IN" sz="2000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</a:t>
                </a:r>
                <a:r>
                  <a:rPr lang="en-IN" sz="2000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sz="2000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8" y="3864864"/>
                <a:ext cx="4230624" cy="1962912"/>
              </a:xfrm>
              <a:prstGeom prst="rect">
                <a:avLst/>
              </a:prstGeom>
              <a:blipFill>
                <a:blip r:embed="rId2"/>
                <a:stretch>
                  <a:fillRect l="-1437" t="-4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6376416" y="3779520"/>
                <a:ext cx="4376928" cy="204825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=      430y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460y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420y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IN" b="1" i="1" baseline="30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i="1" dirty="0" err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pPr algn="ctr"/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           </a:t>
                </a:r>
                <a:endParaRPr lang="en-IN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y</a:t>
                </a:r>
                <a:r>
                  <a:rPr lang="en-IN" b="1" i="1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IN" b="1" i="1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  </m:t>
                    </m:r>
                  </m:oMath>
                </a14:m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IN" b="1" i="1" baseline="-2500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  </m:t>
                    </m:r>
                  </m:oMath>
                </a14:m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IN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y</a:t>
                </a:r>
                <a:r>
                  <a:rPr lang="en-IN" b="1" i="1" baseline="-25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b="1" i="1" baseline="30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b="1" i="1" baseline="30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endParaRPr lang="en-IN" b="1" i="1" baseline="30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416" y="3779520"/>
                <a:ext cx="4376928" cy="2048256"/>
              </a:xfrm>
              <a:prstGeom prst="roundRect">
                <a:avLst/>
              </a:prstGeom>
              <a:blipFill>
                <a:blip r:embed="rId3"/>
                <a:stretch>
                  <a:fillRect t="-592" b="-4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14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62301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Suppose TOYCO wants to produce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ToyTrains</a:t>
            </a:r>
            <a:endParaRPr lang="en-IN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               Z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c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        decrease   increase</a:t>
            </a:r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+ 3y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marL="0" indent="0">
              <a:buNone/>
            </a:pPr>
            <a:r>
              <a:rPr lang="en-IN" sz="1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18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(1 - r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(1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r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3y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(</a:t>
            </a: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r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y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3</a:t>
            </a:r>
          </a:p>
          <a:p>
            <a:pPr marL="0" indent="0">
              <a:buNone/>
            </a:pPr>
            <a:endParaRPr lang="en-IN" sz="1800" baseline="-25000" dirty="0"/>
          </a:p>
          <a:p>
            <a:pPr marL="0" indent="0">
              <a:buNone/>
            </a:pPr>
            <a:r>
              <a:rPr lang="en-IN" sz="1800" dirty="0" smtClean="0"/>
              <a:t>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+ 6r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4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r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0.5   fails</a:t>
            </a: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1377696" y="1048512"/>
            <a:ext cx="3840480" cy="1304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 smtClean="0">
                <a:solidFill>
                  <a:schemeClr val="tx1"/>
                </a:solidFill>
              </a:rPr>
              <a:t>Optimal Solution:</a:t>
            </a:r>
          </a:p>
          <a:p>
            <a:pPr algn="ctr"/>
            <a:endParaRPr lang="en-IN" dirty="0" smtClean="0"/>
          </a:p>
          <a:p>
            <a:pPr algn="ctr"/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0, x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100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x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230</a:t>
            </a: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$1350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388608" y="1024128"/>
            <a:ext cx="3834384" cy="1292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Dual Solution</a:t>
            </a:r>
          </a:p>
          <a:p>
            <a:pPr algn="ctr"/>
            <a:endParaRPr lang="en-IN" b="1" i="1" u="sng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 y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2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 = $1350</a:t>
            </a:r>
            <a:endParaRPr lang="en-IN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681472" y="3474720"/>
            <a:ext cx="0" cy="2194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254496" y="3547872"/>
            <a:ext cx="195072" cy="975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09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224"/>
            <a:ext cx="10515600" cy="6400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</a:t>
            </a: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Dual Simplex Method</a:t>
            </a:r>
          </a:p>
          <a:p>
            <a:pPr marL="0" indent="0" algn="ctr">
              <a:buNone/>
            </a:pP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</a:t>
            </a:r>
            <a:r>
              <a:rPr lang="en-IN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 feasible (Dual Simplex)</a:t>
            </a:r>
            <a:endParaRPr lang="en-I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 feasible (simplex)</a:t>
            </a:r>
            <a:endParaRPr lang="en-I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2206752" y="1694688"/>
            <a:ext cx="3560064" cy="121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242816" y="743712"/>
            <a:ext cx="0" cy="95097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633216" y="1719072"/>
            <a:ext cx="0" cy="865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14272" y="2743200"/>
            <a:ext cx="3060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entering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the leaving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Stopping condition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27904" y="1962912"/>
            <a:ext cx="5669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dual simplex method ?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many artificial variables are needed to construct a primal feasible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Fewer iterations may be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Sensitivity analysis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16736" y="3767328"/>
            <a:ext cx="9619488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with a dual feasible solution (</a:t>
            </a:r>
            <a:r>
              <a:rPr lang="en-IN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</a:t>
            </a: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(0) non-negative, but RHS negative)</a:t>
            </a:r>
          </a:p>
          <a:p>
            <a:pPr algn="ctr"/>
            <a:endParaRPr lang="en-IN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 the objective value while retaining dual feasibility (</a:t>
            </a:r>
            <a:r>
              <a:rPr lang="en-IN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</a:t>
            </a: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(0) &gt; 0)</a:t>
            </a:r>
          </a:p>
          <a:p>
            <a:pPr algn="ctr"/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Stop when RHS is non-negative (Primal feasible)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5538217" y="4096512"/>
            <a:ext cx="240791" cy="280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5559552" y="4657344"/>
            <a:ext cx="243840" cy="3169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938528" y="5437632"/>
            <a:ext cx="8229600" cy="9265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 Simplex</a:t>
            </a:r>
            <a:r>
              <a:rPr lang="en-IN" b="1" dirty="0" smtClean="0">
                <a:solidFill>
                  <a:srgbClr val="002060"/>
                </a:solidFill>
              </a:rPr>
              <a:t>: </a:t>
            </a: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with infeasibility and seek feasibility</a:t>
            </a:r>
          </a:p>
          <a:p>
            <a:pPr algn="just"/>
            <a:r>
              <a:rPr lang="en-IN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 Simplex</a:t>
            </a:r>
            <a:r>
              <a:rPr lang="en-IN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Start with feasibility but non-optimal, seek optimality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535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b="1" u="sng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Example</a:t>
                </a:r>
                <a:r>
                  <a:rPr lang="en-IN" sz="2400" b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                             </a:t>
                </a:r>
                <a:r>
                  <a:rPr lang="en-IN" sz="2400" b="1" dirty="0" err="1" smtClean="0">
                    <a:solidFill>
                      <a:srgbClr val="002060"/>
                    </a:solidFill>
                  </a:rPr>
                  <a:t>Wynder</a:t>
                </a:r>
                <a:r>
                  <a:rPr lang="en-IN" sz="2400" b="1" dirty="0" smtClean="0">
                    <a:solidFill>
                      <a:srgbClr val="002060"/>
                    </a:solidFill>
                  </a:rPr>
                  <a:t> Glass Co.</a:t>
                </a:r>
              </a:p>
              <a:p>
                <a:pPr marL="0" indent="0">
                  <a:buNone/>
                </a:pPr>
                <a:endParaRPr lang="en-IN" sz="2400" b="1" dirty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000" b="1" dirty="0" smtClean="0">
                    <a:solidFill>
                      <a:srgbClr val="002060"/>
                    </a:solidFill>
                  </a:rPr>
                  <a:t>Max Z = -4y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1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– 12y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2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– 18y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3</a:t>
                </a:r>
                <a:endParaRPr lang="en-IN" sz="2000" b="1" dirty="0" smtClean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000" b="1" dirty="0" err="1" smtClean="0">
                    <a:solidFill>
                      <a:srgbClr val="002060"/>
                    </a:solidFill>
                  </a:rPr>
                  <a:t>s.t.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     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1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+ 3y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3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IN" sz="2000" b="1" dirty="0" smtClean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000" b="1" dirty="0" smtClean="0">
                    <a:solidFill>
                      <a:srgbClr val="002060"/>
                    </a:solidFill>
                  </a:rPr>
                  <a:t>            2y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2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+2y</a:t>
                </a:r>
                <a:r>
                  <a:rPr lang="en-IN" sz="2000" b="1" baseline="-25000" dirty="0" smtClean="0">
                    <a:solidFill>
                      <a:srgbClr val="002060"/>
                    </a:solidFill>
                  </a:rPr>
                  <a:t>3</a:t>
                </a:r>
                <a:r>
                  <a:rPr lang="en-IN" sz="20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sz="2000" b="1" dirty="0" smtClean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y</a:t>
                </a:r>
                <a:r>
                  <a:rPr lang="en-IN" sz="2000" b="1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y</a:t>
                </a:r>
                <a:r>
                  <a:rPr lang="en-IN" sz="2000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y</a:t>
                </a:r>
                <a:r>
                  <a:rPr lang="en-IN" sz="2000" b="1" i="1" baseline="-25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b="1" i="1" baseline="30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b="1" i="1" baseline="300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endParaRPr lang="en-IN" sz="2000" b="1" i="1" baseline="300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b="1" dirty="0" smtClean="0">
                  <a:solidFill>
                    <a:srgbClr val="002060"/>
                  </a:solidFill>
                </a:endParaRPr>
              </a:p>
              <a:p>
                <a:pPr marL="0" indent="0" algn="just">
                  <a:buNone/>
                </a:pPr>
                <a:endParaRPr lang="en-IN" sz="2000" b="1" dirty="0" smtClean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endParaRPr lang="en-IN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986" t="-15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73353"/>
              </p:ext>
            </p:extLst>
          </p:nvPr>
        </p:nvGraphicFramePr>
        <p:xfrm>
          <a:off x="1715008" y="3060530"/>
          <a:ext cx="8128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83708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RHS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IN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12/2</a:t>
                      </a:r>
                      <a:r>
                        <a:rPr lang="en-IN" b="0" baseline="0" dirty="0" smtClean="0"/>
                        <a:t> = 6</a:t>
                      </a:r>
                    </a:p>
                    <a:p>
                      <a:pPr algn="ctr"/>
                      <a:r>
                        <a:rPr lang="en-IN" b="1" baseline="0" dirty="0" smtClean="0"/>
                        <a:t>(min.)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18/2 = 9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1152939" y="4439478"/>
            <a:ext cx="4108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194852" y="2623930"/>
            <a:ext cx="0" cy="424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811619" y="3405807"/>
            <a:ext cx="1961321" cy="3445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0             0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75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61378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002060"/>
                </a:solidFill>
              </a:rPr>
              <a:t>                                                                                                 </a:t>
            </a:r>
            <a:endParaRPr lang="en-IN" sz="20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186439"/>
              </p:ext>
            </p:extLst>
          </p:nvPr>
        </p:nvGraphicFramePr>
        <p:xfrm>
          <a:off x="1317443" y="1019695"/>
          <a:ext cx="8128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83708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RHS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en-IN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5/2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4/1 =4 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6/3 =2</a:t>
                      </a:r>
                    </a:p>
                    <a:p>
                      <a:pPr algn="ctr"/>
                      <a:r>
                        <a:rPr lang="en-IN" b="1" dirty="0" smtClean="0"/>
                        <a:t>(min.)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834886" y="1974574"/>
            <a:ext cx="4108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844209" y="556592"/>
            <a:ext cx="0" cy="424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863492"/>
              </p:ext>
            </p:extLst>
          </p:nvPr>
        </p:nvGraphicFramePr>
        <p:xfrm>
          <a:off x="1324069" y="3332199"/>
          <a:ext cx="8128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83708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RHS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</a:tbl>
          </a:graphicData>
        </a:graphic>
      </p:graphicFrame>
      <p:sp>
        <p:nvSpPr>
          <p:cNvPr id="2" name="Oval 1"/>
          <p:cNvSpPr/>
          <p:nvPr/>
        </p:nvSpPr>
        <p:spPr>
          <a:xfrm>
            <a:off x="6453810" y="3684103"/>
            <a:ext cx="1961321" cy="3445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2             6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394174" y="1384851"/>
            <a:ext cx="1961321" cy="3445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0             6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174" y="531412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Mirror image of Simplex Method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94713" y="5367130"/>
            <a:ext cx="263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</a:t>
            </a: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303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Example</a:t>
                </a:r>
              </a:p>
              <a:p>
                <a:pPr marL="0" indent="0">
                  <a:buNone/>
                </a:pPr>
                <a:r>
                  <a:rPr lang="en-IN" sz="3200" b="1" dirty="0"/>
                  <a:t> </a:t>
                </a:r>
                <a:r>
                  <a:rPr lang="en-IN" sz="3200" b="1" dirty="0" smtClean="0"/>
                  <a:t>          </a:t>
                </a:r>
                <a:r>
                  <a:rPr lang="en-IN" sz="32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Min Z = 3x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–Z </a:t>
                </a:r>
              </a:p>
              <a:p>
                <a:pPr marL="0" indent="0">
                  <a:buNone/>
                </a:pP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-Z +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sz="2400" b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s.t.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en-I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32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x (-1)</a:t>
                </a:r>
                <a:endParaRPr lang="en-IN" sz="2400" b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4x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x (-1)</a:t>
                </a:r>
              </a:p>
              <a:p>
                <a:pPr marL="0" indent="0">
                  <a:buNone/>
                </a:pP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IN" sz="24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 x</a:t>
                </a:r>
                <a:r>
                  <a:rPr lang="en-IN" sz="24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</a:t>
                </a:r>
                <a:endParaRPr lang="en-I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b="1" dirty="0" smtClean="0"/>
              </a:p>
              <a:p>
                <a:pPr marL="0" indent="0">
                  <a:buNone/>
                </a:pPr>
                <a:endParaRPr lang="en-IN" b="1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1275" t="-1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612835" y="1192696"/>
            <a:ext cx="3843130" cy="11661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</a:rPr>
              <a:t>What happens when you have “=” constraints ?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67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8539"/>
            <a:ext cx="10515600" cy="63610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002060"/>
                </a:solidFill>
              </a:rPr>
              <a:t>                                                                                                 </a:t>
            </a:r>
            <a:endParaRPr lang="en-IN" sz="20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924430"/>
              </p:ext>
            </p:extLst>
          </p:nvPr>
        </p:nvGraphicFramePr>
        <p:xfrm>
          <a:off x="1343947" y="754651"/>
          <a:ext cx="7112000" cy="254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-6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 smtClean="0"/>
                        <a:t>¾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2/3</a:t>
                      </a:r>
                    </a:p>
                    <a:p>
                      <a:pPr algn="ctr"/>
                      <a:r>
                        <a:rPr lang="en-IN" b="1" dirty="0" smtClean="0"/>
                        <a:t>(min)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821632" y="4757530"/>
            <a:ext cx="4108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29878" y="371062"/>
            <a:ext cx="0" cy="424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1281"/>
              </p:ext>
            </p:extLst>
          </p:nvPr>
        </p:nvGraphicFramePr>
        <p:xfrm>
          <a:off x="1310817" y="3803373"/>
          <a:ext cx="7112000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217718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-4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-5/3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sz="1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-1/3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2855843" y="3319670"/>
            <a:ext cx="0" cy="424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0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8539"/>
            <a:ext cx="10515600" cy="63610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endParaRPr lang="en-IN" sz="2000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002060"/>
                </a:solidFill>
              </a:rPr>
              <a:t>                                                                                                 </a:t>
            </a:r>
            <a:endParaRPr lang="en-IN" sz="20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728107"/>
              </p:ext>
            </p:extLst>
          </p:nvPr>
        </p:nvGraphicFramePr>
        <p:xfrm>
          <a:off x="1343947" y="754651"/>
          <a:ext cx="7112000" cy="2358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21/5</a:t>
                      </a:r>
                      <a:endParaRPr lang="en-IN" sz="24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-3/5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4/5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6/5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2/5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6/5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3750365" y="3299791"/>
            <a:ext cx="0" cy="28492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80522" y="5844209"/>
            <a:ext cx="4611756" cy="132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73287" y="3551583"/>
            <a:ext cx="1868556" cy="23058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37113" y="4492487"/>
            <a:ext cx="2504661" cy="17492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763617" y="4121426"/>
            <a:ext cx="3326296" cy="1987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05809" y="4280452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25687" y="3889513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82818" y="5870713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00191" y="5850835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65913" y="5870713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87148" y="4472608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187687" y="4505739"/>
            <a:ext cx="159026" cy="1590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346713" y="4585252"/>
            <a:ext cx="212035" cy="2650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505739" y="4731026"/>
            <a:ext cx="225287" cy="2650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658140" y="4797287"/>
            <a:ext cx="245164" cy="3114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810540" y="4903304"/>
            <a:ext cx="251790" cy="3313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976191" y="4996070"/>
            <a:ext cx="245166" cy="3379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128591" y="5088835"/>
            <a:ext cx="225287" cy="3578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294244" y="5194852"/>
            <a:ext cx="205408" cy="364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446644" y="5287617"/>
            <a:ext cx="225286" cy="4240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618922" y="5406887"/>
            <a:ext cx="185530" cy="3710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777949" y="5479774"/>
            <a:ext cx="205408" cy="364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6056243" y="5592418"/>
            <a:ext cx="132522" cy="2385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3591339" y="4876800"/>
            <a:ext cx="0" cy="6891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4340087" y="4658139"/>
            <a:ext cx="159026" cy="1590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339548" y="5844208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41305" y="4883425"/>
            <a:ext cx="2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594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6291072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Primal-Dual Simplex</a:t>
                </a:r>
              </a:p>
              <a:p>
                <a:pPr marL="0" indent="0" algn="ctr">
                  <a:buNone/>
                </a:pPr>
                <a:r>
                  <a:rPr lang="en-IN" sz="2000" b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(When both non-optimal and infeasible)</a:t>
                </a:r>
              </a:p>
              <a:p>
                <a:pPr marL="0" indent="0" algn="ctr">
                  <a:buNone/>
                </a:pPr>
                <a:endParaRPr lang="en-IN" sz="20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  Z = 2x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  <a:p>
                <a:pPr marL="0" indent="0" algn="just">
                  <a:buNone/>
                </a:pPr>
                <a:r>
                  <a:rPr lang="en-IN" sz="2000" b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s.t.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- 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+ 2x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- 2x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-x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IN" sz="20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– 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sz="20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sz="20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endParaRPr lang="en-IN" sz="2000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endParaRPr lang="en-IN" sz="20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6291072"/>
              </a:xfrm>
              <a:blipFill>
                <a:blip r:embed="rId2"/>
                <a:stretch>
                  <a:fillRect l="-696" t="-17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441227" y="3827035"/>
          <a:ext cx="7112000" cy="2292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4681728" y="3364992"/>
            <a:ext cx="0" cy="390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840992" y="4767072"/>
            <a:ext cx="4754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04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33963" y="1254523"/>
          <a:ext cx="7112000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-1/2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 ½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-1/2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½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3/2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-1/2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426720"/>
            <a:ext cx="10515600" cy="5750243"/>
          </a:xfrm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560576" y="633984"/>
            <a:ext cx="3048000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 infeasibility first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91968" y="4096512"/>
            <a:ext cx="659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 </a:t>
            </a: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 simplex </a:t>
            </a: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find the optimal solution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867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ctr"/>
            <a:r>
              <a:rPr lang="en-IN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Post-optimal </a:t>
            </a:r>
            <a:r>
              <a:rPr lang="en-IN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Sensitivity Analysis</a:t>
            </a:r>
            <a:br>
              <a:rPr lang="en-IN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I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8556" y="1510475"/>
            <a:ext cx="5157787" cy="823912"/>
          </a:xfrm>
        </p:spPr>
        <p:txBody>
          <a:bodyPr/>
          <a:lstStyle/>
          <a:p>
            <a:pPr algn="ctr"/>
            <a:r>
              <a:rPr lang="en-IN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 resulting from changes</a:t>
            </a: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78227"/>
            <a:ext cx="5157787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solution remains optimal and feasible</a:t>
            </a:r>
          </a:p>
          <a:p>
            <a:pPr marL="514350" indent="-514350">
              <a:buFont typeface="+mj-lt"/>
              <a:buAutoNum type="arabicPeriod"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solution becomes infeasible</a:t>
            </a:r>
          </a:p>
          <a:p>
            <a:pPr marL="514350" indent="-514350">
              <a:buFont typeface="+mj-lt"/>
              <a:buAutoNum type="arabicPeriod"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solution becomes non-optimal</a:t>
            </a:r>
          </a:p>
          <a:p>
            <a:pPr marL="514350" indent="-514350">
              <a:buFont typeface="+mj-lt"/>
              <a:buAutoNum type="arabicPeriod"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solution becomes non-optimal and infeasible</a:t>
            </a: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0008" y="1792223"/>
            <a:ext cx="5183188" cy="676275"/>
          </a:xfrm>
        </p:spPr>
        <p:txBody>
          <a:bodyPr>
            <a:normAutofit fontScale="25000" lnSpcReduction="20000"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sz="9600" dirty="0" smtClean="0"/>
          </a:p>
          <a:p>
            <a:endParaRPr lang="en-IN" sz="9600" dirty="0"/>
          </a:p>
          <a:p>
            <a:endParaRPr lang="en-IN" sz="9600" dirty="0" smtClean="0"/>
          </a:p>
          <a:p>
            <a:pPr algn="ctr"/>
            <a:r>
              <a:rPr lang="en-IN" sz="9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Recommended </a:t>
            </a:r>
            <a:r>
              <a:rPr lang="en-IN" sz="9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</a:t>
            </a:r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further action</a:t>
            </a:r>
          </a:p>
          <a:p>
            <a:pPr marL="0" indent="0" algn="ctr">
              <a:buNone/>
            </a:pP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 Simplex method</a:t>
            </a:r>
          </a:p>
          <a:p>
            <a:pPr marL="0" indent="0" algn="ctr">
              <a:buNone/>
            </a:pP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 Simplex method</a:t>
            </a:r>
          </a:p>
          <a:p>
            <a:pPr marL="0" indent="0" algn="ctr">
              <a:buNone/>
            </a:pP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Primal-Dual algorithm</a:t>
            </a: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961888" y="5035296"/>
            <a:ext cx="1377696" cy="121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943600" y="4224528"/>
            <a:ext cx="1377696" cy="121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949696" y="3486912"/>
            <a:ext cx="1377696" cy="121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992368" y="2700528"/>
            <a:ext cx="1377696" cy="121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90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89432" y="1229677"/>
                <a:ext cx="5181600" cy="56283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Z =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  <a:p>
                <a:endParaRPr lang="en-IN" sz="2000" b="1" i="1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s.t</a:t>
                </a:r>
                <a:r>
                  <a:rPr lang="en-IN" sz="2000" b="1" i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.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+ 2x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𝟒𝟑𝟎</m:t>
                    </m:r>
                  </m:oMath>
                </a14:m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</a:t>
                </a:r>
                <a:endParaRPr lang="en-IN" sz="20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3x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+ 2x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𝟒𝟔𝟎</m:t>
                    </m:r>
                  </m:oMath>
                </a14:m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+ 4x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𝟒𝟐𝟎</m:t>
                    </m:r>
                  </m:oMath>
                </a14:m>
                <a:endParaRPr lang="en-IN" sz="20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, x</a:t>
                </a:r>
                <a:r>
                  <a:rPr lang="en-IN" sz="20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sz="20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9432" y="1229677"/>
                <a:ext cx="5181600" cy="5628323"/>
              </a:xfrm>
              <a:blipFill>
                <a:blip r:embed="rId2"/>
                <a:stretch>
                  <a:fillRect l="-1412" t="-13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123432" y="1109472"/>
                <a:ext cx="5181600" cy="56283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W =      430y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+ 460y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+ 420y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IN" sz="1800" b="1" i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i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pPr marL="0" indent="0" algn="ctr">
                  <a:buNone/>
                </a:pP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+ 3y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</a:t>
                </a:r>
                <a14:m>
                  <m:oMath xmlns:m="http://schemas.openxmlformats.org/officeDocument/2006/math">
                    <m:r>
                      <a:rPr lang="en-IN" sz="1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            </a:t>
                </a:r>
              </a:p>
              <a:p>
                <a:pPr marL="0" indent="0" algn="ctr">
                  <a:buNone/>
                </a:pP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+ 4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IN" sz="1800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IN" sz="1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  </m:t>
                    </m:r>
                  </m:oMath>
                </a14:m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algn="ctr">
                  <a:buNone/>
                </a:pP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IN" sz="1800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IN" sz="1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  </m:t>
                    </m:r>
                  </m:oMath>
                </a14:m>
                <a:r>
                  <a:rPr lang="en-IN" sz="18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IN" sz="1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 y</a:t>
                </a:r>
                <a:r>
                  <a:rPr lang="en-IN" sz="1800" b="1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b="1" i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1800" b="1" i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 algn="ctr">
                  <a:buNone/>
                </a:pPr>
                <a:endParaRPr lang="en-IN" sz="1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23432" y="1109472"/>
                <a:ext cx="5181600" cy="5628323"/>
              </a:xfrm>
              <a:blipFill>
                <a:blip r:embed="rId3"/>
                <a:stretch>
                  <a:fillRect l="-1176" t="-1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182624" y="4145280"/>
            <a:ext cx="3840480" cy="1304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 smtClean="0">
                <a:solidFill>
                  <a:schemeClr val="tx1"/>
                </a:solidFill>
              </a:rPr>
              <a:t>Optimal Solution:</a:t>
            </a:r>
          </a:p>
          <a:p>
            <a:pPr algn="ctr"/>
            <a:endParaRPr lang="en-IN" dirty="0" smtClean="0"/>
          </a:p>
          <a:p>
            <a:pPr algn="ctr"/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0, x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100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x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230</a:t>
            </a: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$1350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754368" y="4120896"/>
            <a:ext cx="3834384" cy="1292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Dual Solution</a:t>
            </a:r>
          </a:p>
          <a:p>
            <a:pPr algn="ctr"/>
            <a:endParaRPr lang="en-IN" b="1" i="1" u="sng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 y</a:t>
            </a:r>
            <a:r>
              <a:rPr lang="en-IN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2 </a:t>
            </a:r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b="1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algn="ctr"/>
            <a:r>
              <a:rPr lang="en-IN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 = $1350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1231392" y="658368"/>
            <a:ext cx="2877312" cy="341376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TOYCO</a:t>
            </a:r>
            <a:r>
              <a:rPr lang="en-I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Optimal</a:t>
            </a:r>
            <a:endParaRPr lang="en-I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36080" y="627888"/>
            <a:ext cx="2877312" cy="341376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TOYCO</a:t>
            </a:r>
            <a:r>
              <a:rPr lang="en-I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Dual</a:t>
            </a:r>
            <a:endParaRPr lang="en-I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051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dirty="0" smtClean="0"/>
              <a:t>                                                   </a:t>
            </a:r>
            <a:r>
              <a:rPr lang="en-IN" sz="2000" b="1" dirty="0" smtClean="0"/>
              <a:t>450, 460, 400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dirty="0" smtClean="0"/>
              <a:t>                                                             20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 smtClean="0"/>
              <a:t>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450                    110</a:t>
            </a: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x</a:t>
            </a:r>
            <a:r>
              <a:rPr lang="en-IN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=      B</a:t>
            </a:r>
            <a:r>
              <a:rPr lang="en-IN" sz="2000" b="1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460         =         230             infeasible</a:t>
            </a:r>
          </a:p>
          <a:p>
            <a:pPr marL="0" indent="0">
              <a:buNone/>
            </a:pP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x</a:t>
            </a:r>
            <a:r>
              <a:rPr lang="en-IN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400                     -40</a:t>
            </a: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urved Down Arrow 4"/>
          <p:cNvSpPr/>
          <p:nvPr/>
        </p:nvSpPr>
        <p:spPr>
          <a:xfrm rot="10800000">
            <a:off x="4328160" y="1170432"/>
            <a:ext cx="1194816" cy="40233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1182624" y="2023872"/>
            <a:ext cx="499872" cy="11826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2950464" y="1926336"/>
            <a:ext cx="902208" cy="129235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uble Bracket 7"/>
          <p:cNvSpPr/>
          <p:nvPr/>
        </p:nvSpPr>
        <p:spPr>
          <a:xfrm>
            <a:off x="4706112" y="1914144"/>
            <a:ext cx="755904" cy="1255776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148619" y="3900187"/>
          <a:ext cx="7112000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1370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110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230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-40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1389888" y="5596128"/>
            <a:ext cx="62179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120384" y="3377184"/>
            <a:ext cx="0" cy="4267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37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36427" y="937531"/>
          <a:ext cx="7112000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1350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¼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230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52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  <a:ln w="381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affecting feasibility</a:t>
            </a:r>
          </a:p>
          <a:p>
            <a:pPr marL="0" indent="0">
              <a:buNone/>
            </a:pPr>
            <a:endParaRPr lang="en-IN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RHS change: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18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                          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IN" sz="1800" b="1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= matrix associated with the slacks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</a:t>
            </a:r>
            <a:r>
              <a:rPr lang="en-I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</a:t>
            </a:r>
          </a:p>
          <a:p>
            <a:pPr marL="0" indent="0">
              <a:buNone/>
            </a:pP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Daily capacity increased by 40% for each line             602, 644,  588</a:t>
            </a: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½    -1/4     0         602                    140</a:t>
            </a:r>
            <a:endParaRPr lang="en-I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0       ½      0         644         </a:t>
            </a: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  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322 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x</a:t>
            </a:r>
            <a:r>
              <a:rPr lang="en-IN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2       1      1          488                    328</a:t>
            </a:r>
          </a:p>
          <a:p>
            <a:pPr marL="0" indent="0">
              <a:buNone/>
            </a:pP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Feasible, hence also optimal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291840" y="2023872"/>
            <a:ext cx="1706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3401568" y="2084832"/>
            <a:ext cx="12192" cy="4632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uble Bracket 6"/>
          <p:cNvSpPr/>
          <p:nvPr/>
        </p:nvSpPr>
        <p:spPr>
          <a:xfrm>
            <a:off x="1182624" y="3974592"/>
            <a:ext cx="487680" cy="1194816"/>
          </a:xfrm>
          <a:prstGeom prst="bracket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uble Bracket 8"/>
          <p:cNvSpPr/>
          <p:nvPr/>
        </p:nvSpPr>
        <p:spPr>
          <a:xfrm>
            <a:off x="2328672" y="3938016"/>
            <a:ext cx="1597152" cy="1243584"/>
          </a:xfrm>
          <a:prstGeom prst="bracket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uble Bracket 9"/>
          <p:cNvSpPr/>
          <p:nvPr/>
        </p:nvSpPr>
        <p:spPr>
          <a:xfrm>
            <a:off x="4108704" y="3938016"/>
            <a:ext cx="768096" cy="1219200"/>
          </a:xfrm>
          <a:prstGeom prst="bracket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uble Bracket 10"/>
          <p:cNvSpPr/>
          <p:nvPr/>
        </p:nvSpPr>
        <p:spPr>
          <a:xfrm>
            <a:off x="5766816" y="3925824"/>
            <a:ext cx="731520" cy="1219200"/>
          </a:xfrm>
          <a:prstGeom prst="bracket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54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Feasibilty Range of the RHS</a:t>
                </a:r>
              </a:p>
              <a:p>
                <a:pPr marL="0" indent="0">
                  <a:buNone/>
                </a:pPr>
                <a:endParaRPr lang="en-IN" sz="1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430 + D</a:t>
                </a:r>
                <a:r>
                  <a:rPr lang="en-IN" sz="1800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IN" sz="18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460</a:t>
                </a:r>
              </a:p>
              <a:p>
                <a:pPr marL="0" indent="0">
                  <a:buNone/>
                </a:pPr>
                <a:r>
                  <a:rPr lang="en-IN" sz="1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420</a:t>
                </a:r>
              </a:p>
              <a:p>
                <a:pPr marL="0" indent="0">
                  <a:buNone/>
                </a:pPr>
                <a:endParaRPr lang="en-IN" sz="1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dirty="0"/>
                  <a:t> </a:t>
                </a:r>
                <a:r>
                  <a:rPr lang="en-IN" sz="2000" dirty="0" smtClean="0"/>
                  <a:t>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  100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/2                       0   </a:t>
                </a:r>
                <a:endParaRPr lang="en-I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x</a:t>
                </a:r>
                <a:r>
                  <a:rPr lang="en-IN" sz="20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     B</a:t>
                </a:r>
                <a:r>
                  <a:rPr lang="en-IN" sz="2000" b="1" baseline="30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-1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     =              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230        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0</a:t>
                </a:r>
                <a:endParaRPr lang="en-I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20 – 2D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             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0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None/>
                </a:pP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100 + D</a:t>
                </a:r>
                <a:r>
                  <a:rPr lang="en-IN" sz="18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/2 </a:t>
                </a:r>
                <a14:m>
                  <m:oMath xmlns:m="http://schemas.openxmlformats.org/officeDocument/2006/math">
                    <m:r>
                      <a:rPr lang="en-IN" sz="18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          D</a:t>
                </a:r>
                <a:r>
                  <a:rPr lang="en-IN" sz="18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-200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20 -2D</a:t>
                </a:r>
                <a:r>
                  <a:rPr lang="en-IN" sz="18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           D</a:t>
                </a:r>
                <a:r>
                  <a:rPr lang="en-IN" sz="1800" baseline="-250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IN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solidFill>
                      <a:srgbClr val="FF0000"/>
                    </a:solidFill>
                  </a:rPr>
                  <a:t>                                      </a:t>
                </a:r>
              </a:p>
              <a:p>
                <a:pPr marL="0" indent="0">
                  <a:buNone/>
                </a:pPr>
                <a:r>
                  <a:rPr lang="en-IN" sz="1800" dirty="0">
                    <a:solidFill>
                      <a:srgbClr val="FF0000"/>
                    </a:solidFill>
                  </a:rPr>
                  <a:t> </a:t>
                </a:r>
                <a:r>
                  <a:rPr lang="en-IN" sz="1800" dirty="0" smtClean="0">
                    <a:solidFill>
                      <a:srgbClr val="FF0000"/>
                    </a:solidFill>
                  </a:rPr>
                  <a:t>                                                       </a:t>
                </a:r>
                <a:endParaRPr lang="en-IN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t="-1660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uble Bracket 1"/>
          <p:cNvSpPr/>
          <p:nvPr/>
        </p:nvSpPr>
        <p:spPr>
          <a:xfrm>
            <a:off x="1060704" y="1207008"/>
            <a:ext cx="1097280" cy="114604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4120896" y="2609088"/>
            <a:ext cx="1463040" cy="151180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1231392" y="2706624"/>
            <a:ext cx="402336" cy="1341120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uble Bracket 5"/>
          <p:cNvSpPr/>
          <p:nvPr/>
        </p:nvSpPr>
        <p:spPr>
          <a:xfrm>
            <a:off x="2974848" y="3145536"/>
            <a:ext cx="195072" cy="25603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6675120" y="2602992"/>
            <a:ext cx="402336" cy="1341120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8119872" y="4133088"/>
            <a:ext cx="2645664" cy="5486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Current basis remains optimal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62544" y="5102352"/>
            <a:ext cx="2645664" cy="7132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Optimal point lies on the line of another resource constraint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7242048" y="3864864"/>
            <a:ext cx="719328" cy="451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wn Arrow 11"/>
          <p:cNvSpPr/>
          <p:nvPr/>
        </p:nvSpPr>
        <p:spPr>
          <a:xfrm>
            <a:off x="9326880" y="4730496"/>
            <a:ext cx="256032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596896" y="5596128"/>
                <a:ext cx="2682240" cy="3535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 smtClean="0">
                    <a:solidFill>
                      <a:schemeClr val="tx1"/>
                    </a:solidFill>
                  </a:rPr>
                  <a:t>-200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b="1" dirty="0" smtClean="0">
                    <a:solidFill>
                      <a:schemeClr val="tx1"/>
                    </a:solidFill>
                  </a:rPr>
                  <a:t> D</a:t>
                </a:r>
                <a:r>
                  <a:rPr lang="en-IN" b="1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IN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b="1" dirty="0" smtClean="0">
                    <a:solidFill>
                      <a:schemeClr val="tx1"/>
                    </a:solidFill>
                  </a:rPr>
                  <a:t> 10</a:t>
                </a:r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896" y="5596128"/>
                <a:ext cx="2682240" cy="353568"/>
              </a:xfrm>
              <a:prstGeom prst="rect">
                <a:avLst/>
              </a:prstGeom>
              <a:blipFill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49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IN" sz="24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230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Op1 capacity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4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440</a:t>
                </a:r>
                <a:endParaRPr lang="en-I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dirty="0" smtClean="0"/>
              </a:p>
              <a:p>
                <a:r>
                  <a:rPr lang="en-IN" dirty="0" smtClean="0"/>
                  <a:t> </a:t>
                </a:r>
                <a:r>
                  <a:rPr lang="en-IN" sz="1800" b="1" dirty="0" smtClean="0"/>
                  <a:t>D</a:t>
                </a:r>
                <a:r>
                  <a:rPr lang="en-IN" sz="1800" b="1" baseline="-25000" dirty="0" smtClean="0"/>
                  <a:t>1</a:t>
                </a:r>
                <a:r>
                  <a:rPr lang="en-IN" sz="1800" b="1" dirty="0" smtClean="0"/>
                  <a:t>y</a:t>
                </a:r>
                <a:r>
                  <a:rPr lang="en-IN" sz="1800" b="1" baseline="-25000" dirty="0"/>
                  <a:t>1</a:t>
                </a:r>
                <a:r>
                  <a:rPr lang="en-IN" sz="1800" b="1" dirty="0" smtClean="0"/>
                  <a:t>  -   jump in the profit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 ½    -1/4    0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 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)  =   (2 5 0)      0       ½     0         =    ( 1,  2,  0 )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                -2       1      1</a:t>
                </a:r>
              </a:p>
              <a:p>
                <a:pPr marL="0" indent="0">
                  <a:buNone/>
                </a:pPr>
                <a:endParaRPr lang="en-IN" sz="18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1     D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400 – 430 = -30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D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- $30</a:t>
                </a:r>
              </a:p>
              <a:p>
                <a:pPr marL="0" indent="0">
                  <a:buNone/>
                </a:pPr>
                <a:endParaRPr lang="en-IN" sz="18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y</a:t>
                </a:r>
                <a:r>
                  <a:rPr lang="en-IN" sz="18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en-IN" sz="18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1 is valid within </a:t>
                </a:r>
                <a:r>
                  <a:rPr lang="en-IN" sz="1800" dirty="0"/>
                  <a:t>-200 </a:t>
                </a:r>
                <a14:m>
                  <m:oMath xmlns:m="http://schemas.openxmlformats.org/officeDocument/2006/math">
                    <m:r>
                      <a:rPr lang="en-IN" sz="1800" b="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800" dirty="0"/>
                  <a:t> D</a:t>
                </a:r>
                <a:r>
                  <a:rPr lang="en-IN" sz="1800" baseline="-25000" dirty="0"/>
                  <a:t>1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b="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800" dirty="0"/>
                  <a:t> 10</a:t>
                </a:r>
              </a:p>
              <a:p>
                <a:pPr marL="0" indent="0">
                  <a:buNone/>
                </a:pPr>
                <a:endParaRPr lang="en-IN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uble Bracket 1"/>
          <p:cNvSpPr/>
          <p:nvPr/>
        </p:nvSpPr>
        <p:spPr>
          <a:xfrm>
            <a:off x="3182112" y="2560320"/>
            <a:ext cx="1353312" cy="1194816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0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Addition of a new constraint</a:t>
                </a:r>
              </a:p>
              <a:p>
                <a:pPr marL="0" indent="0" algn="just">
                  <a:buNone/>
                </a:pPr>
                <a:endParaRPr lang="en-IN" sz="2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Case I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 Redundant</a:t>
                </a:r>
              </a:p>
              <a:p>
                <a:pPr marL="0" indent="0" algn="just">
                  <a:buNone/>
                </a:pPr>
                <a:endParaRPr lang="en-IN" sz="2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Case II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 Valid cut         Infeasible         (Dual Simplex) </a:t>
                </a:r>
              </a:p>
              <a:p>
                <a:pPr marL="0" indent="0" algn="just">
                  <a:buNone/>
                </a:pPr>
                <a:endParaRPr lang="en-I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Example of Case I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: </a:t>
                </a:r>
              </a:p>
              <a:p>
                <a:pPr marL="0" indent="0" algn="ctr">
                  <a:buNone/>
                </a:pPr>
                <a:endParaRPr lang="en-IN" sz="20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just">
                  <a:buNone/>
                </a:pPr>
                <a:r>
                  <a:rPr lang="en-IN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𝟓𝟎𝟎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 algn="ctr">
                  <a:buNone/>
                </a:pPr>
                <a:r>
                  <a:rPr lang="en-IN" sz="2000" dirty="0" smtClean="0"/>
                  <a:t>Redundant because current optimal solution is feasible</a:t>
                </a:r>
              </a:p>
              <a:p>
                <a:pPr marL="0" indent="0" algn="ctr">
                  <a:buNone/>
                </a:pPr>
                <a:r>
                  <a:rPr lang="en-IN" sz="2000" b="1" dirty="0" smtClean="0"/>
                  <a:t>x</a:t>
                </a:r>
                <a:r>
                  <a:rPr lang="en-IN" sz="2000" b="1" baseline="-25000" dirty="0" smtClean="0"/>
                  <a:t>1</a:t>
                </a:r>
                <a:r>
                  <a:rPr lang="en-IN" sz="2000" b="1" dirty="0" smtClean="0"/>
                  <a:t> = 0     x</a:t>
                </a:r>
                <a:r>
                  <a:rPr lang="en-IN" sz="2000" b="1" baseline="-25000" dirty="0" smtClean="0"/>
                  <a:t>2</a:t>
                </a:r>
                <a:r>
                  <a:rPr lang="en-IN" sz="2000" b="1" dirty="0" smtClean="0"/>
                  <a:t> = 100     x</a:t>
                </a:r>
                <a:r>
                  <a:rPr lang="en-IN" sz="2000" b="1" baseline="-25000" dirty="0" smtClean="0"/>
                  <a:t>3</a:t>
                </a:r>
                <a:r>
                  <a:rPr lang="en-IN" sz="2000" b="1" dirty="0" smtClean="0"/>
                  <a:t> = 230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696" t="-1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2987040" y="2218944"/>
            <a:ext cx="4267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590288" y="2237232"/>
            <a:ext cx="4267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03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61813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Example of Case II</a:t>
                </a:r>
              </a:p>
              <a:p>
                <a:pPr marL="0" indent="0">
                  <a:buNone/>
                </a:pPr>
                <a:endParaRPr lang="en-IN" sz="2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 3x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x</a:t>
                </a:r>
                <a:r>
                  <a:rPr lang="en-IN" sz="2000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𝟓𝟎𝟎</m:t>
                    </m:r>
                  </m:oMath>
                </a14:m>
                <a:r>
                  <a:rPr lang="en-IN" sz="2000" dirty="0" smtClean="0"/>
                  <a:t> </a:t>
                </a:r>
              </a:p>
              <a:p>
                <a:pPr marL="0" indent="0">
                  <a:buNone/>
                </a:pPr>
                <a:r>
                  <a:rPr lang="en-IN" sz="2000" dirty="0"/>
                  <a:t> </a:t>
                </a:r>
                <a:r>
                  <a:rPr lang="en-IN" sz="2000" dirty="0" smtClean="0"/>
                  <a:t>               </a:t>
                </a:r>
              </a:p>
              <a:p>
                <a:pPr marL="0" indent="0">
                  <a:buNone/>
                </a:pPr>
                <a:r>
                  <a:rPr lang="en-IN" sz="2000" dirty="0"/>
                  <a:t> </a:t>
                </a:r>
                <a:r>
                  <a:rPr lang="en-IN" sz="2000" dirty="0" smtClean="0"/>
                  <a:t>                                  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x</a:t>
                </a:r>
                <a:r>
                  <a:rPr lang="en-IN" sz="2000" b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en-I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6181344"/>
              </a:xfrm>
              <a:blipFill>
                <a:blip r:embed="rId2"/>
                <a:stretch>
                  <a:fillRect l="-696" t="-1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 flipH="1" flipV="1">
            <a:off x="3962400" y="1475232"/>
            <a:ext cx="12192" cy="536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133997"/>
              </p:ext>
            </p:extLst>
          </p:nvPr>
        </p:nvGraphicFramePr>
        <p:xfrm>
          <a:off x="1935259" y="2296939"/>
          <a:ext cx="7111998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222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869853284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</a:t>
                      </a:r>
                      <a:endParaRPr lang="en-IN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1350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230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x</a:t>
                      </a:r>
                      <a:r>
                        <a:rPr lang="en-IN" b="1" baseline="-25000" dirty="0" smtClean="0"/>
                        <a:t>6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</a:t>
                      </a:r>
                      <a:endParaRPr lang="en-IN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 smtClean="0"/>
                        <a:t>3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3730752" y="4267200"/>
            <a:ext cx="426720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4565904" y="4212336"/>
            <a:ext cx="426720" cy="3048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730752" y="4901184"/>
            <a:ext cx="137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Make zero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4072128" y="4657344"/>
            <a:ext cx="121920" cy="2682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584192" y="4645152"/>
            <a:ext cx="109728" cy="2804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06934"/>
              </p:ext>
            </p:extLst>
          </p:nvPr>
        </p:nvGraphicFramePr>
        <p:xfrm>
          <a:off x="1897889" y="5279474"/>
          <a:ext cx="72217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14">
                  <a:extLst>
                    <a:ext uri="{9D8B030D-6E8A-4147-A177-3AD203B41FA5}">
                      <a16:colId xmlns:a16="http://schemas.microsoft.com/office/drawing/2014/main" val="3401165745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2649900058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454650582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2177366220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2786201944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904119857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2506829623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2814081079"/>
                    </a:ext>
                  </a:extLst>
                </a:gridCol>
                <a:gridCol w="802414">
                  <a:extLst>
                    <a:ext uri="{9D8B030D-6E8A-4147-A177-3AD203B41FA5}">
                      <a16:colId xmlns:a16="http://schemas.microsoft.com/office/drawing/2014/main" val="79886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IN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9/4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-3/2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¼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-30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99967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218944" y="5718048"/>
            <a:ext cx="7559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Then apply Dual Simplex</a:t>
            </a:r>
          </a:p>
          <a:p>
            <a:r>
              <a:rPr lang="en-IN" b="1" dirty="0" smtClean="0">
                <a:solidFill>
                  <a:srgbClr val="FF0000"/>
                </a:solidFill>
              </a:rPr>
              <a:t>                          x</a:t>
            </a:r>
            <a:r>
              <a:rPr lang="en-IN" b="1" baseline="-25000" dirty="0" smtClean="0">
                <a:solidFill>
                  <a:srgbClr val="FF0000"/>
                </a:solidFill>
              </a:rPr>
              <a:t>1</a:t>
            </a:r>
            <a:r>
              <a:rPr lang="en-IN" b="1" dirty="0" smtClean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</a:rPr>
              <a:t>= 0     x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= </a:t>
            </a:r>
            <a:r>
              <a:rPr lang="en-IN" b="1" dirty="0" smtClean="0">
                <a:solidFill>
                  <a:srgbClr val="FF0000"/>
                </a:solidFill>
              </a:rPr>
              <a:t>90     </a:t>
            </a:r>
            <a:r>
              <a:rPr lang="en-IN" b="1" dirty="0">
                <a:solidFill>
                  <a:srgbClr val="FF0000"/>
                </a:solidFill>
              </a:rPr>
              <a:t>x</a:t>
            </a:r>
            <a:r>
              <a:rPr lang="en-IN" b="1" baseline="-25000" dirty="0">
                <a:solidFill>
                  <a:srgbClr val="FF0000"/>
                </a:solidFill>
              </a:rPr>
              <a:t>3</a:t>
            </a:r>
            <a:r>
              <a:rPr lang="en-IN" b="1" dirty="0">
                <a:solidFill>
                  <a:srgbClr val="FF0000"/>
                </a:solidFill>
              </a:rPr>
              <a:t> = </a:t>
            </a:r>
            <a:r>
              <a:rPr lang="en-IN" b="1" dirty="0" smtClean="0">
                <a:solidFill>
                  <a:srgbClr val="FF0000"/>
                </a:solidFill>
              </a:rPr>
              <a:t>230            Z = $1330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45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</p:spPr>
        <p:txBody>
          <a:bodyPr/>
          <a:lstStyle/>
          <a:p>
            <a:pPr marL="0" indent="0" algn="ctr">
              <a:buNone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affecting optimality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18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IN" sz="2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in the objective function coefficients 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  2x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+ 3x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+ 4x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indent="0" algn="just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Thus, </a:t>
            </a:r>
            <a:r>
              <a:rPr lang="en-I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IN" sz="20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(3, 4, 0)</a:t>
            </a:r>
          </a:p>
          <a:p>
            <a:pPr marL="0" indent="0" algn="just">
              <a:buNone/>
            </a:pP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y</a:t>
            </a:r>
            <a:r>
              <a:rPr lang="en-I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y</a:t>
            </a:r>
            <a:r>
              <a:rPr lang="en-I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y</a:t>
            </a:r>
            <a:r>
              <a:rPr lang="en-I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=  (3  4  0) B</a:t>
            </a:r>
            <a:r>
              <a:rPr lang="en-IN" sz="2000" i="1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IN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=  (3/2, 5/4, 0)</a:t>
            </a:r>
          </a:p>
          <a:p>
            <a:pPr marL="0" indent="0" algn="just">
              <a:buNone/>
            </a:pP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 coefficients of 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x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x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 coefficients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of:</a:t>
            </a:r>
          </a:p>
          <a:p>
            <a:pPr marL="0" indent="0" algn="just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NB               </a:t>
            </a:r>
            <a:r>
              <a:rPr lang="en-I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c              y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+ 3y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y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- 2  = 13/4   &gt; 0</a:t>
            </a:r>
          </a:p>
          <a:p>
            <a:pPr marL="0" indent="0" algn="just">
              <a:buNone/>
            </a:pPr>
            <a:r>
              <a:rPr lang="en-IN" sz="2000" dirty="0"/>
              <a:t> </a:t>
            </a:r>
            <a:r>
              <a:rPr lang="en-IN" sz="2000" dirty="0" smtClean="0"/>
              <a:t>x</a:t>
            </a:r>
            <a:r>
              <a:rPr lang="en-IN" sz="2000" baseline="-25000" dirty="0" smtClean="0"/>
              <a:t>2</a:t>
            </a:r>
            <a:r>
              <a:rPr lang="en-IN" sz="2000" dirty="0" smtClean="0"/>
              <a:t>       B                   0      </a:t>
            </a:r>
          </a:p>
          <a:p>
            <a:pPr marL="0" indent="0" algn="just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B                   0</a:t>
            </a:r>
          </a:p>
          <a:p>
            <a:pPr marL="0" indent="0" algn="just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So, the current solution is </a:t>
            </a:r>
            <a:r>
              <a:rPr lang="en-I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</a:t>
            </a:r>
          </a:p>
          <a:p>
            <a:pPr marL="0" indent="0" algn="just">
              <a:buNone/>
            </a:pP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Revised Objective value = 2 x 0 + 3x 100 + 4 x 230  = $1220</a:t>
            </a: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ight Arrow 1"/>
          <p:cNvSpPr/>
          <p:nvPr/>
        </p:nvSpPr>
        <p:spPr>
          <a:xfrm flipV="1">
            <a:off x="2060448" y="4120895"/>
            <a:ext cx="451104" cy="2194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Arrow 3"/>
          <p:cNvSpPr/>
          <p:nvPr/>
        </p:nvSpPr>
        <p:spPr>
          <a:xfrm flipV="1">
            <a:off x="3566160" y="4126991"/>
            <a:ext cx="451104" cy="2194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Arrow 4"/>
          <p:cNvSpPr/>
          <p:nvPr/>
        </p:nvSpPr>
        <p:spPr>
          <a:xfrm flipV="1">
            <a:off x="2054352" y="4492751"/>
            <a:ext cx="451104" cy="2194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Arrow 5"/>
          <p:cNvSpPr/>
          <p:nvPr/>
        </p:nvSpPr>
        <p:spPr>
          <a:xfrm flipV="1">
            <a:off x="2060448" y="4876799"/>
            <a:ext cx="451104" cy="2194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04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smtClean="0"/>
              <a:t>Suppose,</a:t>
            </a:r>
          </a:p>
          <a:p>
            <a:pPr marL="0" indent="0">
              <a:buNone/>
            </a:pPr>
            <a:r>
              <a:rPr lang="en-IN" sz="2000" dirty="0" smtClean="0"/>
              <a:t>                           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+ 3x</a:t>
            </a:r>
            <a:r>
              <a:rPr lang="en-IN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+ 4x</a:t>
            </a:r>
            <a:r>
              <a:rPr lang="en-IN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</a:t>
            </a: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verify the objective coefficients</a:t>
            </a: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</a:t>
            </a:r>
            <a:r>
              <a:rPr lang="en-I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Primal Simplex</a:t>
            </a:r>
            <a:r>
              <a:rPr lang="en-IN" sz="2000" dirty="0" smtClean="0">
                <a:solidFill>
                  <a:srgbClr val="FF0000"/>
                </a:solidFill>
              </a:rPr>
              <a:t>,</a:t>
            </a:r>
            <a:endParaRPr lang="en-IN" sz="2000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optimal solution:      </a:t>
            </a:r>
            <a:r>
              <a:rPr lang="en-IN" sz="2000" b="1" dirty="0" smtClean="0">
                <a:solidFill>
                  <a:srgbClr val="002060"/>
                </a:solidFill>
              </a:rPr>
              <a:t>x</a:t>
            </a:r>
            <a:r>
              <a:rPr lang="en-IN" sz="2000" b="1" baseline="-25000" dirty="0" smtClean="0">
                <a:solidFill>
                  <a:srgbClr val="002060"/>
                </a:solidFill>
              </a:rPr>
              <a:t>1</a:t>
            </a:r>
            <a:r>
              <a:rPr lang="en-IN" sz="2000" b="1" dirty="0" smtClean="0">
                <a:solidFill>
                  <a:srgbClr val="002060"/>
                </a:solidFill>
              </a:rPr>
              <a:t> </a:t>
            </a:r>
            <a:r>
              <a:rPr lang="en-IN" sz="2000" b="1" dirty="0">
                <a:solidFill>
                  <a:srgbClr val="002060"/>
                </a:solidFill>
              </a:rPr>
              <a:t>= </a:t>
            </a:r>
            <a:r>
              <a:rPr lang="en-IN" sz="2000" b="1" dirty="0" smtClean="0">
                <a:solidFill>
                  <a:srgbClr val="002060"/>
                </a:solidFill>
              </a:rPr>
              <a:t>10     </a:t>
            </a:r>
            <a:r>
              <a:rPr lang="en-IN" sz="2000" b="1" dirty="0">
                <a:solidFill>
                  <a:srgbClr val="002060"/>
                </a:solidFill>
              </a:rPr>
              <a:t>x</a:t>
            </a:r>
            <a:r>
              <a:rPr lang="en-IN" sz="2000" b="1" baseline="-25000" dirty="0">
                <a:solidFill>
                  <a:srgbClr val="002060"/>
                </a:solidFill>
              </a:rPr>
              <a:t>2</a:t>
            </a:r>
            <a:r>
              <a:rPr lang="en-IN" sz="2000" b="1" dirty="0">
                <a:solidFill>
                  <a:srgbClr val="002060"/>
                </a:solidFill>
              </a:rPr>
              <a:t> = </a:t>
            </a:r>
            <a:r>
              <a:rPr lang="en-IN" sz="2000" b="1" dirty="0" smtClean="0">
                <a:solidFill>
                  <a:srgbClr val="002060"/>
                </a:solidFill>
              </a:rPr>
              <a:t>102.5     </a:t>
            </a:r>
            <a:r>
              <a:rPr lang="en-IN" sz="2000" b="1" dirty="0">
                <a:solidFill>
                  <a:srgbClr val="002060"/>
                </a:solidFill>
              </a:rPr>
              <a:t>x</a:t>
            </a:r>
            <a:r>
              <a:rPr lang="en-IN" sz="2000" b="1" baseline="-25000" dirty="0">
                <a:solidFill>
                  <a:srgbClr val="002060"/>
                </a:solidFill>
              </a:rPr>
              <a:t>3</a:t>
            </a:r>
            <a:r>
              <a:rPr lang="en-IN" sz="2000" b="1" dirty="0">
                <a:solidFill>
                  <a:srgbClr val="002060"/>
                </a:solidFill>
              </a:rPr>
              <a:t> = </a:t>
            </a:r>
            <a:r>
              <a:rPr lang="en-IN" sz="2000" b="1" dirty="0" smtClean="0">
                <a:solidFill>
                  <a:srgbClr val="002060"/>
                </a:solidFill>
              </a:rPr>
              <a:t>215            </a:t>
            </a:r>
            <a:r>
              <a:rPr lang="en-IN" sz="2000" b="1" dirty="0">
                <a:solidFill>
                  <a:srgbClr val="002060"/>
                </a:solidFill>
              </a:rPr>
              <a:t>Z = </a:t>
            </a:r>
            <a:r>
              <a:rPr lang="en-IN" sz="2000" b="1" dirty="0" smtClean="0">
                <a:solidFill>
                  <a:srgbClr val="002060"/>
                </a:solidFill>
              </a:rPr>
              <a:t>$1227.50</a:t>
            </a:r>
            <a:endParaRPr lang="en-IN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575405"/>
              </p:ext>
            </p:extLst>
          </p:nvPr>
        </p:nvGraphicFramePr>
        <p:xfrm>
          <a:off x="1690624" y="204859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691803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1557125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292747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608606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175812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86018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15286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35225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13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-3/4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1220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2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4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62544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u="sng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Optimality Range of the objective functions</a:t>
                </a:r>
              </a:p>
              <a:p>
                <a:pPr marL="0" indent="0">
                  <a:buNone/>
                </a:pPr>
                <a:endParaRPr lang="en-IN" b="1" u="sng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</a:t>
                </a:r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 = 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 + d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+ 2x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Find the optimality range for 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?</a:t>
                </a:r>
              </a:p>
              <a:p>
                <a:pPr marL="0" indent="0">
                  <a:buNone/>
                </a:pPr>
                <a:endParaRPr lang="en-IN" sz="20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Since, x</a:t>
                </a:r>
                <a:r>
                  <a:rPr lang="en-IN" sz="20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is non-basic in the optimal table, therefore, 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will not be affected because y = </a:t>
                </a:r>
                <a:r>
                  <a:rPr lang="en-IN" sz="2000" i="1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  <a:r>
                  <a:rPr lang="en-IN" sz="2000" i="1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B</a:t>
                </a:r>
                <a:r>
                  <a:rPr lang="en-IN" sz="2000" i="1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-1</a:t>
                </a:r>
                <a:endParaRPr lang="en-IN" sz="2000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:       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+ 3y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(3 + 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4 – 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IN" sz="2000" b="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>
                  <a:buNone/>
                </a:pP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endParaRPr lang="en-IN" sz="2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</a:t>
                </a:r>
                <a:r>
                  <a:rPr lang="en-I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 </a:t>
                </a:r>
                <a:r>
                  <a:rPr lang="en-I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 =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3x</a:t>
                </a:r>
                <a:r>
                  <a:rPr lang="en-IN" sz="2000" b="1" i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(2 +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5x</a:t>
                </a:r>
                <a:r>
                  <a:rPr lang="en-IN" sz="2000" b="1" i="1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   </a:t>
                </a:r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:   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+ 3y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y</a:t>
                </a:r>
                <a:r>
                  <a:rPr lang="en-IN" sz="2000" i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=  4 – 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4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y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1 + 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/ 2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0</a:t>
                </a:r>
              </a:p>
              <a:p>
                <a:pPr marL="0" indent="0">
                  <a:buNone/>
                </a:pP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r>
                  <a:rPr lang="en-IN" sz="2000" b="1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:  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y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2 – d</a:t>
                </a:r>
                <a:r>
                  <a:rPr lang="en-IN" sz="2000" i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/ 4 </a:t>
                </a:r>
                <a14:m>
                  <m:oMath xmlns:m="http://schemas.openxmlformats.org/officeDocument/2006/math">
                    <m:r>
                      <a:rPr lang="en-IN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</a:t>
                </a: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</a:p>
              <a:p>
                <a:pPr marL="0" indent="0">
                  <a:buNone/>
                </a:pPr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  <a:r>
                  <a:rPr lang="en-IN" sz="2000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16    d</a:t>
                </a:r>
                <a:r>
                  <a:rPr lang="en-IN" sz="2000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-2         d</a:t>
                </a:r>
                <a:r>
                  <a:rPr lang="en-IN" sz="2000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8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≤</m:t>
                    </m:r>
                  </m:oMath>
                </a14:m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d</a:t>
                </a:r>
                <a:r>
                  <a:rPr lang="en-IN" sz="2000" b="1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b="1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8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</m:t>
                      </m:r>
                    </m:oMath>
                  </m:oMathPara>
                </a14:m>
                <a:endParaRPr lang="en-IN" sz="20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I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≤</m:t>
                    </m:r>
                  </m:oMath>
                </a14:m>
                <a:r>
                  <a:rPr lang="en-IN" sz="2000" b="1" i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  <a:r>
                  <a:rPr lang="en-IN" sz="2000" b="1" i="1" baseline="-250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IN" sz="2000" b="1" i="1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IN" sz="20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2000" i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10</a:t>
                </a:r>
              </a:p>
              <a:p>
                <a:pPr marL="0" indent="0">
                  <a:buNone/>
                </a:pPr>
                <a:endParaRPr lang="en-IN" sz="20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6254496"/>
              </a:xfrm>
              <a:blipFill>
                <a:blip r:embed="rId2"/>
                <a:stretch>
                  <a:fillRect l="-1275" t="-1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4498848" y="5501641"/>
            <a:ext cx="682752" cy="11887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705600" y="5754624"/>
            <a:ext cx="12192" cy="3169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1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6217920"/>
          </a:xfrm>
        </p:spPr>
        <p:txBody>
          <a:bodyPr/>
          <a:lstStyle/>
          <a:p>
            <a:pPr marL="0" indent="0" algn="ctr">
              <a:buNone/>
            </a:pPr>
            <a:r>
              <a:rPr lang="en-I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 of a New activity</a:t>
            </a:r>
          </a:p>
          <a:p>
            <a:pPr marL="0" indent="0" algn="just">
              <a:buNone/>
            </a:pPr>
            <a:endParaRPr lang="en-IN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IN" sz="1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new variable can be thought of a non-basic activity</a:t>
            </a:r>
            <a:r>
              <a:rPr lang="en-IN" sz="18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 train replaced by a Toy fire engine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$4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 1 - 1 min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 2 – 1 min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 3 – 2 min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18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cost for x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                    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I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IN" sz="18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y</a:t>
            </a:r>
            <a:r>
              <a:rPr lang="en-IN" sz="18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y</a:t>
            </a:r>
            <a:r>
              <a:rPr lang="en-IN" sz="18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)  =  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(1  2  </a:t>
            </a:r>
            <a:r>
              <a:rPr lang="en-I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0) </a:t>
            </a:r>
            <a:endParaRPr lang="en-IN" sz="18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1y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+ 1y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+ 2y</a:t>
            </a:r>
            <a:r>
              <a:rPr lang="en-IN" sz="1800" i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4 = -1           so , profitable</a:t>
            </a:r>
          </a:p>
          <a:p>
            <a:pPr marL="0" indent="0" algn="just">
              <a:buNone/>
            </a:pPr>
            <a:endParaRPr lang="en-IN" sz="1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constraint column :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objective row :  </a:t>
            </a:r>
            <a:r>
              <a:rPr lang="en-IN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</a:t>
            </a: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c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-1</a:t>
            </a:r>
          </a:p>
          <a:p>
            <a:pPr marL="0" indent="0" algn="just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constraint rows: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               ½   -1/4   0           1                 1/4</a:t>
            </a:r>
          </a:p>
          <a:p>
            <a:pPr marL="0" indent="0" algn="just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                                        0     ½     0           1       =        1/2</a:t>
            </a:r>
          </a:p>
          <a:p>
            <a:pPr marL="0" indent="0" algn="just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                                        -2    1      1           2                   1</a:t>
            </a:r>
            <a:endParaRPr lang="en-IN" sz="1800" dirty="0"/>
          </a:p>
        </p:txBody>
      </p:sp>
      <p:sp>
        <p:nvSpPr>
          <p:cNvPr id="2" name="Double Bracket 1"/>
          <p:cNvSpPr/>
          <p:nvPr/>
        </p:nvSpPr>
        <p:spPr>
          <a:xfrm>
            <a:off x="6937248" y="5327904"/>
            <a:ext cx="1341120" cy="108508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8534400" y="5303520"/>
            <a:ext cx="475488" cy="110947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9680448" y="5242560"/>
            <a:ext cx="560832" cy="11826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86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47152"/>
              </p:ext>
            </p:extLst>
          </p:nvPr>
        </p:nvGraphicFramePr>
        <p:xfrm>
          <a:off x="2435131" y="1467883"/>
          <a:ext cx="7111998" cy="226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222">
                  <a:extLst>
                    <a:ext uri="{9D8B030D-6E8A-4147-A177-3AD203B41FA5}">
                      <a16:colId xmlns:a16="http://schemas.microsoft.com/office/drawing/2014/main" val="3664771680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997441415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896196198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145111615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461865868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1261548999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3502913266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2927988314"/>
                    </a:ext>
                  </a:extLst>
                </a:gridCol>
                <a:gridCol w="790222">
                  <a:extLst>
                    <a:ext uri="{9D8B030D-6E8A-4147-A177-3AD203B41FA5}">
                      <a16:colId xmlns:a16="http://schemas.microsoft.com/office/drawing/2014/main" val="109011110"/>
                    </a:ext>
                  </a:extLst>
                </a:gridCol>
              </a:tblGrid>
              <a:tr h="354821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RHS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C00000"/>
                          </a:solidFill>
                        </a:rPr>
                        <a:t>-1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1350</a:t>
                      </a:r>
                      <a:endParaRPr lang="en-IN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3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rgbClr val="C00000"/>
                          </a:solidFill>
                        </a:rPr>
                        <a:t>1/4</a:t>
                      </a:r>
                      <a:endParaRPr lang="en-IN" sz="18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-1/4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0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i="1" baseline="-250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3/2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C00000"/>
                          </a:solidFill>
                        </a:rPr>
                        <a:t>1/2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½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230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02167"/>
                  </a:ext>
                </a:extLst>
              </a:tr>
              <a:tr h="3923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x</a:t>
                      </a:r>
                      <a:r>
                        <a:rPr lang="en-IN" b="1" baseline="-25000" dirty="0" smtClean="0"/>
                        <a:t>6</a:t>
                      </a:r>
                      <a:endParaRPr lang="en-IN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74046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658368"/>
            <a:ext cx="10515600" cy="5518595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961888" y="926592"/>
            <a:ext cx="4858" cy="5047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816608" y="3157728"/>
            <a:ext cx="487680" cy="12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77312" y="4413504"/>
            <a:ext cx="6998208" cy="11338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</a:rPr>
              <a:t>New optimal solution</a:t>
            </a:r>
            <a:r>
              <a:rPr lang="en-IN" b="1" dirty="0">
                <a:solidFill>
                  <a:schemeClr val="tx1"/>
                </a:solidFill>
              </a:rPr>
              <a:t> :     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I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     x</a:t>
            </a:r>
            <a:r>
              <a:rPr lang="en-I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     x</a:t>
            </a:r>
            <a:r>
              <a:rPr lang="en-I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125   x</a:t>
            </a:r>
            <a:r>
              <a:rPr lang="en-I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210         </a:t>
            </a:r>
          </a:p>
          <a:p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</a:t>
            </a:r>
            <a:r>
              <a:rPr lang="en-I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$1465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38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425E511BB91D4C9767C20E748AB7E9" ma:contentTypeVersion="4" ma:contentTypeDescription="Create a new document." ma:contentTypeScope="" ma:versionID="51ff205111fa0dd9447dc2f61e9e8ecf">
  <xsd:schema xmlns:xsd="http://www.w3.org/2001/XMLSchema" xmlns:xs="http://www.w3.org/2001/XMLSchema" xmlns:p="http://schemas.microsoft.com/office/2006/metadata/properties" xmlns:ns2="d41da0ac-92b9-4cfd-9975-d34b7e2d1d6d" targetNamespace="http://schemas.microsoft.com/office/2006/metadata/properties" ma:root="true" ma:fieldsID="680504199317ce7e14acf83ee43d6a12" ns2:_="">
    <xsd:import namespace="d41da0ac-92b9-4cfd-9975-d34b7e2d1d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da0ac-92b9-4cfd-9975-d34b7e2d1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C9A320-8735-442B-B5AB-C9D20C6A53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E76FCA-9E10-4E67-94C5-9D8BC8625E90}"/>
</file>

<file path=customXml/itemProps3.xml><?xml version="1.0" encoding="utf-8"?>
<ds:datastoreItem xmlns:ds="http://schemas.openxmlformats.org/officeDocument/2006/customXml" ds:itemID="{481DC580-FD39-441D-B1C5-21C2EF5E0FC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3373</Words>
  <Application>Microsoft Office PowerPoint</Application>
  <PresentationFormat>Widescreen</PresentationFormat>
  <Paragraphs>1225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Cambria Math</vt:lpstr>
      <vt:lpstr>Times New Roman</vt:lpstr>
      <vt:lpstr>Office Theme</vt:lpstr>
      <vt:lpstr>Duality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SOB Method (Sensible, Odd, Bizarre Method) </vt:lpstr>
      <vt:lpstr>SOB Method (Sensible, Odd, Bizarre Method)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Economic interpretation of Dual constraint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Post-optimal or Sensitivity Analysis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</dc:creator>
  <cp:lastModifiedBy>Goutam</cp:lastModifiedBy>
  <cp:revision>140</cp:revision>
  <dcterms:created xsi:type="dcterms:W3CDTF">2020-09-12T13:40:15Z</dcterms:created>
  <dcterms:modified xsi:type="dcterms:W3CDTF">2022-02-18T06:27:29Z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0x0101006C425E511BB91D4C9767C20E748AB7E9</vt:lpwstr>
  </property>
</Properties>
</file>