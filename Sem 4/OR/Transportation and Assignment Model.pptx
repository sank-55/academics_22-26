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68" r:id="rId16"/>
    <p:sldId id="269" r:id="rId17"/>
    <p:sldId id="270" r:id="rId18"/>
    <p:sldId id="272" r:id="rId19"/>
    <p:sldId id="300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76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21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10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71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1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07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847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9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28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76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6BB9-59EB-4C05-B9B0-C64BF4591E84}" type="datetimeFigureOut">
              <a:rPr lang="en-IN" smtClean="0"/>
              <a:t>15-10-2020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12FE6-2EDD-437A-BCC7-54FBE4C0F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27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Transportation Model</a:t>
            </a: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2819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3730" y="512422"/>
                <a:ext cx="10732008" cy="6197660"/>
              </a:xfr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Sources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</a:t>
                </a:r>
                <a:r>
                  <a:rPr lang="en-IN" sz="1800" b="1" u="sng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Mileage Chart</a:t>
                </a:r>
                <a:endParaRPr lang="en-IN" sz="20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   a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b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2300                                    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1500   a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b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1400</a:t>
                </a:r>
                <a:endParaRPr lang="en-I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1200   a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</a:t>
                </a:r>
                <a:r>
                  <a:rPr lang="en-IN" sz="1800" b="1" u="sng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 cents per mile per car</a:t>
                </a:r>
                <a:endParaRPr lang="en-IN" sz="2000" b="1" u="sng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80x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+ 215x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+ 100x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+ 108x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+ 102x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+ 68x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`       = 1000</a:t>
                </a:r>
              </a:p>
              <a:p>
                <a:pPr marL="0" indent="0">
                  <a:buNone/>
                </a:pP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=  1500            </a:t>
                </a:r>
                <a:r>
                  <a:rPr lang="en-IN" sz="20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Supply</a:t>
                </a:r>
              </a:p>
              <a:p>
                <a:pPr marL="0" indent="0">
                  <a:buNone/>
                </a:pP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= 1200</a:t>
                </a:r>
              </a:p>
              <a:p>
                <a:pPr marL="0" indent="0">
                  <a:buNone/>
                </a:pP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2300</a:t>
                </a:r>
              </a:p>
              <a:p>
                <a:pPr marL="0" indent="0">
                  <a:buNone/>
                </a:pP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1400</a:t>
                </a:r>
              </a:p>
              <a:p>
                <a:pPr marL="0" indent="0">
                  <a:buNone/>
                </a:pP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 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IN" sz="20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2, 3; j = 1, 2</a:t>
                </a:r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3730" y="512422"/>
                <a:ext cx="10732008" cy="6197660"/>
              </a:xfrm>
              <a:blipFill>
                <a:blip r:embed="rId2"/>
                <a:stretch>
                  <a:fillRect l="-51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785692" y="1420906"/>
            <a:ext cx="207264" cy="256032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1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2809001" y="2150992"/>
            <a:ext cx="207264" cy="256032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2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2829799" y="2994929"/>
            <a:ext cx="207264" cy="256032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3</a:t>
            </a:r>
            <a:endParaRPr lang="en-IN" b="1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056683" y="1567210"/>
            <a:ext cx="536448" cy="12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039650" y="2337637"/>
            <a:ext cx="536448" cy="12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072640" y="3126531"/>
            <a:ext cx="536448" cy="12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840403" y="1799038"/>
            <a:ext cx="207264" cy="256032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1</a:t>
            </a:r>
            <a:endParaRPr lang="en-IN" b="1" dirty="0"/>
          </a:p>
        </p:txBody>
      </p:sp>
      <p:sp>
        <p:nvSpPr>
          <p:cNvPr id="14" name="Oval 13"/>
          <p:cNvSpPr/>
          <p:nvPr/>
        </p:nvSpPr>
        <p:spPr>
          <a:xfrm>
            <a:off x="4784285" y="2566954"/>
            <a:ext cx="207264" cy="256032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2</a:t>
            </a:r>
            <a:endParaRPr lang="en-IN" b="1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160059" y="1519518"/>
            <a:ext cx="1546412" cy="3361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079376" y="1559859"/>
            <a:ext cx="1602352" cy="9907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121152" y="1922929"/>
            <a:ext cx="1558424" cy="2472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96768" y="2267712"/>
            <a:ext cx="1517904" cy="2987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106271" y="2057400"/>
            <a:ext cx="1586753" cy="995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160059" y="2633472"/>
            <a:ext cx="1472901" cy="4996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179090" y="2738897"/>
            <a:ext cx="536448" cy="12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5190027" y="1946417"/>
            <a:ext cx="536448" cy="12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58010"/>
              </p:ext>
            </p:extLst>
          </p:nvPr>
        </p:nvGraphicFramePr>
        <p:xfrm>
          <a:off x="7557247" y="1363332"/>
          <a:ext cx="382195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984">
                  <a:extLst>
                    <a:ext uri="{9D8B030D-6E8A-4147-A177-3AD203B41FA5}">
                      <a16:colId xmlns:a16="http://schemas.microsoft.com/office/drawing/2014/main" val="3257038516"/>
                    </a:ext>
                  </a:extLst>
                </a:gridCol>
                <a:gridCol w="1273984">
                  <a:extLst>
                    <a:ext uri="{9D8B030D-6E8A-4147-A177-3AD203B41FA5}">
                      <a16:colId xmlns:a16="http://schemas.microsoft.com/office/drawing/2014/main" val="2678835798"/>
                    </a:ext>
                  </a:extLst>
                </a:gridCol>
                <a:gridCol w="1273984">
                  <a:extLst>
                    <a:ext uri="{9D8B030D-6E8A-4147-A177-3AD203B41FA5}">
                      <a16:colId xmlns:a16="http://schemas.microsoft.com/office/drawing/2014/main" val="1521501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Denver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Miami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1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2690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199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Detroit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74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en-IN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Orleans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255567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053826"/>
              </p:ext>
            </p:extLst>
          </p:nvPr>
        </p:nvGraphicFramePr>
        <p:xfrm>
          <a:off x="7476565" y="3743820"/>
          <a:ext cx="3940644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8">
                  <a:extLst>
                    <a:ext uri="{9D8B030D-6E8A-4147-A177-3AD203B41FA5}">
                      <a16:colId xmlns:a16="http://schemas.microsoft.com/office/drawing/2014/main" val="3257038516"/>
                    </a:ext>
                  </a:extLst>
                </a:gridCol>
                <a:gridCol w="1313548">
                  <a:extLst>
                    <a:ext uri="{9D8B030D-6E8A-4147-A177-3AD203B41FA5}">
                      <a16:colId xmlns:a16="http://schemas.microsoft.com/office/drawing/2014/main" val="2678835798"/>
                    </a:ext>
                  </a:extLst>
                </a:gridCol>
                <a:gridCol w="1313548">
                  <a:extLst>
                    <a:ext uri="{9D8B030D-6E8A-4147-A177-3AD203B41FA5}">
                      <a16:colId xmlns:a16="http://schemas.microsoft.com/office/drawing/2014/main" val="1521501287"/>
                    </a:ext>
                  </a:extLst>
                </a:gridCol>
              </a:tblGrid>
              <a:tr h="307898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Denver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Miami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13181"/>
                  </a:ext>
                </a:extLst>
              </a:tr>
              <a:tr h="30789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$215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199097"/>
                  </a:ext>
                </a:extLst>
              </a:tr>
              <a:tr h="30789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Detroit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$108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747552"/>
                  </a:ext>
                </a:extLst>
              </a:tr>
              <a:tr h="307898">
                <a:tc>
                  <a:txBody>
                    <a:bodyPr/>
                    <a:lstStyle/>
                    <a:p>
                      <a:pPr algn="ctr"/>
                      <a:r>
                        <a:rPr lang="en-IN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</a:t>
                      </a:r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Orleans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$68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255567"/>
                  </a:ext>
                </a:extLst>
              </a:tr>
            </a:tbl>
          </a:graphicData>
        </a:graphic>
      </p:graphicFrame>
      <p:sp>
        <p:nvSpPr>
          <p:cNvPr id="2" name="Right Brace 1"/>
          <p:cNvSpPr/>
          <p:nvPr/>
        </p:nvSpPr>
        <p:spPr>
          <a:xfrm>
            <a:off x="3227294" y="4303059"/>
            <a:ext cx="363071" cy="91439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536576" y="5567082"/>
            <a:ext cx="1438835" cy="389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</a:t>
            </a:r>
            <a:endParaRPr lang="en-IN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ight Brace 22"/>
          <p:cNvSpPr/>
          <p:nvPr/>
        </p:nvSpPr>
        <p:spPr>
          <a:xfrm>
            <a:off x="3281082" y="5459506"/>
            <a:ext cx="259977" cy="62304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6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432577"/>
              </p:ext>
            </p:extLst>
          </p:nvPr>
        </p:nvGraphicFramePr>
        <p:xfrm>
          <a:off x="2286000" y="1726761"/>
          <a:ext cx="6373904" cy="2749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476">
                  <a:extLst>
                    <a:ext uri="{9D8B030D-6E8A-4147-A177-3AD203B41FA5}">
                      <a16:colId xmlns:a16="http://schemas.microsoft.com/office/drawing/2014/main" val="3257038516"/>
                    </a:ext>
                  </a:extLst>
                </a:gridCol>
                <a:gridCol w="1593476">
                  <a:extLst>
                    <a:ext uri="{9D8B030D-6E8A-4147-A177-3AD203B41FA5}">
                      <a16:colId xmlns:a16="http://schemas.microsoft.com/office/drawing/2014/main" val="2678835798"/>
                    </a:ext>
                  </a:extLst>
                </a:gridCol>
                <a:gridCol w="1593476">
                  <a:extLst>
                    <a:ext uri="{9D8B030D-6E8A-4147-A177-3AD203B41FA5}">
                      <a16:colId xmlns:a16="http://schemas.microsoft.com/office/drawing/2014/main" val="1521501287"/>
                    </a:ext>
                  </a:extLst>
                </a:gridCol>
                <a:gridCol w="1593476">
                  <a:extLst>
                    <a:ext uri="{9D8B030D-6E8A-4147-A177-3AD203B41FA5}">
                      <a16:colId xmlns:a16="http://schemas.microsoft.com/office/drawing/2014/main" val="4010161938"/>
                    </a:ext>
                  </a:extLst>
                </a:gridCol>
              </a:tblGrid>
              <a:tr h="549945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Denver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Miami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13181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199097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Detroit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747552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</a:t>
                      </a:r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Orleans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255567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870249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935071" y="2299447"/>
            <a:ext cx="484094" cy="3496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80</a:t>
            </a: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6620435" y="2303929"/>
            <a:ext cx="376518" cy="3227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80</a:t>
            </a:r>
            <a:endParaRPr lang="en-IN" sz="1400" dirty="0"/>
          </a:p>
        </p:txBody>
      </p:sp>
      <p:sp>
        <p:nvSpPr>
          <p:cNvPr id="6" name="Rectangle 5"/>
          <p:cNvSpPr/>
          <p:nvPr/>
        </p:nvSpPr>
        <p:spPr>
          <a:xfrm>
            <a:off x="4921624" y="2873188"/>
            <a:ext cx="479611" cy="3272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100</a:t>
            </a:r>
            <a:endParaRPr lang="en-IN" sz="1400" dirty="0"/>
          </a:p>
        </p:txBody>
      </p:sp>
      <p:sp>
        <p:nvSpPr>
          <p:cNvPr id="7" name="Rectangle 6"/>
          <p:cNvSpPr/>
          <p:nvPr/>
        </p:nvSpPr>
        <p:spPr>
          <a:xfrm>
            <a:off x="6441141" y="2850777"/>
            <a:ext cx="537883" cy="3227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108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4894729" y="3420035"/>
            <a:ext cx="502024" cy="3451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102</a:t>
            </a:r>
            <a:endParaRPr lang="en-IN" sz="1400" dirty="0"/>
          </a:p>
        </p:txBody>
      </p:sp>
      <p:sp>
        <p:nvSpPr>
          <p:cNvPr id="9" name="Rectangle 8"/>
          <p:cNvSpPr/>
          <p:nvPr/>
        </p:nvSpPr>
        <p:spPr>
          <a:xfrm>
            <a:off x="6427694" y="3411071"/>
            <a:ext cx="560294" cy="300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68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3154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91570"/>
              </p:ext>
            </p:extLst>
          </p:nvPr>
        </p:nvGraphicFramePr>
        <p:xfrm>
          <a:off x="2299447" y="1740208"/>
          <a:ext cx="6373904" cy="3299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476">
                  <a:extLst>
                    <a:ext uri="{9D8B030D-6E8A-4147-A177-3AD203B41FA5}">
                      <a16:colId xmlns:a16="http://schemas.microsoft.com/office/drawing/2014/main" val="3257038516"/>
                    </a:ext>
                  </a:extLst>
                </a:gridCol>
                <a:gridCol w="1593476">
                  <a:extLst>
                    <a:ext uri="{9D8B030D-6E8A-4147-A177-3AD203B41FA5}">
                      <a16:colId xmlns:a16="http://schemas.microsoft.com/office/drawing/2014/main" val="2678835798"/>
                    </a:ext>
                  </a:extLst>
                </a:gridCol>
                <a:gridCol w="1593476">
                  <a:extLst>
                    <a:ext uri="{9D8B030D-6E8A-4147-A177-3AD203B41FA5}">
                      <a16:colId xmlns:a16="http://schemas.microsoft.com/office/drawing/2014/main" val="1521501287"/>
                    </a:ext>
                  </a:extLst>
                </a:gridCol>
                <a:gridCol w="1593476">
                  <a:extLst>
                    <a:ext uri="{9D8B030D-6E8A-4147-A177-3AD203B41FA5}">
                      <a16:colId xmlns:a16="http://schemas.microsoft.com/office/drawing/2014/main" val="4010161938"/>
                    </a:ext>
                  </a:extLst>
                </a:gridCol>
              </a:tblGrid>
              <a:tr h="549945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Denver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Miami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13181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199097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Detroit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747552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</a:t>
                      </a:r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Orleans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255567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r>
                        <a:rPr lang="en-IN" b="1" dirty="0" smtClean="0"/>
                        <a:t>Dummy Plant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u="sng" dirty="0" smtClean="0"/>
                        <a:t>200</a:t>
                      </a:r>
                      <a:endParaRPr lang="en-IN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870249"/>
                  </a:ext>
                </a:extLst>
              </a:tr>
              <a:tr h="54994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  <a:endParaRPr lang="en-IN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462204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935071" y="2299447"/>
            <a:ext cx="484094" cy="3496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80</a:t>
            </a: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6620435" y="2303929"/>
            <a:ext cx="376518" cy="3227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80</a:t>
            </a:r>
            <a:endParaRPr lang="en-IN" sz="1400" dirty="0"/>
          </a:p>
        </p:txBody>
      </p:sp>
      <p:sp>
        <p:nvSpPr>
          <p:cNvPr id="6" name="Rectangle 5"/>
          <p:cNvSpPr/>
          <p:nvPr/>
        </p:nvSpPr>
        <p:spPr>
          <a:xfrm>
            <a:off x="4921624" y="2873188"/>
            <a:ext cx="479611" cy="3272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100</a:t>
            </a:r>
            <a:endParaRPr lang="en-IN" sz="1400" dirty="0"/>
          </a:p>
        </p:txBody>
      </p:sp>
      <p:sp>
        <p:nvSpPr>
          <p:cNvPr id="7" name="Rectangle 6"/>
          <p:cNvSpPr/>
          <p:nvPr/>
        </p:nvSpPr>
        <p:spPr>
          <a:xfrm>
            <a:off x="6441141" y="2850777"/>
            <a:ext cx="537883" cy="3227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108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4894729" y="3420035"/>
            <a:ext cx="502024" cy="3451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102</a:t>
            </a:r>
            <a:endParaRPr lang="en-IN" sz="1400" dirty="0"/>
          </a:p>
        </p:txBody>
      </p:sp>
      <p:sp>
        <p:nvSpPr>
          <p:cNvPr id="9" name="Rectangle 8"/>
          <p:cNvSpPr/>
          <p:nvPr/>
        </p:nvSpPr>
        <p:spPr>
          <a:xfrm>
            <a:off x="6427694" y="3411071"/>
            <a:ext cx="560294" cy="300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68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1573306" y="605118"/>
            <a:ext cx="73689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Balancing the transportation model</a:t>
            </a:r>
          </a:p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4899211" y="3975847"/>
            <a:ext cx="502024" cy="3451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0</a:t>
            </a:r>
            <a:endParaRPr lang="en-IN" sz="1400" dirty="0"/>
          </a:p>
        </p:txBody>
      </p:sp>
      <p:sp>
        <p:nvSpPr>
          <p:cNvPr id="13" name="Rectangle 12"/>
          <p:cNvSpPr/>
          <p:nvPr/>
        </p:nvSpPr>
        <p:spPr>
          <a:xfrm>
            <a:off x="6485964" y="3975846"/>
            <a:ext cx="502024" cy="3451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0</a:t>
            </a:r>
            <a:endParaRPr lang="en-IN" sz="1400" dirty="0"/>
          </a:p>
        </p:txBody>
      </p:sp>
      <p:sp>
        <p:nvSpPr>
          <p:cNvPr id="14" name="Oval 13"/>
          <p:cNvSpPr/>
          <p:nvPr/>
        </p:nvSpPr>
        <p:spPr>
          <a:xfrm>
            <a:off x="7557246" y="4007224"/>
            <a:ext cx="753035" cy="3092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200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8955741" y="3966882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Dummy Supply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>
            <a:stCxn id="15" idx="1"/>
          </p:cNvCxnSpPr>
          <p:nvPr/>
        </p:nvCxnSpPr>
        <p:spPr>
          <a:xfrm flipH="1">
            <a:off x="8364071" y="4151548"/>
            <a:ext cx="591670" cy="439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6529" y="5230906"/>
            <a:ext cx="192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Shortage at Miami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5894294" y="4280647"/>
            <a:ext cx="2550458" cy="9502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875060" y="1976718"/>
            <a:ext cx="2877670" cy="125057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Supply &lt; Demand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85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/>
          <a:lstStyle/>
          <a:p>
            <a:pPr marL="0" indent="0" algn="ctr">
              <a:buNone/>
            </a:pP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Transportation Algorithm</a:t>
            </a:r>
          </a:p>
          <a:p>
            <a:pPr marL="0" indent="0" algn="ctr">
              <a:buNone/>
            </a:pPr>
            <a:endParaRPr lang="en-IN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Starting basic feasible solution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Entering variable </a:t>
            </a: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optimality condition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Leaving variable – feasibility condition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40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1"/>
            <a:ext cx="10515600" cy="6345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Cost Matrix of </a:t>
            </a:r>
            <a:r>
              <a:rPr lang="en-IN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SunRay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Transport  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			</a:t>
            </a:r>
            <a:r>
              <a:rPr lang="en-IN" sz="1800" b="1" dirty="0" smtClean="0">
                <a:solidFill>
                  <a:schemeClr val="dk1"/>
                </a:solidFill>
              </a:rPr>
              <a:t>Mill</a:t>
            </a:r>
            <a:endParaRPr lang="en-IN" sz="1800" b="1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Non-artificial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m+n-1 basic variables</a:t>
            </a:r>
          </a:p>
          <a:p>
            <a:pPr marL="0" indent="0">
              <a:buNone/>
            </a:pPr>
            <a:r>
              <a:rPr lang="en-IN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Starting solution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North-West Corner method</a:t>
            </a:r>
            <a:endParaRPr lang="en-IN" sz="2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95675"/>
              </p:ext>
            </p:extLst>
          </p:nvPr>
        </p:nvGraphicFramePr>
        <p:xfrm>
          <a:off x="1462740" y="1377575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0201163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7835625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3370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96011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533393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7343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Supply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98391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endParaRPr lang="en-IN" b="1" dirty="0" smtClean="0"/>
                    </a:p>
                    <a:p>
                      <a:pPr algn="ctr"/>
                      <a:r>
                        <a:rPr lang="en-IN" b="1" dirty="0" smtClean="0"/>
                        <a:t>Silo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035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9610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904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Demand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4935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61704"/>
              </p:ext>
            </p:extLst>
          </p:nvPr>
        </p:nvGraphicFramePr>
        <p:xfrm>
          <a:off x="2139577" y="4673101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798255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4441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11330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07755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8919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3578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Supply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26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6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Demand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019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4343400" y="5217459"/>
            <a:ext cx="1035424" cy="134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526741" y="5298141"/>
            <a:ext cx="0" cy="1882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728447" y="5607424"/>
            <a:ext cx="954741" cy="134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019365" y="5607424"/>
            <a:ext cx="10757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243047" y="5701553"/>
            <a:ext cx="0" cy="1479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037293" y="5047131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20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386480" y="5051613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11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404409" y="5419168"/>
            <a:ext cx="470647" cy="16136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20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408892" y="5800166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18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055222" y="5791201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10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674657" y="5809131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14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4361327" y="5800166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4352363" y="5401237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12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383739" y="5042649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10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037292" y="5450543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9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683621" y="5414684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7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5661210" y="5015755"/>
            <a:ext cx="470647" cy="228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tx1"/>
                </a:solidFill>
              </a:rPr>
              <a:t>2</a:t>
            </a:r>
            <a:endParaRPr lang="en-IN" sz="105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340788" y="5244353"/>
            <a:ext cx="900953" cy="44375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$520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77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/>
          <a:lstStyle/>
          <a:p>
            <a:pPr marL="514350" indent="-514350">
              <a:buFont typeface="+mj-lt"/>
              <a:buAutoNum type="arabicParenR" startAt="2"/>
            </a:pP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Least cost Method</a:t>
            </a:r>
          </a:p>
          <a:p>
            <a:pPr marL="514350" indent="-514350">
              <a:buFont typeface="+mj-lt"/>
              <a:buAutoNum type="arabicParenR" startAt="2"/>
            </a:pP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 startAt="2"/>
            </a:pPr>
            <a:endParaRPr lang="en-IN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 startAt="2"/>
            </a:pP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 startAt="2"/>
            </a:pPr>
            <a:endParaRPr lang="en-IN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169670"/>
              </p:ext>
            </p:extLst>
          </p:nvPr>
        </p:nvGraphicFramePr>
        <p:xfrm>
          <a:off x="1870635" y="1230654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798255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4441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11330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07755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8919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3578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Supply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26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 (start)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 (End)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6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Demand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0193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 flipH="1">
            <a:off x="4074459" y="1922930"/>
            <a:ext cx="726141" cy="43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182035" y="2205318"/>
            <a:ext cx="2245659" cy="349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7772399" y="2245658"/>
            <a:ext cx="147919" cy="174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777318" y="1801906"/>
            <a:ext cx="927847" cy="322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114800" y="1922930"/>
            <a:ext cx="726141" cy="4303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222376" y="2205318"/>
            <a:ext cx="2245659" cy="3496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444753" y="1721225"/>
            <a:ext cx="13447" cy="8337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812740" y="2245658"/>
            <a:ext cx="147919" cy="1748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817659" y="1801906"/>
            <a:ext cx="927847" cy="3227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085293" y="1828800"/>
            <a:ext cx="900953" cy="44375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$475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64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377952"/>
            <a:ext cx="11631706" cy="6059424"/>
          </a:xfrm>
        </p:spPr>
        <p:txBody>
          <a:bodyPr/>
          <a:lstStyle/>
          <a:p>
            <a:pPr marL="514350" indent="-514350">
              <a:buFont typeface="+mj-lt"/>
              <a:buAutoNum type="arabicParenR" startAt="3"/>
            </a:pP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Vogel Approximation Method (VAM)</a:t>
            </a:r>
            <a:endParaRPr lang="en-IN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Row Penalty</a:t>
            </a: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 – 2 = 8       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 – 7 = 2          2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14 – 4 =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2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976869"/>
              </p:ext>
            </p:extLst>
          </p:nvPr>
        </p:nvGraphicFramePr>
        <p:xfrm>
          <a:off x="700742" y="1324783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798255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4441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11330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07755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8919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3578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Supply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26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                 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6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Demand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0193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854" y="1706115"/>
            <a:ext cx="4541914" cy="107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290" y="3763839"/>
            <a:ext cx="334981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Max. of Row &amp; Column penalty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56955" y="4423365"/>
            <a:ext cx="360379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only 1 row/column at a time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8761" y="5024288"/>
            <a:ext cx="3349810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simultaneously supply &amp; demand satisfied, leads to degenerate BFS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75058" y="3334871"/>
            <a:ext cx="900953" cy="44375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$475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59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70965" y="364504"/>
                <a:ext cx="10515600" cy="6345577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IN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Simplex Method Explanation of the Method of Multipliers</a:t>
                </a:r>
              </a:p>
              <a:p>
                <a:pPr marL="0" indent="0">
                  <a:buNone/>
                </a:pPr>
                <a:endParaRPr lang="en-IN" sz="2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 of the transportation problem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 Z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IN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0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IN" sz="2000" b="0" i="0" baseline="-250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0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IN" sz="2000" b="0" i="0" baseline="-250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supply             </a:t>
                </a:r>
                <a:r>
                  <a:rPr lang="en-IN" sz="2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demand</a:t>
                </a:r>
              </a:p>
              <a:p>
                <a:pPr marL="0" indent="0">
                  <a:buNone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unrestricted</a:t>
                </a:r>
              </a:p>
              <a:p>
                <a:pPr marL="0" indent="0">
                  <a:buNone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coefficients of the objective in the primal problem</a:t>
                </a:r>
              </a:p>
              <a:p>
                <a:pPr marL="0" indent="0">
                  <a:buNone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Basic </a:t>
                </a:r>
                <a:r>
                  <a:rPr lang="en-IN" sz="2000" b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b="1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(m+n-1) such equations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Compute </a:t>
                </a:r>
                <a:r>
                  <a:rPr lang="en-IN" sz="2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endParaRPr lang="en-IN" sz="2000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Compute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non-basic variable </a:t>
                </a:r>
                <a:r>
                  <a:rPr lang="en-IN" sz="2000" b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b="1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endParaRPr lang="en-I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965" y="364504"/>
                <a:ext cx="10515600" cy="6345577"/>
              </a:xfrm>
              <a:blipFill>
                <a:blip r:embed="rId2"/>
                <a:stretch>
                  <a:fillRect l="-638" t="-18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2420471" y="3939988"/>
            <a:ext cx="52443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1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6059424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I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Basic </a:t>
                </a:r>
                <a:r>
                  <a:rPr lang="en-IN" sz="2000" b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b="1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en-IN" sz="2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IN" sz="2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Solution</a:t>
                </a:r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                                               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       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                               </a:t>
                </a: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 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buNone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34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                                                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      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6059424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3350"/>
              </p:ext>
            </p:extLst>
          </p:nvPr>
        </p:nvGraphicFramePr>
        <p:xfrm>
          <a:off x="1386158" y="1096183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798255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4441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11330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07755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8919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3578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Supply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26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                 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6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Demand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019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349" y="1436914"/>
            <a:ext cx="4423698" cy="107115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116106" y="5123329"/>
            <a:ext cx="13447" cy="739588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57717" y="5114365"/>
            <a:ext cx="13447" cy="739588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970059" y="5033682"/>
            <a:ext cx="13447" cy="739588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16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2706" y="351057"/>
                <a:ext cx="10515600" cy="605942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="1" baseline="-25000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000" b="1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="1" baseline="-25000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="1" baseline="-25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Non-Basic </a:t>
                </a:r>
                <a:r>
                  <a:rPr lang="en-IN" sz="2000" b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b="1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en-IN" sz="2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Non-Basic                               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000" b="1" baseline="-250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0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="1" baseline="-250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="1" baseline="-250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000" b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x</a:t>
                </a:r>
                <a:r>
                  <a:rPr lang="en-IN" sz="20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</a:t>
                </a:r>
                <a:r>
                  <a:rPr lang="en-IN" sz="20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</a:t>
                </a:r>
                <a:r>
                  <a:rPr lang="en-IN" sz="20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 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-16 </a:t>
                </a:r>
                <a:endParaRPr lang="en-IN" sz="2000" baseline="-25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x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     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</a:p>
              <a:p>
                <a:pPr marL="0" indent="0">
                  <a:buNone/>
                </a:pP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x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</a:p>
              <a:p>
                <a:pPr marL="0" indent="0">
                  <a:buNone/>
                </a:pPr>
                <a:r>
                  <a:rPr lang="en-IN" sz="2000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9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x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x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u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v</a:t>
                </a:r>
                <a:r>
                  <a:rPr lang="en-IN" sz="2000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-9</a:t>
                </a: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</a:t>
                </a:r>
                <a:endParaRPr lang="en-IN" sz="2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2706" y="351057"/>
                <a:ext cx="10515600" cy="6059424"/>
              </a:xfrm>
              <a:blipFill>
                <a:blip r:embed="rId2"/>
                <a:stretch>
                  <a:fillRect t="-1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5163671" y="1976718"/>
            <a:ext cx="13447" cy="64545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217459" y="3294529"/>
            <a:ext cx="0" cy="6723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488272"/>
              </p:ext>
            </p:extLst>
          </p:nvPr>
        </p:nvGraphicFramePr>
        <p:xfrm>
          <a:off x="1488142" y="4582743"/>
          <a:ext cx="6843060" cy="2131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612">
                  <a:extLst>
                    <a:ext uri="{9D8B030D-6E8A-4147-A177-3AD203B41FA5}">
                      <a16:colId xmlns:a16="http://schemas.microsoft.com/office/drawing/2014/main" val="472369378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1429681917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1537738402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728095012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4025466336"/>
                    </a:ext>
                  </a:extLst>
                </a:gridCol>
              </a:tblGrid>
              <a:tr h="536105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9911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25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18156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89142"/>
                  </a:ext>
                </a:extLst>
              </a:tr>
              <a:tr h="578586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87254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990013" y="4840015"/>
            <a:ext cx="551329" cy="2420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</a:rPr>
              <a:t>-16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84942" y="4826569"/>
            <a:ext cx="551329" cy="2420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94964" y="5312464"/>
            <a:ext cx="551329" cy="2420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3117" y="5917431"/>
            <a:ext cx="551329" cy="2420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</a:rPr>
              <a:t>-9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35925" y="5922537"/>
            <a:ext cx="551329" cy="2420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</a:rPr>
              <a:t>-9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2694" y="4585447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320" y="5248821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5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1319" y="5790146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3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60177" y="4186517"/>
            <a:ext cx="86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10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0048" y="4217893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2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45107" y="4222375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4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21189" y="4213411"/>
            <a:ext cx="86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IN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15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94965" y="5917431"/>
            <a:ext cx="551329" cy="2420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</a:rPr>
              <a:t>9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28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91625"/>
              </p:ext>
            </p:extLst>
          </p:nvPr>
        </p:nvGraphicFramePr>
        <p:xfrm>
          <a:off x="1574800" y="760007"/>
          <a:ext cx="547444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612">
                  <a:extLst>
                    <a:ext uri="{9D8B030D-6E8A-4147-A177-3AD203B41FA5}">
                      <a16:colId xmlns:a16="http://schemas.microsoft.com/office/drawing/2014/main" val="472369378"/>
                    </a:ext>
                  </a:extLst>
                </a:gridCol>
                <a:gridCol w="1426882">
                  <a:extLst>
                    <a:ext uri="{9D8B030D-6E8A-4147-A177-3AD203B41FA5}">
                      <a16:colId xmlns:a16="http://schemas.microsoft.com/office/drawing/2014/main" val="1429681917"/>
                    </a:ext>
                  </a:extLst>
                </a:gridCol>
                <a:gridCol w="1310342">
                  <a:extLst>
                    <a:ext uri="{9D8B030D-6E8A-4147-A177-3AD203B41FA5}">
                      <a16:colId xmlns:a16="http://schemas.microsoft.com/office/drawing/2014/main" val="1537738402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72809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5 - Ɵ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10 + Ɵ</a:t>
                      </a:r>
                    </a:p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9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5 -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5 +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1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10 -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8914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 flipH="1">
            <a:off x="2608729" y="954741"/>
            <a:ext cx="605118" cy="1344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245659" y="1075765"/>
            <a:ext cx="1" cy="1008529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568388" y="2232212"/>
            <a:ext cx="3375212" cy="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61012" y="1586753"/>
            <a:ext cx="1976717" cy="1344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671047" y="1075765"/>
            <a:ext cx="0" cy="389964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320118" y="1680882"/>
            <a:ext cx="0" cy="363071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54941" y="2971800"/>
                <a:ext cx="287767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5 – Ɵ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b="1" dirty="0" smtClean="0"/>
              </a:p>
              <a:p>
                <a:r>
                  <a:rPr lang="en-IN" b="1" dirty="0" smtClean="0"/>
                  <a:t>10 </a:t>
                </a:r>
                <a:r>
                  <a:rPr lang="en-IN" b="1" dirty="0"/>
                  <a:t>– Ɵ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b="1" dirty="0" smtClean="0"/>
              </a:p>
              <a:p>
                <a:r>
                  <a:rPr lang="en-IN" b="1" dirty="0" smtClean="0"/>
                  <a:t> </a:t>
                </a:r>
              </a:p>
              <a:p>
                <a:r>
                  <a:rPr lang="en-IN" b="1" dirty="0"/>
                  <a:t> </a:t>
                </a:r>
                <a:r>
                  <a:rPr lang="en-IN" b="1" dirty="0" smtClean="0"/>
                  <a:t>     Ɵ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IN" b="1" dirty="0" smtClean="0"/>
                  <a:t>   ; </a:t>
                </a:r>
                <a:r>
                  <a:rPr lang="en-IN" b="1" dirty="0" err="1" smtClean="0"/>
                  <a:t>Ɵ</a:t>
                </a:r>
                <a:r>
                  <a:rPr lang="en-IN" b="1" baseline="-25000" dirty="0" err="1" smtClean="0"/>
                  <a:t>max</a:t>
                </a:r>
                <a:r>
                  <a:rPr lang="en-IN" b="1" dirty="0" smtClean="0"/>
                  <a:t> = 5</a:t>
                </a:r>
                <a:endParaRPr lang="en-IN" b="1" dirty="0"/>
              </a:p>
              <a:p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941" y="2971800"/>
                <a:ext cx="2877671" cy="1754326"/>
              </a:xfrm>
              <a:prstGeom prst="rect">
                <a:avLst/>
              </a:prstGeom>
              <a:blipFill>
                <a:blip r:embed="rId2"/>
                <a:stretch>
                  <a:fillRect l="-1695" t="-2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20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                                         </a:t>
            </a:r>
            <a:r>
              <a:rPr lang="en-IN" b="1" dirty="0" smtClean="0">
                <a:solidFill>
                  <a:srgbClr val="C00000"/>
                </a:solidFill>
              </a:rPr>
              <a:t>Ɵ = 10</a:t>
            </a:r>
            <a:endParaRPr lang="en-I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27758"/>
              </p:ext>
            </p:extLst>
          </p:nvPr>
        </p:nvGraphicFramePr>
        <p:xfrm>
          <a:off x="1574800" y="760007"/>
          <a:ext cx="547444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612">
                  <a:extLst>
                    <a:ext uri="{9D8B030D-6E8A-4147-A177-3AD203B41FA5}">
                      <a16:colId xmlns:a16="http://schemas.microsoft.com/office/drawing/2014/main" val="472369378"/>
                    </a:ext>
                  </a:extLst>
                </a:gridCol>
                <a:gridCol w="1426882">
                  <a:extLst>
                    <a:ext uri="{9D8B030D-6E8A-4147-A177-3AD203B41FA5}">
                      <a16:colId xmlns:a16="http://schemas.microsoft.com/office/drawing/2014/main" val="1429681917"/>
                    </a:ext>
                  </a:extLst>
                </a:gridCol>
                <a:gridCol w="1310342">
                  <a:extLst>
                    <a:ext uri="{9D8B030D-6E8A-4147-A177-3AD203B41FA5}">
                      <a16:colId xmlns:a16="http://schemas.microsoft.com/office/drawing/2014/main" val="1537738402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72809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15 - Ɵ</a:t>
                      </a:r>
                    </a:p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9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0 +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10 -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Ɵ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1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89142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2433918" y="1075765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-9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87470" y="1089212"/>
            <a:ext cx="546847" cy="25997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-16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0000" y="2088777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-9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51612" y="2093259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-9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02541" y="1703295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-6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684494" y="1008529"/>
            <a:ext cx="13448" cy="470648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047565" y="1613647"/>
            <a:ext cx="1936376" cy="1344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061012" y="914400"/>
            <a:ext cx="2003612" cy="1344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373906" y="1062318"/>
            <a:ext cx="0" cy="36307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713691"/>
              </p:ext>
            </p:extLst>
          </p:nvPr>
        </p:nvGraphicFramePr>
        <p:xfrm>
          <a:off x="1552388" y="3090831"/>
          <a:ext cx="547444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612">
                  <a:extLst>
                    <a:ext uri="{9D8B030D-6E8A-4147-A177-3AD203B41FA5}">
                      <a16:colId xmlns:a16="http://schemas.microsoft.com/office/drawing/2014/main" val="472369378"/>
                    </a:ext>
                  </a:extLst>
                </a:gridCol>
                <a:gridCol w="1426882">
                  <a:extLst>
                    <a:ext uri="{9D8B030D-6E8A-4147-A177-3AD203B41FA5}">
                      <a16:colId xmlns:a16="http://schemas.microsoft.com/office/drawing/2014/main" val="1429681917"/>
                    </a:ext>
                  </a:extLst>
                </a:gridCol>
                <a:gridCol w="1310342">
                  <a:extLst>
                    <a:ext uri="{9D8B030D-6E8A-4147-A177-3AD203B41FA5}">
                      <a16:colId xmlns:a16="http://schemas.microsoft.com/office/drawing/2014/main" val="1537738402"/>
                    </a:ext>
                  </a:extLst>
                </a:gridCol>
                <a:gridCol w="1368612">
                  <a:extLst>
                    <a:ext uri="{9D8B030D-6E8A-4147-A177-3AD203B41FA5}">
                      <a16:colId xmlns:a16="http://schemas.microsoft.com/office/drawing/2014/main" val="72809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9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10</a:t>
                      </a:r>
                      <a:endParaRPr lang="en-IN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1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89142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303930" y="3406588"/>
            <a:ext cx="587188" cy="25101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-13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65058" y="3420036"/>
            <a:ext cx="546847" cy="25997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-16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87588" y="4419601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-5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029200" y="4424083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-5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286001" y="4034118"/>
            <a:ext cx="564776" cy="2554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-10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39753" y="1080247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689" y="4048620"/>
            <a:ext cx="470647" cy="2554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-4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94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128" y="2758701"/>
            <a:ext cx="10515600" cy="1325563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Assignment Method</a:t>
            </a: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7755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859" y="472081"/>
            <a:ext cx="10515600" cy="6059424"/>
          </a:xfrm>
        </p:spPr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2" name="Rectangle 1"/>
          <p:cNvSpPr/>
          <p:nvPr/>
        </p:nvSpPr>
        <p:spPr>
          <a:xfrm>
            <a:off x="2944906" y="1344706"/>
            <a:ext cx="2554941" cy="188258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039035" y="900953"/>
            <a:ext cx="2447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2    3 ………...... 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0129" y="1277471"/>
            <a:ext cx="349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528047" y="1842247"/>
            <a:ext cx="0" cy="115644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2316" y="2030507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Workers</a:t>
            </a: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3951" y="784412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28765" y="1255059"/>
            <a:ext cx="349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6176683" y="1819835"/>
            <a:ext cx="0" cy="115644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76283" y="3366248"/>
            <a:ext cx="2447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1    1 ………...... 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8174" y="3343835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30352" y="3294529"/>
            <a:ext cx="3751729" cy="1075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Special case of Transportation model</a:t>
            </a:r>
            <a:endParaRPr lang="en-I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65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1"/>
            <a:ext cx="10515600" cy="631868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Hungarian Method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935571"/>
              </p:ext>
            </p:extLst>
          </p:nvPr>
        </p:nvGraphicFramePr>
        <p:xfrm>
          <a:off x="2408518" y="1351678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023078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756493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86283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86683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Mow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Paint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Wash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754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****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7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****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5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****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57029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45706" y="1707776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IN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9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36741" y="2034988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IN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9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14329" y="2415988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IN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8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948452"/>
              </p:ext>
            </p:extLst>
          </p:nvPr>
        </p:nvGraphicFramePr>
        <p:xfrm>
          <a:off x="2433919" y="3301501"/>
          <a:ext cx="654871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905">
                  <a:extLst>
                    <a:ext uri="{9D8B030D-6E8A-4147-A177-3AD203B41FA5}">
                      <a16:colId xmlns:a16="http://schemas.microsoft.com/office/drawing/2014/main" val="2350851049"/>
                    </a:ext>
                  </a:extLst>
                </a:gridCol>
                <a:gridCol w="2182905">
                  <a:extLst>
                    <a:ext uri="{9D8B030D-6E8A-4147-A177-3AD203B41FA5}">
                      <a16:colId xmlns:a16="http://schemas.microsoft.com/office/drawing/2014/main" val="4288328646"/>
                    </a:ext>
                  </a:extLst>
                </a:gridCol>
                <a:gridCol w="2182905">
                  <a:extLst>
                    <a:ext uri="{9D8B030D-6E8A-4147-A177-3AD203B41FA5}">
                      <a16:colId xmlns:a16="http://schemas.microsoft.com/office/drawing/2014/main" val="1173578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25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67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87766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31777" y="4468906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IN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91953" y="4500283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IN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64506" y="4473389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IN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607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707599"/>
              </p:ext>
            </p:extLst>
          </p:nvPr>
        </p:nvGraphicFramePr>
        <p:xfrm>
          <a:off x="757518" y="1346013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129980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08705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9843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751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05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8361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62919" y="1371600"/>
            <a:ext cx="363070" cy="29583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1166" y="1739153"/>
            <a:ext cx="363070" cy="29583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50190" y="2115670"/>
            <a:ext cx="363070" cy="29583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7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feasible assignment</a:t>
            </a:r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923485"/>
              </p:ext>
            </p:extLst>
          </p:nvPr>
        </p:nvGraphicFramePr>
        <p:xfrm>
          <a:off x="2032000" y="1546412"/>
          <a:ext cx="438224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930">
                  <a:extLst>
                    <a:ext uri="{9D8B030D-6E8A-4147-A177-3AD203B41FA5}">
                      <a16:colId xmlns:a16="http://schemas.microsoft.com/office/drawing/2014/main" val="3866173536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838119901"/>
                    </a:ext>
                  </a:extLst>
                </a:gridCol>
                <a:gridCol w="1250577">
                  <a:extLst>
                    <a:ext uri="{9D8B030D-6E8A-4147-A177-3AD203B41FA5}">
                      <a16:colId xmlns:a16="http://schemas.microsoft.com/office/drawing/2014/main" val="2575794141"/>
                    </a:ext>
                  </a:extLst>
                </a:gridCol>
                <a:gridCol w="1089211">
                  <a:extLst>
                    <a:ext uri="{9D8B030D-6E8A-4147-A177-3AD203B41FA5}">
                      <a16:colId xmlns:a16="http://schemas.microsoft.com/office/drawing/2014/main" val="3159075189"/>
                    </a:ext>
                  </a:extLst>
                </a:gridCol>
              </a:tblGrid>
              <a:tr h="350918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53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87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2103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20471" y="1143000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46929" y="1147483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00282" y="1165412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0517" y="1178859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91235" y="1510553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2270" y="1905000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73306" y="2272553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9858" y="2649071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91650"/>
              </p:ext>
            </p:extLst>
          </p:nvPr>
        </p:nvGraphicFramePr>
        <p:xfrm>
          <a:off x="1996141" y="3957918"/>
          <a:ext cx="438224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930">
                  <a:extLst>
                    <a:ext uri="{9D8B030D-6E8A-4147-A177-3AD203B41FA5}">
                      <a16:colId xmlns:a16="http://schemas.microsoft.com/office/drawing/2014/main" val="3866173536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838119901"/>
                    </a:ext>
                  </a:extLst>
                </a:gridCol>
                <a:gridCol w="1250577">
                  <a:extLst>
                    <a:ext uri="{9D8B030D-6E8A-4147-A177-3AD203B41FA5}">
                      <a16:colId xmlns:a16="http://schemas.microsoft.com/office/drawing/2014/main" val="2575794141"/>
                    </a:ext>
                  </a:extLst>
                </a:gridCol>
                <a:gridCol w="1089211">
                  <a:extLst>
                    <a:ext uri="{9D8B030D-6E8A-4147-A177-3AD203B41FA5}">
                      <a16:colId xmlns:a16="http://schemas.microsoft.com/office/drawing/2014/main" val="3159075189"/>
                    </a:ext>
                  </a:extLst>
                </a:gridCol>
              </a:tblGrid>
              <a:tr h="350918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53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87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2103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384612" y="3554506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11070" y="3558989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64423" y="3576918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4658" y="3590365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5376" y="3922059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46411" y="4316506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37447" y="4684059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3999" y="5060577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95882" y="4208929"/>
            <a:ext cx="363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Subtract 1 from each uncovered element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2501153" y="3926541"/>
            <a:ext cx="0" cy="15867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3"/>
            <a:endCxn id="19" idx="3"/>
          </p:cNvCxnSpPr>
          <p:nvPr/>
        </p:nvCxnSpPr>
        <p:spPr>
          <a:xfrm>
            <a:off x="1990164" y="450476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138082" y="4491318"/>
            <a:ext cx="4208930" cy="40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178424" y="5230906"/>
            <a:ext cx="4222376" cy="40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348317" y="4719917"/>
            <a:ext cx="416859" cy="32273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02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0594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844771"/>
              </p:ext>
            </p:extLst>
          </p:nvPr>
        </p:nvGraphicFramePr>
        <p:xfrm>
          <a:off x="2032000" y="1546412"/>
          <a:ext cx="438224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930">
                  <a:extLst>
                    <a:ext uri="{9D8B030D-6E8A-4147-A177-3AD203B41FA5}">
                      <a16:colId xmlns:a16="http://schemas.microsoft.com/office/drawing/2014/main" val="3866173536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838119901"/>
                    </a:ext>
                  </a:extLst>
                </a:gridCol>
                <a:gridCol w="1250577">
                  <a:extLst>
                    <a:ext uri="{9D8B030D-6E8A-4147-A177-3AD203B41FA5}">
                      <a16:colId xmlns:a16="http://schemas.microsoft.com/office/drawing/2014/main" val="2575794141"/>
                    </a:ext>
                  </a:extLst>
                </a:gridCol>
                <a:gridCol w="1089211">
                  <a:extLst>
                    <a:ext uri="{9D8B030D-6E8A-4147-A177-3AD203B41FA5}">
                      <a16:colId xmlns:a16="http://schemas.microsoft.com/office/drawing/2014/main" val="3159075189"/>
                    </a:ext>
                  </a:extLst>
                </a:gridCol>
              </a:tblGrid>
              <a:tr h="350918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53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87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2103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20471" y="1143000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46929" y="1147483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00282" y="1165412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0517" y="1178859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91235" y="1510553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2270" y="1905000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73306" y="2272553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9858" y="2649071"/>
            <a:ext cx="443753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4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26" name="Straight Connector 25"/>
          <p:cNvCxnSpPr>
            <a:stCxn id="19" idx="3"/>
            <a:endCxn id="19" idx="3"/>
          </p:cNvCxnSpPr>
          <p:nvPr/>
        </p:nvCxnSpPr>
        <p:spPr>
          <a:xfrm>
            <a:off x="1990164" y="450476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/>
          <p:cNvSpPr txBox="1">
            <a:spLocks/>
          </p:cNvSpPr>
          <p:nvPr/>
        </p:nvSpPr>
        <p:spPr>
          <a:xfrm>
            <a:off x="986117" y="351058"/>
            <a:ext cx="10515600" cy="6059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000" dirty="0"/>
          </a:p>
        </p:txBody>
      </p:sp>
      <p:sp>
        <p:nvSpPr>
          <p:cNvPr id="9" name="Rectangle 8"/>
          <p:cNvSpPr/>
          <p:nvPr/>
        </p:nvSpPr>
        <p:spPr>
          <a:xfrm>
            <a:off x="2380130" y="1559859"/>
            <a:ext cx="430305" cy="3092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22694" y="1927413"/>
            <a:ext cx="430305" cy="3092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370730" y="2294965"/>
            <a:ext cx="430305" cy="3092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701554" y="2675965"/>
            <a:ext cx="430305" cy="3092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34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6859"/>
                <a:ext cx="10515600" cy="591670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Simplex Explanation</a:t>
                </a:r>
              </a:p>
              <a:p>
                <a:pPr marL="0" indent="0">
                  <a:buNone/>
                </a:pPr>
                <a:endParaRPr lang="en-IN" sz="2000" dirty="0" smtClean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IN" sz="20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IN" sz="2000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  <m:r>
                              <m:rPr>
                                <m:nor/>
                              </m:rPr>
                              <a:rPr lang="en-IN" sz="2000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xij</m:t>
                            </m:r>
                            <m:r>
                              <m:rPr>
                                <m:nor/>
                              </m:rPr>
                              <a:rPr lang="en-IN" sz="2000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IN" sz="2000" i="1" dirty="0" smtClean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xij</m:t>
                        </m:r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                  </a:t>
                </a:r>
                <a:r>
                  <a:rPr lang="en-IN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1,2,………………n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ij</m:t>
                        </m:r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           j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1,2,………………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ij</m:t>
                    </m:r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{0,1}</a:t>
                </a: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IN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c’</a:t>
                </a:r>
                <a:r>
                  <a:rPr lang="en-IN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p</a:t>
                </a:r>
                <a:r>
                  <a:rPr lang="en-IN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en-IN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IN" sz="200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</m:e>
                        </m:nary>
                      </m:e>
                    </m:nary>
                  </m:oMath>
                </a14:m>
                <a:r>
                  <a:rPr lang="en-IN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IN" sz="200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</m:e>
                        </m:nary>
                      </m:e>
                    </m:nary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ij</m:t>
                        </m:r>
                      </m:e>
                    </m:nary>
                  </m:oMath>
                </a14:m>
                <a:r>
                  <a:rPr lang="en-IN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ij</m:t>
                        </m:r>
                      </m:e>
                    </m:nary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=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IN" sz="200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IN" sz="20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</m:e>
                        </m:nary>
                      </m:e>
                    </m:nary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IN" sz="20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</m:nary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6859"/>
                <a:ext cx="10515600" cy="5916706"/>
              </a:xfrm>
              <a:blipFill>
                <a:blip r:embed="rId2"/>
                <a:stretch>
                  <a:fillRect l="-3594" t="-18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 flipV="1">
            <a:off x="4666129" y="5069541"/>
            <a:ext cx="1223683" cy="13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73706" y="5096435"/>
            <a:ext cx="188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constant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14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425E511BB91D4C9767C20E748AB7E9" ma:contentTypeVersion="4" ma:contentTypeDescription="Create a new document." ma:contentTypeScope="" ma:versionID="51ff205111fa0dd9447dc2f61e9e8ecf">
  <xsd:schema xmlns:xsd="http://www.w3.org/2001/XMLSchema" xmlns:xs="http://www.w3.org/2001/XMLSchema" xmlns:p="http://schemas.microsoft.com/office/2006/metadata/properties" xmlns:ns2="d41da0ac-92b9-4cfd-9975-d34b7e2d1d6d" targetNamespace="http://schemas.microsoft.com/office/2006/metadata/properties" ma:root="true" ma:fieldsID="680504199317ce7e14acf83ee43d6a12" ns2:_="">
    <xsd:import namespace="d41da0ac-92b9-4cfd-9975-d34b7e2d1d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da0ac-92b9-4cfd-9975-d34b7e2d1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8E9AFE-71EC-414E-A8BB-C980DAB6EA47}"/>
</file>

<file path=customXml/itemProps2.xml><?xml version="1.0" encoding="utf-8"?>
<ds:datastoreItem xmlns:ds="http://schemas.openxmlformats.org/officeDocument/2006/customXml" ds:itemID="{28FBF478-77E8-4031-AC0B-348513EE5181}"/>
</file>

<file path=customXml/itemProps3.xml><?xml version="1.0" encoding="utf-8"?>
<ds:datastoreItem xmlns:ds="http://schemas.openxmlformats.org/officeDocument/2006/customXml" ds:itemID="{420B544E-58FD-4645-AF2F-F067C78D4245}"/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789</Words>
  <Application>Microsoft Office PowerPoint</Application>
  <PresentationFormat>Widescreen</PresentationFormat>
  <Paragraphs>504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Transportation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Assignment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 Model</dc:title>
  <dc:creator>Neha</dc:creator>
  <cp:lastModifiedBy>Goutam Sen</cp:lastModifiedBy>
  <cp:revision>65</cp:revision>
  <dcterms:created xsi:type="dcterms:W3CDTF">2020-09-27T19:11:57Z</dcterms:created>
  <dcterms:modified xsi:type="dcterms:W3CDTF">2020-10-15T02:54:51Z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0x0101006C425E511BB91D4C9767C20E748AB7E9</vt:lpwstr>
  </property>
</Properties>
</file>