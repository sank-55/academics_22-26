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38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58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37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71" r:id="rId15"/>
    <p:sldId id="272" r:id="rId16"/>
    <p:sldId id="269" r:id="rId17"/>
    <p:sldId id="273" r:id="rId18"/>
    <p:sldId id="270" r:id="rId19"/>
    <p:sldId id="274" r:id="rId20"/>
    <p:sldId id="275" r:id="rId21"/>
    <p:sldId id="276" r:id="rId22"/>
    <p:sldId id="277" r:id="rId23"/>
    <p:sldId id="279" r:id="rId24"/>
    <p:sldId id="278" r:id="rId25"/>
    <p:sldId id="280" r:id="rId26"/>
    <p:sldId id="281" r:id="rId27"/>
    <p:sldId id="294" r:id="rId28"/>
    <p:sldId id="293" r:id="rId29"/>
    <p:sldId id="292" r:id="rId30"/>
    <p:sldId id="295" r:id="rId31"/>
    <p:sldId id="296" r:id="rId32"/>
    <p:sldId id="291" r:id="rId33"/>
    <p:sldId id="290" r:id="rId34"/>
    <p:sldId id="322" r:id="rId35"/>
    <p:sldId id="289" r:id="rId36"/>
    <p:sldId id="297" r:id="rId37"/>
    <p:sldId id="298" r:id="rId38"/>
    <p:sldId id="288" r:id="rId39"/>
    <p:sldId id="299" r:id="rId40"/>
    <p:sldId id="286" r:id="rId41"/>
    <p:sldId id="300" r:id="rId42"/>
    <p:sldId id="323" r:id="rId43"/>
    <p:sldId id="285" r:id="rId44"/>
    <p:sldId id="301" r:id="rId45"/>
    <p:sldId id="303" r:id="rId46"/>
    <p:sldId id="304" r:id="rId47"/>
    <p:sldId id="305" r:id="rId48"/>
    <p:sldId id="306" r:id="rId49"/>
    <p:sldId id="313" r:id="rId50"/>
    <p:sldId id="312" r:id="rId51"/>
    <p:sldId id="311" r:id="rId52"/>
    <p:sldId id="310" r:id="rId53"/>
    <p:sldId id="309" r:id="rId54"/>
    <p:sldId id="316" r:id="rId55"/>
    <p:sldId id="317" r:id="rId56"/>
    <p:sldId id="318" r:id="rId57"/>
    <p:sldId id="319" r:id="rId58"/>
    <p:sldId id="320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5" autoAdjust="0"/>
    <p:restoredTop sz="94660"/>
  </p:normalViewPr>
  <p:slideViewPr>
    <p:cSldViewPr snapToGrid="0">
      <p:cViewPr varScale="1">
        <p:scale>
          <a:sx n="89" d="100"/>
          <a:sy n="89" d="100"/>
        </p:scale>
        <p:origin x="-138" y="-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customXml" Target="../customXml/item3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54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14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505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30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8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75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75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56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35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19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86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EEA37-9C79-4896-B59D-3ED22F75B44C}" type="datetimeFigureOut">
              <a:rPr lang="en-IN" smtClean="0"/>
              <a:pPr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2388-835D-4DF4-9690-5C11BD9750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6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Linear Programming and Simplex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96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 for optimality 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- Feasibility vs Optimality</a:t>
            </a: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is important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- Input to the math model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Formulating a Mathematical Model</a:t>
            </a:r>
            <a:endParaRPr lang="en-IN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variables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function (Max/Min)   </a:t>
            </a:r>
            <a:r>
              <a:rPr lang="en-IN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Measure of performance</a:t>
            </a:r>
            <a:endParaRPr lang="en-I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             Sensitivity Analysis (rough estimate of parameters)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170176" y="5096256"/>
            <a:ext cx="48768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91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2752"/>
            <a:ext cx="10515600" cy="5494211"/>
          </a:xfrm>
        </p:spPr>
        <p:txBody>
          <a:bodyPr>
            <a:norm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validation    (Retrospective test, small instances)</a:t>
            </a: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enrichment  (Precision/tractability)</a:t>
            </a: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is more important than solution algorithm</a:t>
            </a: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Optimizing vs Satisfying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(Satisfactory &amp; Optimizing)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Exact methods     Heuristics or Metaheuristics</a:t>
            </a:r>
          </a:p>
          <a:p>
            <a:pPr marL="0" indent="0">
              <a:buNone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analysis / Post optimality analysis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classes: P, NP, NP-complete, NP-hard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536192" y="3033617"/>
            <a:ext cx="12192" cy="79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048000" y="3429857"/>
            <a:ext cx="0" cy="39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13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41410"/>
              </p:ext>
            </p:extLst>
          </p:nvPr>
        </p:nvGraphicFramePr>
        <p:xfrm>
          <a:off x="838200" y="1825625"/>
          <a:ext cx="935431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xmlns="" val="32400029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4097164764"/>
                    </a:ext>
                  </a:extLst>
                </a:gridCol>
                <a:gridCol w="2453640">
                  <a:extLst>
                    <a:ext uri="{9D8B030D-6E8A-4147-A177-3AD203B41FA5}">
                      <a16:colId xmlns:a16="http://schemas.microsoft.com/office/drawing/2014/main" xmlns="" val="2397792359"/>
                    </a:ext>
                  </a:extLst>
                </a:gridCol>
                <a:gridCol w="2694432">
                  <a:extLst>
                    <a:ext uri="{9D8B030D-6E8A-4147-A177-3AD203B41FA5}">
                      <a16:colId xmlns:a16="http://schemas.microsoft.com/office/drawing/2014/main" xmlns="" val="5901077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Plant</a:t>
                      </a:r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Production times per batch (hrs)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Production time available per week (hrs)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8549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Product 1 (</a:t>
                      </a:r>
                      <a:r>
                        <a:rPr lang="en-IN" b="1" dirty="0" err="1" smtClean="0"/>
                        <a:t>Rosgulla</a:t>
                      </a:r>
                      <a:r>
                        <a:rPr lang="en-IN" b="1" dirty="0" smtClean="0"/>
                        <a:t>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Product 2 (Son </a:t>
                      </a:r>
                      <a:r>
                        <a:rPr lang="en-IN" b="1" dirty="0" err="1" smtClean="0"/>
                        <a:t>Papdi</a:t>
                      </a:r>
                      <a:r>
                        <a:rPr lang="en-IN" b="1" dirty="0" smtClean="0"/>
                        <a:t>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24055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b="1" dirty="0" smtClean="0"/>
                        <a:t>1 (</a:t>
                      </a:r>
                      <a:r>
                        <a:rPr lang="en-IN" b="1" dirty="0" err="1" smtClean="0"/>
                        <a:t>chana</a:t>
                      </a:r>
                      <a:r>
                        <a:rPr lang="en-IN" b="1" dirty="0" smtClean="0"/>
                        <a:t>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13691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b="1" dirty="0" smtClean="0"/>
                        <a:t>2 (</a:t>
                      </a:r>
                      <a:r>
                        <a:rPr lang="en-IN" b="1" dirty="0" err="1" smtClean="0"/>
                        <a:t>Besan</a:t>
                      </a:r>
                      <a:r>
                        <a:rPr lang="en-IN" b="1" dirty="0" smtClean="0"/>
                        <a:t>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21130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b="1" dirty="0" smtClean="0"/>
                        <a:t>3 (Sugar &amp; assembly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08885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04351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Profit per batch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$ 3000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$5000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5524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585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16992"/>
                <a:ext cx="10515600" cy="585997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number of batches of product 1 per week</a:t>
                </a:r>
              </a:p>
              <a:p>
                <a:pPr marL="0" indent="0" algn="just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number of batches of product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week</a:t>
                </a:r>
              </a:p>
              <a:p>
                <a:pPr marL="0" indent="0" algn="just">
                  <a:buNone/>
                </a:pPr>
                <a:endParaRPr lang="en-I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Z = 3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+ 5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I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3 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+ 5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 1: Aluminium frame and hardware</a:t>
                </a:r>
                <a:endParaRPr lang="en-IN" sz="16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 to:                                                         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 2: Wood frame  </a:t>
                </a:r>
              </a:p>
              <a:p>
                <a:pPr marL="0" indent="0" algn="just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6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                                                    </a:t>
                </a:r>
                <a:r>
                  <a:rPr lang="en-IN" sz="16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Plant 3: Glass and assemble</a:t>
                </a:r>
              </a:p>
              <a:p>
                <a:pPr marL="0" indent="0" algn="just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2x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6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12</a:t>
                </a:r>
              </a:p>
              <a:p>
                <a:pPr marL="0" indent="0" algn="just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3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6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18</a:t>
                </a:r>
              </a:p>
              <a:p>
                <a:pPr marL="0" indent="0" algn="just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6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;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6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</a:p>
              <a:p>
                <a:pPr marL="0" indent="0" algn="just">
                  <a:buNone/>
                </a:pPr>
                <a:endParaRPr lang="en-IN" sz="16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16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16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16992"/>
                <a:ext cx="10515600" cy="5859971"/>
              </a:xfrm>
              <a:blipFill rotWithShape="1">
                <a:blip r:embed="rId3"/>
                <a:stretch>
                  <a:fillRect l="-348" t="-7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755478"/>
              </p:ext>
            </p:extLst>
          </p:nvPr>
        </p:nvGraphicFramePr>
        <p:xfrm>
          <a:off x="4843018" y="2510917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6" name="Equation" r:id="rId4" imgW="114120" imgH="177480" progId="">
                  <p:embed/>
                </p:oleObj>
              </mc:Choice>
              <mc:Fallback>
                <p:oleObj name="Equation" r:id="rId4" imgW="114120" imgH="177480" progId="">
                  <p:embed/>
                  <p:pic>
                    <p:nvPicPr>
                      <p:cNvPr id="0" name="Picture 1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3018" y="2510917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4579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404" y="559200"/>
            <a:ext cx="10515600" cy="6211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Solution</a:t>
            </a: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 = 36                                        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9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 = 20                                                                                                                  slope</a:t>
            </a: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6              (2,6)                                              2x</a:t>
            </a:r>
            <a:r>
              <a:rPr lang="en-I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 = 10</a:t>
            </a:r>
          </a:p>
          <a:p>
            <a:pPr marL="0" indent="0">
              <a:buNone/>
            </a:pPr>
            <a:endParaRPr lang="en-IN" sz="2000" b="1" u="sng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2</a:t>
            </a: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3x</a:t>
            </a:r>
            <a:r>
              <a:rPr lang="en-I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+ 2x</a:t>
            </a:r>
            <a:r>
              <a:rPr lang="en-I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18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2          4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3938954" y="1110410"/>
            <a:ext cx="938" cy="50665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3279648" y="5507776"/>
            <a:ext cx="6483330" cy="449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475914" y="3643686"/>
            <a:ext cx="2760697" cy="23845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01232" y="1676536"/>
            <a:ext cx="44958" cy="39771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945519" y="2206048"/>
            <a:ext cx="2442474" cy="38221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475914" y="2910123"/>
            <a:ext cx="3769526" cy="31399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895344" y="3411569"/>
            <a:ext cx="497152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4754880" y="1969477"/>
            <a:ext cx="6463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3945519" y="3411569"/>
            <a:ext cx="809361" cy="4711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3973655" y="3587730"/>
            <a:ext cx="916568" cy="5165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3956921" y="3735507"/>
            <a:ext cx="1039602" cy="5829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3936903" y="3941082"/>
            <a:ext cx="1127203" cy="6034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3966035" y="4099363"/>
            <a:ext cx="1179547" cy="6299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3966035" y="4242186"/>
            <a:ext cx="1305892" cy="7208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3959029" y="4478369"/>
            <a:ext cx="1464682" cy="7829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3983502" y="4749203"/>
            <a:ext cx="1415298" cy="7810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419571" y="4978321"/>
            <a:ext cx="1024421" cy="5718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4795471" y="5225082"/>
            <a:ext cx="664229" cy="3101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3137095" y="2051055"/>
            <a:ext cx="4674929" cy="399904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>
            <a:off x="8288772" y="3411569"/>
            <a:ext cx="12867" cy="5295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>
            <a:off x="5344954" y="5476581"/>
            <a:ext cx="655452" cy="4571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4169342" y="6134263"/>
            <a:ext cx="2508738" cy="3938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Feasible region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8069257" y="954230"/>
            <a:ext cx="2696571" cy="1330220"/>
          </a:xfrm>
          <a:prstGeom prst="roundRect">
            <a:avLst/>
          </a:prstGeom>
          <a:solidFill>
            <a:schemeClr val="accent2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= 3x</a:t>
            </a:r>
            <a:r>
              <a:rPr lang="en-IN" sz="20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+ 5x</a:t>
            </a:r>
            <a:r>
              <a:rPr lang="en-IN" sz="20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- </a:t>
            </a:r>
            <a:r>
              <a:rPr lang="en-IN" sz="20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3/5</a:t>
            </a:r>
            <a:r>
              <a:rPr lang="en-IN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+ 1/5 Z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Straight Arrow Connector 84"/>
          <p:cNvCxnSpPr/>
          <p:nvPr/>
        </p:nvCxnSpPr>
        <p:spPr>
          <a:xfrm flipH="1" flipV="1">
            <a:off x="9275064" y="2137693"/>
            <a:ext cx="614524" cy="4929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9031458" y="2051055"/>
            <a:ext cx="38608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83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646176"/>
                <a:ext cx="10515600" cy="55307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18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form</a:t>
                </a:r>
                <a:endParaRPr lang="en-IN" sz="1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Z = c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+……..+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endParaRPr lang="en-IN" sz="18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 to:  </a:t>
                </a:r>
              </a:p>
              <a:p>
                <a:pPr marL="0" indent="0">
                  <a:buNone/>
                </a:pP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a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a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+…………+ a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1n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1n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8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-IN" sz="1800" b="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</a:t>
                </a:r>
                <a:r>
                  <a:rPr lang="en-IN" sz="18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IN" sz="1800" b="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IN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……..         ……..           ……………….    ……….   ..  …</a:t>
                </a:r>
                <a:endParaRPr lang="en-IN" sz="1800" b="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m2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+…………+ 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mn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</a:p>
              <a:p>
                <a:pPr marL="0" indent="0">
                  <a:buNone/>
                </a:pPr>
                <a:endParaRPr lang="en-IN" sz="1800" b="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x</a:t>
                </a:r>
                <a:r>
                  <a:rPr lang="en-IN" sz="18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,……,</a:t>
                </a:r>
                <a:r>
                  <a:rPr lang="en-IN" sz="18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1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800" b="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</a:p>
              <a:p>
                <a:pPr marL="0" indent="0">
                  <a:buNone/>
                </a:pPr>
                <a:endParaRPr lang="en-IN" sz="18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Other forms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  </m:t>
                    </m:r>
                    <m:r>
                      <m:rPr>
                        <m:sty m:val="p"/>
                      </m:rPr>
                      <a:rPr lang="en-IN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Constraint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   Constraint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Non-negativity constraint</a:t>
                </a: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46176"/>
                <a:ext cx="10515600" cy="5530787"/>
              </a:xfrm>
              <a:blipFill>
                <a:blip r:embed="rId2" cstate="print"/>
                <a:stretch>
                  <a:fillRect l="-522" t="-9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7912608" y="2426208"/>
                <a:ext cx="307238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         </a:t>
                </a:r>
                <a:r>
                  <a:rPr lang="en-IN" dirty="0" smtClean="0">
                    <a:solidFill>
                      <a:schemeClr val="accent1"/>
                    </a:solidFill>
                  </a:rPr>
                  <a:t>Ax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b="0" dirty="0" smtClean="0">
                  <a:solidFill>
                    <a:schemeClr val="accent1"/>
                  </a:solidFill>
                </a:endParaRPr>
              </a:p>
              <a:p>
                <a:endParaRPr lang="en-IN" b="0" dirty="0" smtClean="0">
                  <a:solidFill>
                    <a:schemeClr val="accent1"/>
                  </a:solidFill>
                </a:endParaRPr>
              </a:p>
              <a:p>
                <a:r>
                  <a:rPr lang="en-IN" dirty="0">
                    <a:solidFill>
                      <a:schemeClr val="accent1"/>
                    </a:solidFill>
                  </a:rPr>
                  <a:t> </a:t>
                </a:r>
                <a:r>
                  <a:rPr lang="en-IN" dirty="0" smtClean="0">
                    <a:solidFill>
                      <a:schemeClr val="accent1"/>
                    </a:solidFill>
                  </a:rPr>
                  <a:t>         x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IN" b="0" dirty="0" smtClean="0">
                  <a:solidFill>
                    <a:schemeClr val="accent1"/>
                  </a:solidFill>
                </a:endParaRPr>
              </a:p>
              <a:p>
                <a:endParaRPr lang="en-IN" dirty="0">
                  <a:solidFill>
                    <a:schemeClr val="accent1"/>
                  </a:solidFill>
                </a:endParaRPr>
              </a:p>
              <a:p>
                <a:r>
                  <a:rPr lang="en-IN" baseline="-250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Why is it called </a:t>
                </a:r>
                <a:r>
                  <a:rPr lang="en-IN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</a:t>
                </a:r>
                <a:r>
                  <a:rPr lang="en-IN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form ?</a:t>
                </a:r>
              </a:p>
              <a:p>
                <a:r>
                  <a:rPr lang="en-IN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- limited resources among competing entities</a:t>
                </a:r>
                <a:r>
                  <a:rPr lang="en-IN" baseline="-250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endParaRPr lang="en-IN" b="0" dirty="0" smtClean="0">
                  <a:solidFill>
                    <a:schemeClr val="accent1"/>
                  </a:solidFill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608" y="2426208"/>
                <a:ext cx="3072384" cy="2585323"/>
              </a:xfrm>
              <a:prstGeom prst="rect">
                <a:avLst/>
              </a:prstGeom>
              <a:blipFill>
                <a:blip r:embed="rId3" cstate="print"/>
                <a:stretch>
                  <a:fillRect l="-1587" t="-11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67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646176"/>
                <a:ext cx="10515600" cy="55307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Terminology</a:t>
                </a:r>
              </a:p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 </a:t>
                </a:r>
              </a:p>
              <a:p>
                <a:pPr marL="0" indent="0">
                  <a:buNone/>
                </a:pP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feasible, infeasible, optimal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3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+ 5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≥50</m:t>
                    </m:r>
                  </m:oMath>
                </a14:m>
                <a:r>
                  <a:rPr lang="en-IN" sz="20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IN" sz="20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2000" b="1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Feasible region</a:t>
                </a:r>
              </a:p>
              <a:p>
                <a:pPr marL="0" indent="0">
                  <a:buNone/>
                </a:pP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Objective value</a:t>
                </a:r>
              </a:p>
              <a:p>
                <a:pPr marL="0" indent="0">
                  <a:buNone/>
                </a:pP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 optimal solution</a:t>
                </a:r>
              </a:p>
              <a:p>
                <a:pPr marL="0" indent="0">
                  <a:buNone/>
                </a:pP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Unbounded (no optimal solution)</a:t>
                </a:r>
              </a:p>
              <a:p>
                <a:pPr marL="0" indent="0">
                  <a:buNone/>
                </a:pP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Corner point feasible (CPF)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46176"/>
                <a:ext cx="10515600" cy="5530787"/>
              </a:xfrm>
              <a:blipFill>
                <a:blip r:embed="rId2" cstate="print"/>
                <a:stretch>
                  <a:fillRect l="-638" t="-1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2609088" y="1633728"/>
            <a:ext cx="536448" cy="438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61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LP in transportation</a:t>
            </a:r>
          </a:p>
          <a:p>
            <a:pPr marL="0" indent="0">
              <a:buNone/>
            </a:pP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</a:t>
            </a:r>
            <a:r>
              <a:rPr lang="en-IN" sz="1600" b="1" i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of transport per unit</a:t>
            </a:r>
            <a:endParaRPr lang="en-IN" sz="16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65950"/>
              </p:ext>
            </p:extLst>
          </p:nvPr>
        </p:nvGraphicFramePr>
        <p:xfrm>
          <a:off x="1751584" y="2536274"/>
          <a:ext cx="812800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xmlns="" val="426886458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2375466821"/>
                    </a:ext>
                  </a:extLst>
                </a:gridCol>
                <a:gridCol w="1330282">
                  <a:extLst>
                    <a:ext uri="{9D8B030D-6E8A-4147-A177-3AD203B41FA5}">
                      <a16:colId xmlns:a16="http://schemas.microsoft.com/office/drawing/2014/main" xmlns="" val="3226428895"/>
                    </a:ext>
                  </a:extLst>
                </a:gridCol>
                <a:gridCol w="1379052">
                  <a:extLst>
                    <a:ext uri="{9D8B030D-6E8A-4147-A177-3AD203B41FA5}">
                      <a16:colId xmlns:a16="http://schemas.microsoft.com/office/drawing/2014/main" xmlns="" val="241843606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115928130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4254894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From</a:t>
                      </a:r>
                      <a:r>
                        <a:rPr lang="en-IN" baseline="0" dirty="0" smtClean="0"/>
                        <a:t> \ </a:t>
                      </a:r>
                      <a:r>
                        <a:rPr lang="en-IN" dirty="0" smtClean="0"/>
                        <a:t>To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Supply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15312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A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144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B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4670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C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9991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86416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Demand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8475196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51584" y="5047488"/>
            <a:ext cx="8128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+ 10x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+ 14x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+ 8x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+ 7x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+ 11x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+ 12x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+ 6x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+ 5x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+ 8x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+ 15x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+ 9x</a:t>
            </a:r>
            <a:r>
              <a:rPr lang="en-I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70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1648" y="487680"/>
                <a:ext cx="11122152" cy="5689283"/>
              </a:xfrm>
            </p:spPr>
            <p:txBody>
              <a:bodyPr>
                <a:normAutofit/>
              </a:bodyPr>
              <a:lstStyle/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  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30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23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</a:p>
              <a:p>
                <a:pPr marL="0" indent="0">
                  <a:buNone/>
                </a:pP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20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23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33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25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35</a:t>
                </a:r>
              </a:p>
              <a:p>
                <a:pPr marL="0" indent="0">
                  <a:buNone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………….,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 </m:t>
                    </m:r>
                  </m:oMath>
                </a14:m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648" y="487680"/>
                <a:ext cx="11122152" cy="5689283"/>
              </a:xfrm>
              <a:blipFill>
                <a:blip r:embed="rId2" cstate="print"/>
                <a:stretch>
                  <a:fillRect l="-219" t="-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534912" y="2535936"/>
            <a:ext cx="438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accent1"/>
                </a:solidFill>
              </a:rPr>
              <a:t>Number of linearly independent constraints</a:t>
            </a:r>
          </a:p>
          <a:p>
            <a:r>
              <a:rPr lang="en-IN" dirty="0">
                <a:solidFill>
                  <a:schemeClr val="accent1"/>
                </a:solidFill>
              </a:rPr>
              <a:t> </a:t>
            </a:r>
            <a:r>
              <a:rPr lang="en-IN" dirty="0" smtClean="0">
                <a:solidFill>
                  <a:schemeClr val="accent1"/>
                </a:solidFill>
              </a:rPr>
              <a:t>                       (m-1)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6896" y="4687824"/>
            <a:ext cx="438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Generate this constraint from the rest</a:t>
            </a:r>
          </a:p>
          <a:p>
            <a:r>
              <a:rPr lang="en-IN" b="1" u="sng" dirty="0" smtClean="0">
                <a:solidFill>
                  <a:srgbClr val="FF0000"/>
                </a:solidFill>
              </a:rPr>
              <a:t>Hint: </a:t>
            </a:r>
            <a:r>
              <a:rPr lang="en-IN" dirty="0" smtClean="0">
                <a:solidFill>
                  <a:srgbClr val="FF0000"/>
                </a:solidFill>
              </a:rPr>
              <a:t> Add first ******</a:t>
            </a:r>
            <a:endParaRPr lang="en-IN" b="1" u="sng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5216" y="4694075"/>
            <a:ext cx="4389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accent6">
                    <a:lumMod val="75000"/>
                  </a:schemeClr>
                </a:solidFill>
              </a:rPr>
              <a:t>What about asymmetric case ?</a:t>
            </a:r>
          </a:p>
          <a:p>
            <a:r>
              <a:rPr lang="en-IN" b="1" u="sng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b="1" u="sng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dirty="0" smtClean="0">
                <a:solidFill>
                  <a:schemeClr val="accent6">
                    <a:lumMod val="75000"/>
                  </a:schemeClr>
                </a:solidFill>
              </a:rPr>
              <a:t>    (m-1) or m ?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08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7680"/>
            <a:ext cx="10515600" cy="5689283"/>
          </a:xfrm>
        </p:spPr>
        <p:txBody>
          <a:bodyPr>
            <a:normAutofit/>
          </a:bodyPr>
          <a:lstStyle/>
          <a:p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Bank loan problem</a:t>
            </a:r>
          </a:p>
          <a:p>
            <a:pPr marL="0" indent="0">
              <a:buNone/>
            </a:pP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</a:p>
          <a:p>
            <a:pPr marL="0" indent="0">
              <a:buNone/>
            </a:pP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Funds = $12 million</a:t>
            </a: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40% of funds to be allocated to farm and commercial loans</a:t>
            </a:r>
            <a:r>
              <a:rPr lang="en-IN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.**********************************</a:t>
            </a:r>
            <a:r>
              <a:rPr lang="en-IN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atleast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50% of personal, car and Home loans. Overall ratio of bad debts on all loans not to exceed 4%.</a:t>
            </a:r>
          </a:p>
          <a:p>
            <a:pPr marL="0" indent="0">
              <a:buNone/>
            </a:pPr>
            <a:endParaRPr lang="en-I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641083"/>
              </p:ext>
            </p:extLst>
          </p:nvPr>
        </p:nvGraphicFramePr>
        <p:xfrm>
          <a:off x="1556512" y="1107281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xmlns="" val="48425978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xmlns="" val="73056014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xmlns="" val="3764249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Loan 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Interest rate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Bad debt rate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46429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i="1" dirty="0" smtClean="0"/>
                        <a:t>(x</a:t>
                      </a:r>
                      <a:r>
                        <a:rPr lang="en-IN" i="1" baseline="-25000" dirty="0" smtClean="0"/>
                        <a:t>1</a:t>
                      </a:r>
                      <a:r>
                        <a:rPr lang="en-IN" i="1" baseline="0" dirty="0" smtClean="0"/>
                        <a:t>) Personal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/>
                        <a:t>0.140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/>
                        <a:t>0.10</a:t>
                      </a:r>
                      <a:endParaRPr lang="en-IN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964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0" lang="en-I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(x</a:t>
                      </a:r>
                      <a:r>
                        <a:rPr kumimoji="0" lang="en-IN" sz="18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I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 Car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/>
                        <a:t>0.130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/>
                        <a:t>0.07</a:t>
                      </a:r>
                      <a:endParaRPr lang="en-IN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97238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0" lang="en-I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(x</a:t>
                      </a:r>
                      <a:r>
                        <a:rPr kumimoji="0" lang="en-IN" sz="18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I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 Home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/>
                        <a:t>0.120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/>
                        <a:t>0.03</a:t>
                      </a:r>
                      <a:endParaRPr lang="en-IN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15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0" lang="en-I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(x</a:t>
                      </a:r>
                      <a:r>
                        <a:rPr kumimoji="0" lang="en-IN" sz="18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en-I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 Farm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/>
                        <a:t>0.125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/>
                        <a:t>0.05</a:t>
                      </a:r>
                      <a:endParaRPr lang="en-IN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94677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kumimoji="0" lang="en-I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(x</a:t>
                      </a:r>
                      <a:r>
                        <a:rPr kumimoji="0" lang="en-IN" sz="1800" b="0" i="1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en-IN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 Commercial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/>
                        <a:t>0.100</a:t>
                      </a:r>
                      <a:endParaRPr lang="en-IN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/>
                        <a:t>0.02</a:t>
                      </a:r>
                      <a:endParaRPr lang="en-IN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88444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68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87680"/>
                <a:ext cx="10515600" cy="56892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16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</a:p>
              <a:p>
                <a:pPr marL="0" indent="0">
                  <a:buNone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Max. 0.14(0.9x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+ 0.13(0.93x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+ 0.12(0.97x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+ 0.125(0.95x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+ 0.1(0.98x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– 0.1x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0.07x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0.03x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0.05x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-0.02x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≤12</m:t>
                    </m:r>
                  </m:oMath>
                </a14:m>
                <a:endParaRPr lang="en-IN" sz="16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≤12</m:t>
                    </m:r>
                    <m:r>
                      <a:rPr lang="en-IN" sz="16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∗40%</m:t>
                    </m:r>
                  </m:oMath>
                </a14:m>
                <a:endParaRPr lang="en-IN" sz="16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≥0.5 (</m:t>
                    </m:r>
                  </m:oMath>
                </a14:m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(0.1x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+0.07x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0.03x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0.05x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0.02x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 (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0.04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87680"/>
                <a:ext cx="10515600" cy="5689283"/>
              </a:xfrm>
              <a:blipFill>
                <a:blip r:embed="rId2" cstate="print"/>
                <a:stretch>
                  <a:fillRect l="-348" t="-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31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74776" y="451104"/>
                <a:ext cx="10515600" cy="5689283"/>
              </a:xfrm>
            </p:spPr>
            <p:txBody>
              <a:bodyPr>
                <a:normAutofit/>
              </a:bodyPr>
              <a:lstStyle/>
              <a:p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3: Product mix Problem</a:t>
                </a:r>
              </a:p>
              <a:p>
                <a:pPr marL="0" indent="0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per unit Product                  </a:t>
                </a:r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Max 100T + 60C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5T + 2C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270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4T + 3C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250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3T + 4C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200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T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 ;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                         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4T – C = 0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776" y="451104"/>
                <a:ext cx="10515600" cy="5689283"/>
              </a:xfrm>
              <a:blipFill>
                <a:blip r:embed="rId2" cstate="print"/>
                <a:stretch>
                  <a:fillRect l="-348" t="-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512040"/>
              </p:ext>
            </p:extLst>
          </p:nvPr>
        </p:nvGraphicFramePr>
        <p:xfrm>
          <a:off x="1914144" y="1232746"/>
          <a:ext cx="80995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888">
                  <a:extLst>
                    <a:ext uri="{9D8B030D-6E8A-4147-A177-3AD203B41FA5}">
                      <a16:colId xmlns:a16="http://schemas.microsoft.com/office/drawing/2014/main" xmlns="" val="4282939872"/>
                    </a:ext>
                  </a:extLst>
                </a:gridCol>
                <a:gridCol w="2024888">
                  <a:extLst>
                    <a:ext uri="{9D8B030D-6E8A-4147-A177-3AD203B41FA5}">
                      <a16:colId xmlns:a16="http://schemas.microsoft.com/office/drawing/2014/main" xmlns="" val="2035298596"/>
                    </a:ext>
                  </a:extLst>
                </a:gridCol>
                <a:gridCol w="2024888">
                  <a:extLst>
                    <a:ext uri="{9D8B030D-6E8A-4147-A177-3AD203B41FA5}">
                      <a16:colId xmlns:a16="http://schemas.microsoft.com/office/drawing/2014/main" xmlns="" val="1604049917"/>
                    </a:ext>
                  </a:extLst>
                </a:gridCol>
                <a:gridCol w="2024888">
                  <a:extLst>
                    <a:ext uri="{9D8B030D-6E8A-4147-A177-3AD203B41FA5}">
                      <a16:colId xmlns:a16="http://schemas.microsoft.com/office/drawing/2014/main" xmlns="" val="1853883995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r>
                        <a:rPr lang="en-IN" dirty="0" smtClean="0"/>
                        <a:t>Resource\Item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Table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Chair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Resource available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29782798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Machining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5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2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270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57197964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Sanding 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4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3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250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63361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Assembly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3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4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200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02073145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Profit (p)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100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60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8008285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278880" y="4401312"/>
            <a:ext cx="373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Four chairs for each table: C =4T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94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74776" y="451104"/>
                <a:ext cx="10515600" cy="5689283"/>
              </a:xfrm>
            </p:spPr>
            <p:txBody>
              <a:bodyPr>
                <a:normAutofit/>
              </a:bodyPr>
              <a:lstStyle/>
              <a:p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4: A diet Problem</a:t>
                </a:r>
              </a:p>
              <a:p>
                <a:pPr marL="0" indent="0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Foodstuff</a:t>
                </a:r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y, z</a:t>
                </a:r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Min 15.60x + 18.90y + 12.70z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4x + 2y + 4z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440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2x + 3y + 3z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150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3x + y + 3z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320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x, y, z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776" y="451104"/>
                <a:ext cx="10515600" cy="5689283"/>
              </a:xfrm>
              <a:blipFill>
                <a:blip r:embed="rId2" cstate="print"/>
                <a:stretch>
                  <a:fillRect l="-348" t="-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009178"/>
              </p:ext>
            </p:extLst>
          </p:nvPr>
        </p:nvGraphicFramePr>
        <p:xfrm>
          <a:off x="1914144" y="1232746"/>
          <a:ext cx="80995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910">
                  <a:extLst>
                    <a:ext uri="{9D8B030D-6E8A-4147-A177-3AD203B41FA5}">
                      <a16:colId xmlns:a16="http://schemas.microsoft.com/office/drawing/2014/main" xmlns="" val="4282939872"/>
                    </a:ext>
                  </a:extLst>
                </a:gridCol>
                <a:gridCol w="1619910">
                  <a:extLst>
                    <a:ext uri="{9D8B030D-6E8A-4147-A177-3AD203B41FA5}">
                      <a16:colId xmlns:a16="http://schemas.microsoft.com/office/drawing/2014/main" xmlns="" val="2035298596"/>
                    </a:ext>
                  </a:extLst>
                </a:gridCol>
                <a:gridCol w="1619910">
                  <a:extLst>
                    <a:ext uri="{9D8B030D-6E8A-4147-A177-3AD203B41FA5}">
                      <a16:colId xmlns:a16="http://schemas.microsoft.com/office/drawing/2014/main" xmlns="" val="1604049917"/>
                    </a:ext>
                  </a:extLst>
                </a:gridCol>
                <a:gridCol w="1619910">
                  <a:extLst>
                    <a:ext uri="{9D8B030D-6E8A-4147-A177-3AD203B41FA5}">
                      <a16:colId xmlns:a16="http://schemas.microsoft.com/office/drawing/2014/main" xmlns="" val="1853883995"/>
                    </a:ext>
                  </a:extLst>
                </a:gridCol>
                <a:gridCol w="1619910">
                  <a:extLst>
                    <a:ext uri="{9D8B030D-6E8A-4147-A177-3AD203B41FA5}">
                      <a16:colId xmlns:a16="http://schemas.microsoft.com/office/drawing/2014/main" xmlns="" val="1807153826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Item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Requirements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29782798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Machining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4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2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4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440+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57197964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Sanding 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2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3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1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150+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63361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Assembly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3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1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3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 smtClean="0"/>
                        <a:t>320+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02073145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Cost ($/kg)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15.60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18.90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12.70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80082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92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74776" y="451104"/>
                <a:ext cx="10515600" cy="5689283"/>
              </a:xfrm>
            </p:spPr>
            <p:txBody>
              <a:bodyPr>
                <a:normAutofit/>
              </a:bodyPr>
              <a:lstStyle/>
              <a:p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5: A vehicle mix Problem</a:t>
                </a:r>
              </a:p>
              <a:p>
                <a:pPr marL="0" indent="0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per unit Product                  </a:t>
                </a:r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Solution: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Maximum volume transported = 24x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+ 16x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24x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4000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3x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720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100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776" y="451104"/>
                <a:ext cx="10515600" cy="5689283"/>
              </a:xfrm>
              <a:blipFill>
                <a:blip r:embed="rId2" cstate="print"/>
                <a:stretch>
                  <a:fillRect l="-348" t="-7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488570"/>
              </p:ext>
            </p:extLst>
          </p:nvPr>
        </p:nvGraphicFramePr>
        <p:xfrm>
          <a:off x="1914144" y="1232746"/>
          <a:ext cx="809955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888">
                  <a:extLst>
                    <a:ext uri="{9D8B030D-6E8A-4147-A177-3AD203B41FA5}">
                      <a16:colId xmlns:a16="http://schemas.microsoft.com/office/drawing/2014/main" xmlns="" val="4282939872"/>
                    </a:ext>
                  </a:extLst>
                </a:gridCol>
                <a:gridCol w="2024888">
                  <a:extLst>
                    <a:ext uri="{9D8B030D-6E8A-4147-A177-3AD203B41FA5}">
                      <a16:colId xmlns:a16="http://schemas.microsoft.com/office/drawing/2014/main" xmlns="" val="2035298596"/>
                    </a:ext>
                  </a:extLst>
                </a:gridCol>
                <a:gridCol w="2024888">
                  <a:extLst>
                    <a:ext uri="{9D8B030D-6E8A-4147-A177-3AD203B41FA5}">
                      <a16:colId xmlns:a16="http://schemas.microsoft.com/office/drawing/2014/main" xmlns="" val="1604049917"/>
                    </a:ext>
                  </a:extLst>
                </a:gridCol>
                <a:gridCol w="2024888">
                  <a:extLst>
                    <a:ext uri="{9D8B030D-6E8A-4147-A177-3AD203B41FA5}">
                      <a16:colId xmlns:a16="http://schemas.microsoft.com/office/drawing/2014/main" xmlns="" val="1853883995"/>
                    </a:ext>
                  </a:extLst>
                </a:gridCol>
              </a:tblGrid>
              <a:tr h="35627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Table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Chair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Resource available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29782798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Fuel (L)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50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4000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57197964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Maintenance (h)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720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63361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Load carried (m</a:t>
                      </a:r>
                      <a:r>
                        <a:rPr lang="en-IN" b="1" baseline="30000" dirty="0" smtClean="0"/>
                        <a:t>3</a:t>
                      </a:r>
                      <a:r>
                        <a:rPr lang="en-IN" b="1" baseline="0" dirty="0" smtClean="0"/>
                        <a:t>)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24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02073145"/>
                  </a:ext>
                </a:extLst>
              </a:tr>
              <a:tr h="356277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Maximum number of vehicles allowed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-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/>
                        <a:t>100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80082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194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7680"/>
            <a:ext cx="10515600" cy="5689283"/>
          </a:xfrm>
        </p:spPr>
        <p:txBody>
          <a:bodyPr>
            <a:norm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value</a:t>
            </a: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User’s capabilities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******* to healthy population</a:t>
            </a: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 parameters</a:t>
            </a: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 user’s</a:t>
            </a: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Robust operation</a:t>
            </a:r>
          </a:p>
          <a:p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possibilities</a:t>
            </a: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assumptions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86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2608"/>
            <a:ext cx="10515600" cy="588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CPF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two constraint boundaries for 2D problem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n constraint boundaries of {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,……., </a:t>
            </a:r>
            <a:r>
              <a:rPr lang="en-IN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problem</a:t>
            </a:r>
          </a:p>
          <a:p>
            <a:pPr marL="0" indent="0">
              <a:buNone/>
            </a:pP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Adjacent CPF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If they share an edge (one constraint boundary for 2D problem)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( n-1 constraint boundary for n-D problem)</a:t>
            </a: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267712" y="487680"/>
            <a:ext cx="0" cy="265785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14272" y="3145536"/>
            <a:ext cx="6864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486400" y="755904"/>
            <a:ext cx="24384" cy="23896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267712" y="755904"/>
            <a:ext cx="5681472" cy="257641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267712" y="1450848"/>
            <a:ext cx="1621536" cy="4876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889248" y="1499616"/>
            <a:ext cx="287731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877057" y="1444752"/>
            <a:ext cx="73152" cy="975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2231135" y="1408176"/>
            <a:ext cx="73152" cy="975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5474208" y="2176272"/>
            <a:ext cx="73152" cy="975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/>
          <p:cNvSpPr/>
          <p:nvPr/>
        </p:nvSpPr>
        <p:spPr>
          <a:xfrm>
            <a:off x="5486398" y="3112008"/>
            <a:ext cx="73152" cy="975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2231135" y="3090672"/>
            <a:ext cx="73152" cy="975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>
            <a:off x="7815072" y="755904"/>
            <a:ext cx="63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7967472" y="908304"/>
            <a:ext cx="63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1536193" y="1277636"/>
            <a:ext cx="63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(0,6)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5157216" y="3172968"/>
            <a:ext cx="63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(4,0)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1847090" y="3167396"/>
            <a:ext cx="63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(0,0)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3581400" y="1125236"/>
            <a:ext cx="63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(2,6)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5492495" y="1917192"/>
            <a:ext cx="63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(4,3)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6896100" y="1308854"/>
            <a:ext cx="1141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2x</a:t>
            </a:r>
            <a:r>
              <a:rPr lang="en-IN" b="1" baseline="-25000" dirty="0" smtClean="0"/>
              <a:t>2</a:t>
            </a:r>
            <a:r>
              <a:rPr lang="en-IN" b="1" dirty="0" smtClean="0"/>
              <a:t> = 12</a:t>
            </a:r>
            <a:endParaRPr lang="en-IN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1097280" y="1974580"/>
            <a:ext cx="63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x</a:t>
            </a:r>
            <a:r>
              <a:rPr lang="en-IN" b="1" baseline="-25000" dirty="0" smtClean="0"/>
              <a:t>2</a:t>
            </a:r>
            <a:endParaRPr lang="en-IN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3366843" y="3443310"/>
            <a:ext cx="63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x</a:t>
            </a:r>
            <a:r>
              <a:rPr lang="en-IN" b="1" baseline="-25000" dirty="0" smtClean="0"/>
              <a:t>1</a:t>
            </a:r>
            <a:endParaRPr lang="en-IN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5474207" y="822961"/>
            <a:ext cx="780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x</a:t>
            </a:r>
            <a:r>
              <a:rPr lang="en-IN" b="1" baseline="-25000" dirty="0" smtClean="0"/>
              <a:t>1</a:t>
            </a:r>
            <a:r>
              <a:rPr lang="en-IN" b="1" dirty="0" smtClean="0"/>
              <a:t> = 4</a:t>
            </a:r>
            <a:endParaRPr lang="en-IN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703058" y="3363539"/>
            <a:ext cx="1491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3x</a:t>
            </a:r>
            <a:r>
              <a:rPr lang="en-IN" b="1" baseline="-25000" dirty="0" smtClean="0"/>
              <a:t>1</a:t>
            </a:r>
            <a:r>
              <a:rPr lang="en-IN" b="1" dirty="0"/>
              <a:t> </a:t>
            </a:r>
            <a:r>
              <a:rPr lang="en-IN" b="1" dirty="0" smtClean="0"/>
              <a:t>+ 2x</a:t>
            </a:r>
            <a:r>
              <a:rPr lang="en-IN" b="1" baseline="-25000" dirty="0" smtClean="0"/>
              <a:t>2</a:t>
            </a:r>
            <a:r>
              <a:rPr lang="en-IN" b="1" dirty="0" smtClean="0"/>
              <a:t> = 18</a:t>
            </a:r>
            <a:r>
              <a:rPr lang="en-IN" b="1" baseline="-25000" dirty="0" smtClean="0"/>
              <a:t> </a:t>
            </a:r>
            <a:endParaRPr lang="en-IN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8037576" y="1904476"/>
            <a:ext cx="1984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Max Z = </a:t>
            </a:r>
            <a:r>
              <a:rPr lang="en-IN" sz="2000" b="1" dirty="0"/>
              <a:t>3x</a:t>
            </a:r>
            <a:r>
              <a:rPr lang="en-IN" sz="2000" b="1" baseline="-25000" dirty="0"/>
              <a:t>1</a:t>
            </a:r>
            <a:r>
              <a:rPr lang="en-IN" sz="2000" b="1" dirty="0"/>
              <a:t> + </a:t>
            </a:r>
            <a:r>
              <a:rPr lang="en-IN" sz="2000" b="1" dirty="0" smtClean="0"/>
              <a:t>5x</a:t>
            </a:r>
            <a:r>
              <a:rPr lang="en-IN" sz="2000" b="1" baseline="-25000" dirty="0" smtClean="0"/>
              <a:t>2</a:t>
            </a:r>
            <a:r>
              <a:rPr lang="en-IN" sz="2000" dirty="0" smtClean="0"/>
              <a:t> </a:t>
            </a:r>
            <a:endParaRPr lang="en-IN" sz="2000" dirty="0"/>
          </a:p>
        </p:txBody>
      </p:sp>
      <p:sp>
        <p:nvSpPr>
          <p:cNvPr id="40" name="TextBox 39"/>
          <p:cNvSpPr txBox="1"/>
          <p:nvPr/>
        </p:nvSpPr>
        <p:spPr>
          <a:xfrm>
            <a:off x="8278368" y="4056108"/>
            <a:ext cx="2206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chemeClr val="accent2"/>
                </a:solidFill>
              </a:rPr>
              <a:t>Constraint boundary</a:t>
            </a:r>
            <a:endParaRPr lang="en-IN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54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472" y="438912"/>
            <a:ext cx="10515600" cy="5738051"/>
          </a:xfrm>
        </p:spPr>
        <p:txBody>
          <a:bodyPr>
            <a:normAutofit/>
          </a:bodyPr>
          <a:lstStyle/>
          <a:p>
            <a:r>
              <a:rPr lang="en-IN" sz="1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Optimality test</a:t>
            </a:r>
            <a:r>
              <a:rPr lang="en-IN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a CPF solution has no adjacent CPF solution that is better, it must be an optimal solution.</a:t>
            </a:r>
          </a:p>
          <a:p>
            <a:endParaRPr lang="en-IN" sz="16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example</a:t>
            </a:r>
          </a:p>
          <a:p>
            <a:pPr marL="0" indent="0">
              <a:buNone/>
            </a:pPr>
            <a:r>
              <a:rPr lang="en-IN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(0,0)   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en-IN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optimality test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(0,0) is not better than adjacent solution</a:t>
            </a:r>
          </a:p>
          <a:p>
            <a:pPr marL="0" indent="0">
              <a:buNone/>
            </a:pPr>
            <a:r>
              <a:rPr lang="en-IN" sz="16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Choose moving along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axis. Why ?           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= 3x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6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5x</a:t>
            </a:r>
            <a:r>
              <a:rPr lang="en-IN" sz="1600" i="1" u="sng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rate of </a:t>
            </a:r>
            <a:r>
              <a:rPr lang="en-IN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is faster in x</a:t>
            </a:r>
            <a:r>
              <a:rPr lang="en-IN" sz="16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Z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Stop as it hits the constraint boundary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6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new CPF – (0,6)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(0,6) optimal ? – No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Move towards right – increases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Z 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Stop at the constraint boundary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+ 2x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12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new CPF (2,6)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Optimality test for (2,6)                 </a:t>
            </a:r>
            <a:r>
              <a:rPr lang="en-IN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Optimal.  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</a:p>
          <a:p>
            <a:pPr marL="0" indent="0">
              <a:buNone/>
            </a:pPr>
            <a:endParaRPr lang="en-IN" sz="16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5596128" y="2791968"/>
            <a:ext cx="280416" cy="10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3706368" y="4413504"/>
            <a:ext cx="256032" cy="1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4291584" y="4242816"/>
            <a:ext cx="0" cy="3657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840736" y="5462016"/>
            <a:ext cx="621792" cy="1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6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9456"/>
            <a:ext cx="10515600" cy="5957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Solution concepts</a:t>
            </a:r>
          </a:p>
          <a:p>
            <a:pPr marL="0" indent="0">
              <a:buNone/>
            </a:pPr>
            <a:endParaRPr lang="en-IN" sz="16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 1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 solely on CPF solutions          reduces computational burden greatly</a:t>
            </a: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 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         Initialization </a:t>
            </a:r>
          </a:p>
          <a:p>
            <a:pPr marL="0" indent="0">
              <a:buNone/>
            </a:pPr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optimality test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No                 Yes              STOP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Iteration</a:t>
            </a:r>
          </a:p>
          <a:p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 3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Choose  the origin, whenever feasible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(what happens when origin is not a feasible solution)</a:t>
            </a:r>
          </a:p>
          <a:p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 4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Look for adjacent CPF than </a:t>
            </a:r>
            <a:r>
              <a:rPr lang="en-IN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CPFs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Ensures quick computation</a:t>
            </a:r>
          </a:p>
          <a:p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 5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“Rate of improvement” instead of computing values of adjacent CPF</a:t>
            </a:r>
          </a:p>
          <a:p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 6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ptimality test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positive rate of improvement of Z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negative rate of improvement of Z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730496" y="1097280"/>
            <a:ext cx="353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108960" y="1889760"/>
            <a:ext cx="0" cy="512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4477512" y="2816352"/>
            <a:ext cx="505968" cy="1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 rot="16200000" flipV="1">
            <a:off x="1491569" y="2775632"/>
            <a:ext cx="1040226" cy="48768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767841" y="2487169"/>
            <a:ext cx="780289" cy="12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255523" y="3539586"/>
            <a:ext cx="3901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096768" y="3019472"/>
            <a:ext cx="0" cy="235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724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9456"/>
                <a:ext cx="10515600" cy="5957507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 algn="ctr">
                  <a:buNone/>
                </a:pPr>
                <a:r>
                  <a:rPr lang="en-IN" sz="3400" b="1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Setting up the Simplex method</a:t>
                </a:r>
              </a:p>
              <a:p>
                <a:pPr marL="0" indent="0">
                  <a:buNone/>
                </a:pPr>
                <a:endParaRPr lang="en-IN" sz="2100" b="1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3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Slacks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</a:t>
                </a:r>
                <a:r>
                  <a:rPr lang="en-IN" sz="3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form</a:t>
                </a:r>
                <a:r>
                  <a:rPr lang="en-IN" sz="29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</a:t>
                </a:r>
                <a:r>
                  <a:rPr lang="en-IN" sz="3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Augmented form</a:t>
                </a:r>
              </a:p>
              <a:p>
                <a:pPr marL="0" indent="0">
                  <a:buNone/>
                </a:pP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IN" sz="3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Surplus 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</a:t>
                </a:r>
                <a:r>
                  <a:rPr lang="en-IN" sz="3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IN" sz="3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3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≤0  </m:t>
                    </m:r>
                  </m:oMath>
                </a14:m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</a:t>
                </a:r>
                <a:r>
                  <a:rPr lang="en-IN" sz="3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 + y = b</a:t>
                </a:r>
              </a:p>
              <a:p>
                <a:pPr marL="0" indent="0">
                  <a:buNone/>
                </a:pP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</a:t>
                </a:r>
                <a:r>
                  <a:rPr lang="en-IN" sz="3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IN" sz="3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</a:t>
                </a:r>
                <a:r>
                  <a:rPr lang="en-IN" sz="2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</a:t>
                </a:r>
                <a:r>
                  <a:rPr lang="en-IN" sz="3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 </a:t>
                </a:r>
                <a14:m>
                  <m:oMath xmlns:m="http://schemas.openxmlformats.org/officeDocument/2006/math">
                    <m:r>
                      <a:rPr lang="en-IN" sz="3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IN" sz="2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endParaRPr lang="en-IN" sz="29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Z = 3x</a:t>
                </a:r>
                <a:r>
                  <a:rPr lang="en-IN" sz="29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+ 5x</a:t>
                </a:r>
                <a:r>
                  <a:rPr lang="en-IN" sz="29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IN" sz="29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9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  <a:p>
                <a:pPr marL="0" indent="0">
                  <a:buNone/>
                </a:pPr>
                <a:r>
                  <a:rPr lang="en-IN" sz="2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x</a:t>
                </a:r>
                <a:r>
                  <a:rPr lang="en-IN" sz="29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       x</a:t>
                </a:r>
                <a:r>
                  <a:rPr lang="en-IN" sz="29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4</a:t>
                </a:r>
              </a:p>
              <a:p>
                <a:pPr marL="0" indent="0">
                  <a:buNone/>
                </a:pPr>
                <a:r>
                  <a:rPr lang="en-IN" sz="2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2x</a:t>
                </a:r>
                <a:r>
                  <a:rPr lang="en-IN" sz="29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+   x</a:t>
                </a:r>
                <a:r>
                  <a:rPr lang="en-IN" sz="29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12</a:t>
                </a:r>
              </a:p>
              <a:p>
                <a:pPr marL="0" indent="0">
                  <a:buNone/>
                </a:pPr>
                <a:r>
                  <a:rPr lang="en-IN" sz="2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3x</a:t>
                </a:r>
                <a:r>
                  <a:rPr lang="en-IN" sz="29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+ 2x</a:t>
                </a:r>
                <a:r>
                  <a:rPr lang="en-IN" sz="29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+        x</a:t>
                </a:r>
                <a:r>
                  <a:rPr lang="en-IN" sz="29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18</a:t>
                </a:r>
              </a:p>
              <a:p>
                <a:pPr marL="0" indent="0">
                  <a:buNone/>
                </a:pPr>
                <a:r>
                  <a:rPr lang="en-IN" sz="2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x</a:t>
                </a:r>
                <a:r>
                  <a:rPr lang="en-IN" sz="29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9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;  </a:t>
                </a:r>
                <a:r>
                  <a:rPr lang="en-IN" sz="29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1….5            </a:t>
                </a:r>
              </a:p>
              <a:p>
                <a:pPr marL="0" indent="0">
                  <a:buNone/>
                </a:pP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-</a:t>
                </a:r>
                <a:r>
                  <a:rPr lang="en-IN" sz="29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ive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2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Meaning of slack: 0, +</a:t>
                </a:r>
                <a:r>
                  <a:rPr lang="en-IN" sz="29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ive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–</a:t>
                </a:r>
                <a:r>
                  <a:rPr lang="en-IN" sz="29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ive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0</a:t>
                </a:r>
              </a:p>
              <a:p>
                <a:pPr marL="0" indent="0">
                  <a:buNone/>
                </a:pPr>
                <a:endParaRPr lang="en-IN" sz="29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+</a:t>
                </a:r>
                <a:r>
                  <a:rPr lang="en-IN" sz="29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ive</a:t>
                </a:r>
                <a:endParaRPr lang="en-IN" sz="2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9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</a:t>
                </a:r>
                <a:endParaRPr lang="en-IN" sz="2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9456"/>
                <a:ext cx="10515600" cy="5957507"/>
              </a:xfrm>
              <a:blipFill>
                <a:blip r:embed="rId2" cstate="print"/>
                <a:stretch>
                  <a:fillRect l="-812" t="-25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5852160" y="3560064"/>
            <a:ext cx="24384" cy="20482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5852160" y="5608320"/>
            <a:ext cx="2548128" cy="24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864352" y="4425696"/>
            <a:ext cx="1414272" cy="12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278624" y="4425696"/>
            <a:ext cx="629412" cy="499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900416" y="4925568"/>
            <a:ext cx="12192" cy="6949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571488" y="5064061"/>
            <a:ext cx="60960" cy="975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6797040" y="4376928"/>
            <a:ext cx="60960" cy="975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7526274" y="4169664"/>
            <a:ext cx="60960" cy="975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8656320" y="3125533"/>
            <a:ext cx="2621280" cy="19385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/>
              <a:t>For optimal solution (CPF)</a:t>
            </a:r>
          </a:p>
          <a:p>
            <a:pPr algn="ctr"/>
            <a:r>
              <a:rPr lang="en-IN" b="1" dirty="0" smtClean="0"/>
              <a:t>Slacks will be zero ?</a:t>
            </a:r>
          </a:p>
          <a:p>
            <a:pPr algn="ctr"/>
            <a:r>
              <a:rPr lang="en-IN" b="1" dirty="0" smtClean="0"/>
              <a:t>( for 2D problem)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65915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9456"/>
                <a:ext cx="10515600" cy="5957507"/>
              </a:xfrm>
            </p:spPr>
            <p:txBody>
              <a:bodyPr>
                <a:normAutofit/>
              </a:bodyPr>
              <a:lstStyle/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Feasible solution (3,2)                                 Augmented Solution (3,2,</a:t>
                </a:r>
                <a:r>
                  <a:rPr lang="en-IN" sz="1600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1,8,5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slacks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all +</a:t>
                </a:r>
                <a:r>
                  <a:rPr lang="en-IN" sz="1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ive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implies within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feasible region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Basic solution – Augmented corner point solution</a:t>
                </a:r>
              </a:p>
              <a:p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(4,6)                                    Aug: (4,6,0,0,-6)                        slack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-6 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infeasible</a:t>
                </a:r>
                <a:endParaRPr lang="en-I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BFS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augmented CPF</a:t>
                </a:r>
              </a:p>
              <a:p>
                <a:pPr marL="0" indent="0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(0,6)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(0,6,4,0,6)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; the solution lies on the constraint boundary of 2x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≤12</m:t>
                    </m:r>
                  </m:oMath>
                </a14:m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I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Basic solution, Basic feasible solution (BFS)             identify basic variables and non-basic variables</a:t>
                </a:r>
              </a:p>
              <a:p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Adjacent BFS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- consider (0,0), </a:t>
                </a:r>
                <a:r>
                  <a:rPr lang="en-I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****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(0,0,4,12,18). (0,6,4,0,6)</a:t>
                </a:r>
              </a:p>
              <a:p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 Z </a:t>
                </a:r>
              </a:p>
              <a:p>
                <a:pPr marL="0" indent="0">
                  <a:buNone/>
                </a:pPr>
                <a:r>
                  <a:rPr lang="en-IN" sz="1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Z- 3x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5x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4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2x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12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3x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=18      ;  </a:t>
                </a:r>
                <a:r>
                  <a:rPr lang="en-IN" sz="1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≥0,</m:t>
                    </m:r>
                  </m:oMath>
                </a14:m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j = 1….5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9456"/>
                <a:ext cx="10515600" cy="5957507"/>
              </a:xfrm>
              <a:blipFill>
                <a:blip r:embed="rId2" cstate="print"/>
                <a:stretch>
                  <a:fillRect l="-348" t="-7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6449568" y="499872"/>
            <a:ext cx="463296" cy="14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535680" y="2816352"/>
            <a:ext cx="4389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876800" y="3490817"/>
            <a:ext cx="499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084576" y="4206240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6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9456"/>
            <a:ext cx="10515600" cy="595750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 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(x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(x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IN" sz="16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(x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(x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(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IN" sz="16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(x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(x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Algebra of simplex method</a:t>
            </a:r>
            <a:endParaRPr lang="en-IN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(0,0,4,12,18)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(non-basic)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till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drops to 0   (Hit 2x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12)</a:t>
            </a: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solution (0,6,4,0,6)                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Optimal ?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 because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increased to increase Z.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till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drops to zero ( Hit 3x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+ 2x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18 )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solution: (2,6,2,0,0)            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</a:p>
          <a:p>
            <a:pPr marL="0" indent="0">
              <a:buNone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182624" y="512064"/>
            <a:ext cx="4754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14400" y="950976"/>
            <a:ext cx="0" cy="268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26592" y="938784"/>
            <a:ext cx="5486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463040" y="950976"/>
            <a:ext cx="12192" cy="268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14400" y="1219200"/>
            <a:ext cx="560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60576" y="1219200"/>
            <a:ext cx="0" cy="341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560576" y="1219200"/>
            <a:ext cx="5974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2133600" y="1219200"/>
            <a:ext cx="12192" cy="341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1560576" y="1560576"/>
            <a:ext cx="5974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914400" y="1060704"/>
            <a:ext cx="548640" cy="12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1475232" y="1414272"/>
            <a:ext cx="682752" cy="12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01312" y="719328"/>
            <a:ext cx="188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8 basic solutions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1182624" y="2901696"/>
            <a:ext cx="85344" cy="207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 flipV="1">
            <a:off x="1463040" y="2901696"/>
            <a:ext cx="12192" cy="207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035808" y="4206240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035808" y="5596128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13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9456"/>
            <a:ext cx="10515600" cy="5957507"/>
          </a:xfrm>
        </p:spPr>
        <p:txBody>
          <a:bodyPr>
            <a:normAutofit/>
          </a:bodyPr>
          <a:lstStyle/>
          <a:p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initial BFS (0,0,4,12,18)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 form of Gaussian Elimination: To convert any BFS to this convenient form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Optimality Test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= 3x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+ 5x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0" indent="0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- 3x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- 5x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                   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Coefficients of basic variables are all 0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Coefficients of non-basic variables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positive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So, Z is not optimal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the direction of movement</a:t>
            </a:r>
          </a:p>
          <a:p>
            <a:pPr marL="0" indent="0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- 3x</a:t>
            </a:r>
            <a:r>
              <a:rPr lang="en-I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5x</a:t>
            </a:r>
            <a:r>
              <a:rPr lang="en-I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choose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 entering basic variable </a:t>
            </a:r>
          </a:p>
          <a:p>
            <a:pPr marL="0" indent="0">
              <a:buNone/>
            </a:pPr>
            <a:endParaRPr lang="en-IN" sz="16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Z needs to be expressed as a combination of non-basic variables only ?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because increasing a NB variable with coefficient 0 might have a positive effect on the basic variables</a:t>
            </a:r>
            <a:endParaRPr lang="en-I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31264" y="4328160"/>
            <a:ext cx="1463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 flipV="1">
            <a:off x="1962912" y="4328160"/>
            <a:ext cx="256032" cy="121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32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9456"/>
                <a:ext cx="10515600" cy="5957507"/>
              </a:xfrm>
            </p:spPr>
            <p:txBody>
              <a:bodyPr>
                <a:normAutofit/>
              </a:bodyPr>
              <a:lstStyle/>
              <a:p>
                <a:r>
                  <a:rPr lang="en-IN" sz="16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Determining where to stop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Increase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the linear system of equations is affected by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?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4   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4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2x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12    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12 – 2x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I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18     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18 – 2x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>
                  <a:buNone/>
                </a:pPr>
                <a:endParaRPr lang="en-IN" sz="16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Increase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long as all these variables remains non-negative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12 – 2x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≤6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(minimum)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18 – 2x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     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≤9</m:t>
                    </m:r>
                  </m:oMath>
                </a14:m>
                <a:endParaRPr lang="en-I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(leaving basic variable)</a:t>
                </a:r>
              </a:p>
              <a:p>
                <a:pPr marL="0" indent="0">
                  <a:buNone/>
                </a:pP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b="1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Dividing the RHS with the coefficients of entering basic variable and choose the minimum</a:t>
                </a:r>
                <a:endParaRPr lang="en-IN" sz="1600" b="1" i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9456"/>
                <a:ext cx="10515600" cy="5957507"/>
              </a:xfrm>
              <a:blipFill>
                <a:blip r:embed="rId2" cstate="print"/>
                <a:stretch>
                  <a:fillRect l="-348" t="-7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>
          <a:xfrm>
            <a:off x="2194560" y="1746505"/>
            <a:ext cx="40233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ight Arrow 3"/>
          <p:cNvSpPr/>
          <p:nvPr/>
        </p:nvSpPr>
        <p:spPr>
          <a:xfrm>
            <a:off x="2596896" y="2093977"/>
            <a:ext cx="40233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ight Arrow 4"/>
          <p:cNvSpPr/>
          <p:nvPr/>
        </p:nvSpPr>
        <p:spPr>
          <a:xfrm>
            <a:off x="2950464" y="2418589"/>
            <a:ext cx="40233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Arrow 5"/>
          <p:cNvSpPr/>
          <p:nvPr/>
        </p:nvSpPr>
        <p:spPr>
          <a:xfrm>
            <a:off x="2395728" y="3419858"/>
            <a:ext cx="40233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Arrow 6"/>
          <p:cNvSpPr/>
          <p:nvPr/>
        </p:nvSpPr>
        <p:spPr>
          <a:xfrm>
            <a:off x="2395728" y="3742281"/>
            <a:ext cx="40233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1755648" y="4572000"/>
            <a:ext cx="542544" cy="12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778240" y="3198209"/>
            <a:ext cx="2036064" cy="163982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Minimum Ratio test</a:t>
            </a:r>
          </a:p>
          <a:p>
            <a:pPr algn="ctr"/>
            <a:r>
              <a:rPr lang="en-IN" dirty="0" smtClean="0"/>
              <a:t>- </a:t>
            </a:r>
            <a:r>
              <a:rPr lang="en-IN" sz="1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basic variable drops to 0 first when we increase x </a:t>
            </a:r>
            <a:endParaRPr lang="en-IN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00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9456"/>
            <a:ext cx="10515600" cy="5957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Solving for the New BF solution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IN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Now,  </a:t>
            </a:r>
            <a:r>
              <a:rPr lang="en-I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0, x</a:t>
            </a:r>
            <a:r>
              <a:rPr lang="en-IN" sz="1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6,   x</a:t>
            </a:r>
            <a:r>
              <a:rPr lang="en-IN" sz="1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0" indent="0">
              <a:buNone/>
            </a:pPr>
            <a:r>
              <a:rPr lang="en-IN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BF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(0,6,?,0,?)                                                                        Find the values of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4,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6                                                             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Conduct the optimality test                                                              </a:t>
            </a:r>
          </a:p>
          <a:p>
            <a:pPr marL="0" indent="0">
              <a:buNone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next iterative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proper form of Gaussian Elimination</a:t>
            </a:r>
          </a:p>
          <a:p>
            <a:pPr marL="0" indent="0">
              <a:buNone/>
            </a:pPr>
            <a:r>
              <a:rPr lang="en-IN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0             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coefficient pattern of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1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0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Produce this pattern for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solve the system of equations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Left Brace 1"/>
          <p:cNvSpPr/>
          <p:nvPr/>
        </p:nvSpPr>
        <p:spPr>
          <a:xfrm>
            <a:off x="5571744" y="1231392"/>
            <a:ext cx="658368" cy="14020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157216" y="2462784"/>
            <a:ext cx="658368" cy="731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059424" y="1463040"/>
            <a:ext cx="109728" cy="9753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6041136" y="1786128"/>
            <a:ext cx="109728" cy="9753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6041136" y="2124456"/>
            <a:ext cx="109728" cy="9753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ouble Bracket 9"/>
          <p:cNvSpPr/>
          <p:nvPr/>
        </p:nvSpPr>
        <p:spPr>
          <a:xfrm>
            <a:off x="3718560" y="3072384"/>
            <a:ext cx="585216" cy="1304544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07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579901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N" sz="18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*****</a:t>
            </a:r>
            <a:r>
              <a:rPr lang="en-IN" sz="1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Algebraic operation</a:t>
            </a:r>
          </a:p>
          <a:p>
            <a:pPr marL="342900" indent="-342900">
              <a:buFont typeface="+mj-lt"/>
              <a:buAutoNum type="arabicPeriod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Multiply (or divide) an equation by as non-zero constant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(or subtract) a multiple of one equation to (or from) another equation</a:t>
            </a:r>
          </a:p>
          <a:p>
            <a:pPr marL="0" indent="0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-5                                                          0 </a:t>
            </a:r>
          </a:p>
          <a:p>
            <a:pPr marL="0" indent="0">
              <a:buNone/>
            </a:pPr>
            <a:r>
              <a:rPr lang="en-I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0       x</a:t>
            </a:r>
            <a:r>
              <a:rPr lang="en-IN" sz="1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0       x</a:t>
            </a:r>
            <a:r>
              <a:rPr lang="en-IN" sz="1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8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2                                                   1</a:t>
            </a:r>
          </a:p>
          <a:p>
            <a:pPr marL="0" indent="0">
              <a:buNone/>
            </a:pP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2                                                   0</a:t>
            </a:r>
          </a:p>
          <a:p>
            <a:pPr marL="0" indent="0">
              <a:buNone/>
            </a:pP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7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x</a:t>
            </a:r>
            <a:r>
              <a:rPr lang="en-IN" sz="17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  = 6        </a:t>
            </a:r>
            <a:r>
              <a:rPr lang="en-IN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(New equation)</a:t>
            </a:r>
          </a:p>
          <a:p>
            <a:pPr marL="0" indent="0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– 3x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+ 5x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 = 30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 5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equation;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Z is expressed in terms of non-basic variables only (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optimality test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7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x</a:t>
            </a:r>
            <a:r>
              <a:rPr lang="en-IN" sz="17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</a:p>
          <a:p>
            <a:pPr marL="0" indent="0">
              <a:buNone/>
            </a:pP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x</a:t>
            </a:r>
            <a:r>
              <a:rPr lang="en-IN" sz="17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7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en-IN" sz="17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0" indent="0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3x</a:t>
            </a:r>
            <a:r>
              <a:rPr lang="en-IN" sz="17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x</a:t>
            </a:r>
            <a:r>
              <a:rPr lang="en-IN" sz="17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x</a:t>
            </a:r>
            <a:r>
              <a:rPr lang="en-IN" sz="17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=6     </a:t>
            </a:r>
            <a:r>
              <a:rPr lang="en-IN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(subtract 2*New equation)</a:t>
            </a:r>
          </a:p>
          <a:p>
            <a:pPr marL="0" indent="0">
              <a:buNone/>
            </a:pPr>
            <a:endParaRPr lang="en-I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ouble Bracket 3"/>
          <p:cNvSpPr/>
          <p:nvPr/>
        </p:nvSpPr>
        <p:spPr>
          <a:xfrm>
            <a:off x="1540764" y="1694688"/>
            <a:ext cx="585216" cy="1304544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4518660" y="1694688"/>
            <a:ext cx="585216" cy="1304544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816352" y="2346960"/>
            <a:ext cx="1280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76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5799011"/>
          </a:xfrm>
        </p:spPr>
        <p:txBody>
          <a:bodyPr>
            <a:norm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(x</a:t>
            </a:r>
            <a:r>
              <a:rPr lang="en-I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are non-basic                  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Immediately you obtain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6,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4,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6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Z = 30 </a:t>
            </a:r>
          </a:p>
          <a:p>
            <a:pPr marL="0" indent="0">
              <a:buNone/>
            </a:pP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Elimination                Eliminate each basic variable from all the equations except one (its own).   (+1)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Optimality Test for the New BF</a:t>
            </a:r>
          </a:p>
          <a:p>
            <a:pPr marL="0" indent="0">
              <a:buNone/>
            </a:pPr>
            <a:endParaRPr lang="en-IN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= 30 + 3x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5x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/2 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IN" sz="16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rate of improvement</a:t>
            </a:r>
          </a:p>
          <a:p>
            <a:pPr marL="0" indent="0">
              <a:buNone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Entering basic variable</a:t>
            </a:r>
          </a:p>
          <a:p>
            <a:pPr marL="0" indent="0">
              <a:buNone/>
            </a:pPr>
            <a:endParaRPr lang="en-IN" sz="1600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 –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6- 3x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     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2   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ight Arrow 1"/>
          <p:cNvSpPr/>
          <p:nvPr/>
        </p:nvSpPr>
        <p:spPr>
          <a:xfrm>
            <a:off x="3547872" y="512064"/>
            <a:ext cx="57302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804160" y="1584960"/>
            <a:ext cx="585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206752" y="5047488"/>
            <a:ext cx="463296" cy="12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55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7952"/>
                <a:ext cx="10515600" cy="607161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leaving basic variable</a:t>
                </a:r>
              </a:p>
              <a:p>
                <a:pPr marL="0" indent="0">
                  <a:buNone/>
                </a:pP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0                                                    0                                                   -3      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   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                               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0                               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1       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0                                                    0                                                    0    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1                                                    </a:t>
                </a:r>
                <a:r>
                  <a:rPr lang="en-IN" sz="1600" b="1" i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        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	 pivot	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+ 3x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36	</a:t>
                </a:r>
              </a:p>
              <a:p>
                <a:pPr marL="0" indent="0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/3 –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/3 = 2</a:t>
                </a:r>
              </a:p>
              <a:p>
                <a:pPr marL="0" indent="0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 = 6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/3 +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/3 = 2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(New equation) 	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BFS = (2,6,2,0,0)	</a:t>
                </a:r>
              </a:p>
              <a:p>
                <a:pPr marL="0" indent="0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36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the current BFS (2,6,2,0,0) is optimal with Z = 36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CPF = 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(2,6)               </a:t>
                </a:r>
                <a:r>
                  <a:rPr lang="en-IN" sz="1600" b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*******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x</a:t>
                </a:r>
                <a:r>
                  <a:rPr lang="en-IN" sz="16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x</a:t>
                </a:r>
                <a:r>
                  <a:rPr lang="en-IN" sz="16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  <a:endParaRPr lang="en-IN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7952"/>
                <a:ext cx="10515600" cy="6071616"/>
              </a:xfrm>
              <a:blipFill>
                <a:blip r:embed="rId2" cstate="print"/>
                <a:stretch>
                  <a:fillRect l="-348" t="-11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2895600" y="536448"/>
            <a:ext cx="3291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ouble Bracket 5"/>
          <p:cNvSpPr/>
          <p:nvPr/>
        </p:nvSpPr>
        <p:spPr>
          <a:xfrm>
            <a:off x="1540764" y="1694688"/>
            <a:ext cx="585216" cy="1304544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uble Bracket 6"/>
          <p:cNvSpPr/>
          <p:nvPr/>
        </p:nvSpPr>
        <p:spPr>
          <a:xfrm>
            <a:off x="4290060" y="1694688"/>
            <a:ext cx="585216" cy="1304544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uble Bracket 7"/>
          <p:cNvSpPr/>
          <p:nvPr/>
        </p:nvSpPr>
        <p:spPr>
          <a:xfrm>
            <a:off x="7039356" y="1694688"/>
            <a:ext cx="585216" cy="1304544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4191762" y="2877314"/>
            <a:ext cx="196596" cy="24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>
            <a:off x="2420112" y="2234184"/>
            <a:ext cx="890016" cy="2255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Arrow 12"/>
          <p:cNvSpPr/>
          <p:nvPr/>
        </p:nvSpPr>
        <p:spPr>
          <a:xfrm rot="10800000">
            <a:off x="5368290" y="2234183"/>
            <a:ext cx="813054" cy="2255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6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612038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Simplex method in Tabular form</a:t>
            </a:r>
          </a:p>
          <a:p>
            <a:pPr marL="0" indent="0" algn="just">
              <a:buNone/>
            </a:pP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way to do computation in a convenient form </a:t>
            </a:r>
          </a:p>
          <a:p>
            <a:pPr marL="0" indent="0" algn="just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– 3x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5x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pPr marL="0" indent="0" algn="ctr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      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=  4</a:t>
            </a:r>
          </a:p>
          <a:p>
            <a:pPr marL="0" indent="0" algn="ctr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2x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+  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= 12</a:t>
            </a:r>
          </a:p>
          <a:p>
            <a:pPr marL="0" indent="0" algn="ctr">
              <a:buNone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3x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+ 2x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+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= 18</a:t>
            </a:r>
          </a:p>
          <a:p>
            <a:pPr marL="0" indent="0" algn="just">
              <a:buNone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pivot element/number                                                     </a:t>
            </a:r>
            <a:endParaRPr lang="en-IN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322767"/>
              </p:ext>
            </p:extLst>
          </p:nvPr>
        </p:nvGraphicFramePr>
        <p:xfrm>
          <a:off x="1702816" y="3804240"/>
          <a:ext cx="8128000" cy="2209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264022035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882092801"/>
                    </a:ext>
                  </a:extLst>
                </a:gridCol>
                <a:gridCol w="1007872">
                  <a:extLst>
                    <a:ext uri="{9D8B030D-6E8A-4147-A177-3AD203B41FA5}">
                      <a16:colId xmlns:a16="http://schemas.microsoft.com/office/drawing/2014/main" xmlns="" val="425498428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xmlns="" val="36509407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374081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298581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87975227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887816288"/>
                    </a:ext>
                  </a:extLst>
                </a:gridCol>
              </a:tblGrid>
              <a:tr h="658267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Basic variable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Z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-25000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RHS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57785976"/>
                  </a:ext>
                </a:extLst>
              </a:tr>
              <a:tr h="381377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                      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08541198"/>
                  </a:ext>
                </a:extLst>
              </a:tr>
              <a:tr h="381377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600" b="1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3387248"/>
                  </a:ext>
                </a:extLst>
              </a:tr>
              <a:tr h="407498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600" b="1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        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24066491"/>
                  </a:ext>
                </a:extLst>
              </a:tr>
              <a:tr h="381377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600" b="1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9682309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577559"/>
              </p:ext>
            </p:extLst>
          </p:nvPr>
        </p:nvGraphicFramePr>
        <p:xfrm>
          <a:off x="3730752" y="3371426"/>
          <a:ext cx="5096256" cy="426720"/>
        </p:xfrm>
        <a:graphic>
          <a:graphicData uri="http://schemas.openxmlformats.org/drawingml/2006/table">
            <a:tbl>
              <a:tblPr/>
              <a:tblGrid>
                <a:gridCol w="5096256">
                  <a:extLst>
                    <a:ext uri="{9D8B030D-6E8A-4147-A177-3AD203B41FA5}">
                      <a16:colId xmlns:a16="http://schemas.microsoft.com/office/drawing/2014/main" xmlns="" val="1058019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lang="en-IN" dirty="0" smtClean="0"/>
                        <a:t>                            </a:t>
                      </a:r>
                      <a:r>
                        <a:rPr lang="en-IN" b="1" dirty="0" smtClean="0"/>
                        <a:t>coefficient of</a:t>
                      </a:r>
                      <a:endParaRPr lang="en-IN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33527798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H="1" flipV="1">
            <a:off x="5352288" y="5498592"/>
            <a:ext cx="414528" cy="4544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59680" y="4462272"/>
            <a:ext cx="0" cy="1490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559552" y="4462272"/>
            <a:ext cx="12192" cy="1490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059680" y="4462272"/>
            <a:ext cx="499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059680" y="5953082"/>
            <a:ext cx="512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730752" y="5181600"/>
            <a:ext cx="6100064" cy="12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3730752" y="5549053"/>
            <a:ext cx="6100064" cy="24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3730752" y="5193792"/>
            <a:ext cx="0" cy="379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9830816" y="5193792"/>
            <a:ext cx="0" cy="3674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123423" y="3798145"/>
            <a:ext cx="10241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Ratio </a:t>
            </a:r>
          </a:p>
          <a:p>
            <a:endParaRPr lang="en-IN" b="1" dirty="0" smtClean="0"/>
          </a:p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12/2 = 6</a:t>
            </a:r>
          </a:p>
          <a:p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18/2 = 9</a:t>
            </a: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1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7952"/>
                <a:ext cx="10515600" cy="6352032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IN" sz="16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Initialization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(0,0,4,12,18)</a:t>
                </a:r>
                <a:endParaRPr lang="en-IN" sz="1700" b="1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20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7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Optimality test</a:t>
                </a:r>
                <a:r>
                  <a:rPr lang="en-IN" sz="1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Stop when all coefficients in row 1 is non negative (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≥0)</m:t>
                    </m:r>
                  </m:oMath>
                </a14:m>
                <a:endParaRPr lang="en-IN" sz="1600" b="1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1700" b="1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hoose the entering basic variable </a:t>
                </a:r>
                <a:r>
                  <a:rPr lang="en-I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IN" sz="1600" u="sng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pivot column</a:t>
                </a:r>
                <a:r>
                  <a:rPr lang="en-I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the largest negative coefficient 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(automatically non-basic)    </a:t>
                </a:r>
              </a:p>
              <a:p>
                <a:pPr marL="0" indent="0" algn="just">
                  <a:buNone/>
                </a:pPr>
                <a:r>
                  <a:rPr lang="en-IN" sz="17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Minimum ratio test to  identify </a:t>
                </a:r>
                <a:r>
                  <a:rPr lang="en-IN" sz="1600" u="sng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leaving basic variable  </a:t>
                </a:r>
              </a:p>
              <a:p>
                <a:pPr marL="0" indent="0" algn="just">
                  <a:buNone/>
                </a:pPr>
                <a:endParaRPr lang="en-IN" sz="17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2000" b="1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20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20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</a:p>
              <a:p>
                <a:pPr marL="0" indent="0" algn="just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IN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leaving the basis                       x</a:t>
                </a:r>
                <a:r>
                  <a:rPr lang="en-IN" sz="15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5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entering basic variable                                                   </a:t>
                </a:r>
                <a:r>
                  <a:rPr lang="en-IN" sz="15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</a:t>
                </a:r>
                <a:endParaRPr lang="en-IN" sz="15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IN" sz="20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7952"/>
                <a:ext cx="10515600" cy="6352032"/>
              </a:xfrm>
              <a:blipFill>
                <a:blip r:embed="rId2" cstate="print"/>
                <a:stretch>
                  <a:fillRect l="-406" t="-10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081857"/>
              </p:ext>
            </p:extLst>
          </p:nvPr>
        </p:nvGraphicFramePr>
        <p:xfrm>
          <a:off x="1702816" y="3804240"/>
          <a:ext cx="8128000" cy="2209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264022035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882092801"/>
                    </a:ext>
                  </a:extLst>
                </a:gridCol>
                <a:gridCol w="1007872">
                  <a:extLst>
                    <a:ext uri="{9D8B030D-6E8A-4147-A177-3AD203B41FA5}">
                      <a16:colId xmlns:a16="http://schemas.microsoft.com/office/drawing/2014/main" xmlns="" val="425498428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xmlns="" val="36509407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374081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298581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87975227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887816288"/>
                    </a:ext>
                  </a:extLst>
                </a:gridCol>
              </a:tblGrid>
              <a:tr h="658267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Basic variable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Z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-25000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RHS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57785976"/>
                  </a:ext>
                </a:extLst>
              </a:tr>
              <a:tr h="381377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5/2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                     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08541198"/>
                  </a:ext>
                </a:extLst>
              </a:tr>
              <a:tr h="381377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600" b="1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3387248"/>
                  </a:ext>
                </a:extLst>
              </a:tr>
              <a:tr h="407498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600" b="1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        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24066491"/>
                  </a:ext>
                </a:extLst>
              </a:tr>
              <a:tr h="381377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600" b="1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9682309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577559"/>
              </p:ext>
            </p:extLst>
          </p:nvPr>
        </p:nvGraphicFramePr>
        <p:xfrm>
          <a:off x="3730752" y="3371426"/>
          <a:ext cx="5096256" cy="426720"/>
        </p:xfrm>
        <a:graphic>
          <a:graphicData uri="http://schemas.openxmlformats.org/drawingml/2006/table">
            <a:tbl>
              <a:tblPr/>
              <a:tblGrid>
                <a:gridCol w="5096256">
                  <a:extLst>
                    <a:ext uri="{9D8B030D-6E8A-4147-A177-3AD203B41FA5}">
                      <a16:colId xmlns:a16="http://schemas.microsoft.com/office/drawing/2014/main" xmlns="" val="1058019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lang="en-IN" dirty="0" smtClean="0"/>
                        <a:t>                            </a:t>
                      </a:r>
                      <a:r>
                        <a:rPr lang="en-IN" b="1" dirty="0" smtClean="0"/>
                        <a:t>coefficient of</a:t>
                      </a:r>
                      <a:endParaRPr lang="en-IN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33527798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>
            <a:off x="4011168" y="4462272"/>
            <a:ext cx="0" cy="15518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511040" y="4462272"/>
            <a:ext cx="12192" cy="1532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011168" y="4462272"/>
            <a:ext cx="499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011168" y="6005330"/>
            <a:ext cx="512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730752" y="5597145"/>
            <a:ext cx="6100064" cy="121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3730752" y="6011335"/>
            <a:ext cx="6100064" cy="24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3730752" y="5609337"/>
            <a:ext cx="0" cy="4040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9830816" y="5609337"/>
            <a:ext cx="0" cy="3674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070084" y="3798146"/>
            <a:ext cx="102412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Ratio </a:t>
            </a:r>
          </a:p>
          <a:p>
            <a:endParaRPr lang="en-IN" b="1" dirty="0" smtClean="0"/>
          </a:p>
          <a:p>
            <a:endParaRPr lang="en-IN" b="1" dirty="0" smtClean="0"/>
          </a:p>
          <a:p>
            <a:endParaRPr lang="en-IN" b="1" dirty="0"/>
          </a:p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4/1 = 4</a:t>
            </a:r>
          </a:p>
          <a:p>
            <a:endParaRPr lang="en-IN" sz="1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6/3 = 2</a:t>
            </a: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1792224" y="5876544"/>
            <a:ext cx="304800" cy="1591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1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635203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sz="17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315399"/>
              </p:ext>
            </p:extLst>
          </p:nvPr>
        </p:nvGraphicFramePr>
        <p:xfrm>
          <a:off x="1532128" y="1695364"/>
          <a:ext cx="8128000" cy="2209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264022035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882092801"/>
                    </a:ext>
                  </a:extLst>
                </a:gridCol>
                <a:gridCol w="1007872">
                  <a:extLst>
                    <a:ext uri="{9D8B030D-6E8A-4147-A177-3AD203B41FA5}">
                      <a16:colId xmlns:a16="http://schemas.microsoft.com/office/drawing/2014/main" xmlns="" val="425498428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xmlns="" val="36509407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374081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298581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87975227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887816288"/>
                    </a:ext>
                  </a:extLst>
                </a:gridCol>
              </a:tblGrid>
              <a:tr h="658267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Basic variable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Z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x</a:t>
                      </a:r>
                      <a:r>
                        <a:rPr lang="en-IN" baseline="-25000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RHS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57785976"/>
                  </a:ext>
                </a:extLst>
              </a:tr>
              <a:tr h="381377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08541198"/>
                  </a:ext>
                </a:extLst>
              </a:tr>
              <a:tr h="381377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600" b="1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-1/3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3387248"/>
                  </a:ext>
                </a:extLst>
              </a:tr>
              <a:tr h="407498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600" b="1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        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24066491"/>
                  </a:ext>
                </a:extLst>
              </a:tr>
              <a:tr h="381377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600" b="1" i="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-1/3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9682309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30754"/>
              </p:ext>
            </p:extLst>
          </p:nvPr>
        </p:nvGraphicFramePr>
        <p:xfrm>
          <a:off x="3547872" y="1286594"/>
          <a:ext cx="5096256" cy="426720"/>
        </p:xfrm>
        <a:graphic>
          <a:graphicData uri="http://schemas.openxmlformats.org/drawingml/2006/table">
            <a:tbl>
              <a:tblPr/>
              <a:tblGrid>
                <a:gridCol w="5096256">
                  <a:extLst>
                    <a:ext uri="{9D8B030D-6E8A-4147-A177-3AD203B41FA5}">
                      <a16:colId xmlns:a16="http://schemas.microsoft.com/office/drawing/2014/main" xmlns="" val="1058019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lang="en-IN" dirty="0" smtClean="0"/>
                        <a:t>                            </a:t>
                      </a:r>
                      <a:r>
                        <a:rPr lang="en-IN" b="1" dirty="0" smtClean="0"/>
                        <a:t>coefficient of</a:t>
                      </a:r>
                      <a:endParaRPr lang="en-IN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33527798"/>
                  </a:ext>
                </a:extLst>
              </a:tr>
            </a:tbl>
          </a:graphicData>
        </a:graphic>
      </p:graphicFrame>
      <p:cxnSp>
        <p:nvCxnSpPr>
          <p:cNvPr id="28" name="Straight Connector 27"/>
          <p:cNvCxnSpPr/>
          <p:nvPr/>
        </p:nvCxnSpPr>
        <p:spPr>
          <a:xfrm flipV="1">
            <a:off x="9830816" y="5609337"/>
            <a:ext cx="0" cy="3674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17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7952"/>
            <a:ext cx="10515600" cy="57990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000" b="1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Tie </a:t>
            </a:r>
            <a:r>
              <a:rPr lang="en-IN" sz="20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Breaking of Simplex Method</a:t>
            </a:r>
          </a:p>
          <a:p>
            <a:pPr marL="0" indent="0" algn="just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</a:t>
            </a:r>
          </a:p>
          <a:p>
            <a:pPr algn="just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Tie for entering basic variable :        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 the tie arbitrarily                            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                         -3x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2x</a:t>
            </a:r>
            <a:r>
              <a:rPr lang="en-IN" sz="9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&lt;=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IN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Tie for leaving basic variable:</a:t>
            </a:r>
          </a:p>
          <a:p>
            <a:pPr marL="0" indent="0" algn="just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First, degenerate BF solution                                                                                             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   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x</a:t>
            </a:r>
            <a:r>
              <a:rPr lang="en-IN" sz="16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1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(0,6)                    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x</a:t>
            </a:r>
            <a:r>
              <a:rPr lang="en-IN" sz="16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(-4,0)                                        </a:t>
            </a:r>
            <a:r>
              <a:rPr lang="en-IN" sz="16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Second, if one basic variable retains its value zero, the entering basic variable must also be zero. So, Z remains unchanged </a:t>
            </a:r>
          </a:p>
          <a:p>
            <a:pPr marL="0" indent="0" algn="just">
              <a:buNone/>
            </a:pP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 algn="just">
              <a:buNone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Third, perpetual loop. Z may not increase</a:t>
            </a:r>
          </a:p>
          <a:p>
            <a:pPr marL="0" indent="0" algn="just">
              <a:buNone/>
            </a:pPr>
            <a:endParaRPr lang="en-IN" sz="16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 choice of leaving variable                  </a:t>
            </a:r>
            <a:r>
              <a:rPr lang="en-IN" sz="1600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B: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NB: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I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6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                  </a:t>
            </a:r>
            <a:r>
              <a:rPr lang="en-IN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2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B: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      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NB: x</a:t>
            </a:r>
            <a:r>
              <a:rPr lang="en-IN" sz="16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IN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7388352" y="3359870"/>
            <a:ext cx="3474720" cy="26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8686799" y="1541310"/>
            <a:ext cx="0" cy="1818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7763254" y="1735285"/>
            <a:ext cx="1795273" cy="1624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8686799" y="2547577"/>
            <a:ext cx="6766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9357359" y="2547577"/>
            <a:ext cx="402336" cy="521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9759695" y="3048000"/>
            <a:ext cx="0" cy="311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9357359" y="1486282"/>
            <a:ext cx="11399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9256775" y="1512781"/>
            <a:ext cx="201168" cy="4450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67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7952"/>
                <a:ext cx="10515600" cy="57990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18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 leaving Basic variable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Unbounded</a:t>
                </a:r>
                <a:r>
                  <a:rPr lang="en-IN" sz="1600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It 3:</a:t>
                </a:r>
              </a:p>
              <a:p>
                <a:pPr marL="0" indent="0">
                  <a:buNone/>
                </a:pPr>
                <a:endParaRPr lang="en-IN" sz="16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Max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+ 5x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≤4</m:t>
                    </m:r>
                  </m:oMath>
                </a14:m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4 </a:t>
                </a:r>
              </a:p>
              <a:p>
                <a:pPr marL="0" indent="0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endParaRPr lang="en-I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</a:p>
              <a:p>
                <a:pPr marL="0" indent="0">
                  <a:buNone/>
                </a:pPr>
                <a:endParaRPr lang="en-I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7952"/>
                <a:ext cx="10515600" cy="5799011"/>
              </a:xfrm>
              <a:blipFill rotWithShape="1">
                <a:blip r:embed="rId2"/>
                <a:stretch>
                  <a:fillRect t="-9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/>
          <p:cNvSpPr/>
          <p:nvPr/>
        </p:nvSpPr>
        <p:spPr>
          <a:xfrm>
            <a:off x="2901696" y="1527049"/>
            <a:ext cx="670560" cy="1676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898929"/>
              </p:ext>
            </p:extLst>
          </p:nvPr>
        </p:nvGraphicFramePr>
        <p:xfrm>
          <a:off x="1751584" y="2560658"/>
          <a:ext cx="81280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xmlns="" val="12078083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50312529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313344864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60482301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375115430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xmlns="" val="34839819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600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6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6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RHS</a:t>
                      </a:r>
                      <a:endParaRPr kumimoji="0" lang="en-I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67161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7817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6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37301838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6266688" y="2978742"/>
            <a:ext cx="12192" cy="6422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6266688" y="2962655"/>
            <a:ext cx="52425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790944" y="2962656"/>
            <a:ext cx="0" cy="6583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278880" y="3621024"/>
            <a:ext cx="512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119360" y="3277457"/>
            <a:ext cx="86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u="sng" dirty="0" smtClean="0"/>
              <a:t>None</a:t>
            </a:r>
            <a:endParaRPr lang="en-IN" i="1" u="sng" dirty="0"/>
          </a:p>
        </p:txBody>
      </p:sp>
    </p:spTree>
    <p:extLst>
      <p:ext uri="{BB962C8B-B14F-4D97-AF65-F5344CB8AC3E}">
        <p14:creationId xmlns:p14="http://schemas.microsoft.com/office/powerpoint/2010/main" val="232745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9184"/>
            <a:ext cx="10515600" cy="5799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Multiple optimal solution</a:t>
            </a:r>
          </a:p>
          <a:p>
            <a:pPr marL="0" indent="0">
              <a:buNone/>
            </a:pPr>
            <a:endParaRPr lang="en-IN" sz="20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= 3x</a:t>
            </a:r>
            <a:r>
              <a:rPr lang="en-I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+ 2x</a:t>
            </a:r>
            <a:r>
              <a:rPr lang="en-IN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226142"/>
              </p:ext>
            </p:extLst>
          </p:nvPr>
        </p:nvGraphicFramePr>
        <p:xfrm>
          <a:off x="1922272" y="181694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3750894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1271972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2137901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26234993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6900186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8788707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9571403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153419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366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1459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214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79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½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899210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273447"/>
              </p:ext>
            </p:extLst>
          </p:nvPr>
        </p:nvGraphicFramePr>
        <p:xfrm>
          <a:off x="1922272" y="411395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37508941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1271972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21379017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26234993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6900186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8788707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9571403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1534192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366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1459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214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1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79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-3/2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8992108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>
            <a:endCxn id="5" idx="2"/>
          </p:cNvCxnSpPr>
          <p:nvPr/>
        </p:nvCxnSpPr>
        <p:spPr>
          <a:xfrm>
            <a:off x="5986272" y="4462272"/>
            <a:ext cx="0" cy="150588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979920" y="4462272"/>
            <a:ext cx="8709" cy="14813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992368" y="4462272"/>
            <a:ext cx="99974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5998464" y="5954050"/>
            <a:ext cx="9936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5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7952"/>
                <a:ext cx="10515600" cy="6247931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IN" sz="20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Adapting to other model forms</a:t>
                </a:r>
              </a:p>
              <a:p>
                <a:pPr marL="0" indent="0" algn="just">
                  <a:buNone/>
                </a:pPr>
                <a:r>
                  <a:rPr lang="en-IN" sz="1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b                     </a:t>
                </a:r>
                <a:r>
                  <a:rPr lang="en-IN" sz="1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I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</a:t>
                </a:r>
                <a:r>
                  <a:rPr lang="en-IN" sz="1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Increase the number of constraints           </a:t>
                </a:r>
              </a:p>
              <a:p>
                <a:pPr marL="0" indent="0" algn="just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Very big number</a:t>
                </a:r>
                <a:endParaRPr lang="en-IN" sz="1800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18 </a:t>
                </a:r>
              </a:p>
              <a:p>
                <a:pPr marL="0" indent="0" algn="ctr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– 3x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5x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……(0)</a:t>
                </a:r>
              </a:p>
              <a:p>
                <a:pPr marL="0" indent="0" algn="ctr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4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…………………. (1) </a:t>
                </a:r>
              </a:p>
              <a:p>
                <a:pPr marL="0" indent="0" algn="ctr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2x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=12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………………   (2)</a:t>
                </a:r>
              </a:p>
              <a:p>
                <a:pPr marL="0" indent="0" algn="ctr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+ 2x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="1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18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………..(3)</a:t>
                </a:r>
              </a:p>
              <a:p>
                <a:pPr marL="0" indent="0" algn="ctr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</a:t>
                </a:r>
                <a:r>
                  <a:rPr lang="en-IN" sz="1800" i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Artificial variable</a:t>
                </a:r>
                <a:endParaRPr lang="en-IN" sz="1600" i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30 – 6M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(2,6)</a:t>
                </a:r>
              </a:p>
              <a:p>
                <a:pPr marL="0" indent="0" algn="just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(0,6)                                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36</a:t>
                </a:r>
              </a:p>
              <a:p>
                <a:pPr marL="0" indent="0" algn="just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</a:t>
                </a:r>
                <a:r>
                  <a:rPr lang="en-IN" sz="1600" b="1" i="1" dirty="0" smtClean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counter-clockwise movement</a:t>
                </a:r>
                <a:endParaRPr lang="en-IN" sz="16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(4,3)    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27 </a:t>
                </a:r>
              </a:p>
              <a:p>
                <a:pPr marL="0" indent="0" algn="just">
                  <a:buNone/>
                </a:pPr>
                <a:endParaRPr lang="en-I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(0,0)                                  (4,0)    </a:t>
                </a:r>
              </a:p>
              <a:p>
                <a:pPr marL="0" indent="0" algn="just">
                  <a:buNone/>
                </a:pPr>
                <a:r>
                  <a:rPr lang="en-IN" sz="1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Z = 0 -18M                        Z = 12-6M                  </a:t>
                </a:r>
                <a:endParaRPr lang="en-IN" sz="16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7952"/>
                <a:ext cx="10515600" cy="6247931"/>
              </a:xfrm>
              <a:blipFill rotWithShape="1">
                <a:blip r:embed="rId2"/>
                <a:stretch>
                  <a:fillRect l="-348" t="-9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Left Brace 1"/>
          <p:cNvSpPr/>
          <p:nvPr/>
        </p:nvSpPr>
        <p:spPr>
          <a:xfrm>
            <a:off x="2109216" y="865632"/>
            <a:ext cx="268224" cy="56083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6144768" y="1731264"/>
            <a:ext cx="1524000" cy="499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5913120" y="3511296"/>
            <a:ext cx="146304" cy="231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475232" y="4230624"/>
            <a:ext cx="0" cy="14264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21664" y="5657088"/>
            <a:ext cx="36332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475232" y="4376928"/>
            <a:ext cx="13289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804160" y="4376928"/>
            <a:ext cx="682752" cy="597408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486912" y="4974336"/>
            <a:ext cx="12192" cy="682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267968" y="4230624"/>
            <a:ext cx="207264" cy="146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 flipV="1">
            <a:off x="1475232" y="5657088"/>
            <a:ext cx="311365" cy="3638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 flipV="1">
            <a:off x="3499104" y="5657088"/>
            <a:ext cx="566459" cy="3638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c 38"/>
          <p:cNvSpPr/>
          <p:nvPr/>
        </p:nvSpPr>
        <p:spPr>
          <a:xfrm>
            <a:off x="2158452" y="4523233"/>
            <a:ext cx="3602267" cy="1969476"/>
          </a:xfrm>
          <a:prstGeom prst="arc">
            <a:avLst>
              <a:gd name="adj1" fmla="val 16200000"/>
              <a:gd name="adj2" fmla="val 8555192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H="1" flipV="1">
            <a:off x="3572490" y="4502599"/>
            <a:ext cx="663760" cy="447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153750" y="3872835"/>
            <a:ext cx="3080825" cy="2142041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x</a:t>
            </a:r>
            <a:r>
              <a:rPr lang="en-IN" b="1" u="sng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will eventually become 0 ? </a:t>
            </a:r>
          </a:p>
          <a:p>
            <a:pPr algn="ctr"/>
            <a:r>
              <a:rPr lang="en-IN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 will vanish from the objective ?</a:t>
            </a:r>
          </a:p>
          <a:p>
            <a:pPr algn="ctr"/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feasible solution will lie on the line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84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304"/>
            <a:ext cx="10515600" cy="634822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– 3x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5x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Mx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                                                Not suitable </a:t>
            </a: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Z = f (non-basic)</a:t>
            </a:r>
          </a:p>
          <a:p>
            <a:pPr marL="0" indent="0">
              <a:buNone/>
            </a:pPr>
            <a:r>
              <a:rPr lang="en-IN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*****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– 3(1+M)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(5 + 2M) x</a:t>
            </a:r>
            <a:r>
              <a:rPr lang="en-IN" sz="16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-18M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1536192" y="1072896"/>
            <a:ext cx="475488" cy="1219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629089"/>
              </p:ext>
            </p:extLst>
          </p:nvPr>
        </p:nvGraphicFramePr>
        <p:xfrm>
          <a:off x="1897888" y="2443988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3517824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18452496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13700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70152534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6802096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5165604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951545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709870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4166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-3M</a:t>
                      </a:r>
                      <a:r>
                        <a:rPr lang="en-IN" baseline="0" dirty="0" smtClean="0"/>
                        <a:t> –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-5 – 2M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-18M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96101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  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293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  0</a:t>
                      </a:r>
                      <a:r>
                        <a:rPr lang="en-IN" baseline="0" dirty="0" smtClean="0"/>
                        <a:t>       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   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1659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  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  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aseline="0" dirty="0" smtClean="0"/>
                        <a:t> </a:t>
                      </a:r>
                      <a:r>
                        <a:rPr lang="en-IN" dirty="0" smtClean="0"/>
                        <a:t> 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85512982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/>
          <p:nvPr/>
        </p:nvCxnSpPr>
        <p:spPr>
          <a:xfrm>
            <a:off x="2926080" y="3182112"/>
            <a:ext cx="709980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926080" y="3560064"/>
            <a:ext cx="70998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2926080" y="3182111"/>
            <a:ext cx="0" cy="3779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10025888" y="3182112"/>
            <a:ext cx="0" cy="377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419856" y="4298188"/>
            <a:ext cx="43840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51464"/>
              </p:ext>
            </p:extLst>
          </p:nvPr>
        </p:nvGraphicFramePr>
        <p:xfrm>
          <a:off x="1888744" y="444068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3517824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18452496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13700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70152534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6802096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5165604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951545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709870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4166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-5 – 2M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3M +3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-6M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96101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293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 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1659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-3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85512982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/>
          <p:nvPr/>
        </p:nvCxnSpPr>
        <p:spPr>
          <a:xfrm>
            <a:off x="2926080" y="6294880"/>
            <a:ext cx="70998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926080" y="5913120"/>
            <a:ext cx="70998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2926080" y="5913120"/>
            <a:ext cx="0" cy="3779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10025888" y="5913120"/>
            <a:ext cx="0" cy="3779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4948937" y="4785358"/>
            <a:ext cx="7111" cy="15057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5943600" y="4809743"/>
            <a:ext cx="18288" cy="14752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4928616" y="4797550"/>
            <a:ext cx="101498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1158240" y="6134862"/>
            <a:ext cx="48768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5419852" y="4277648"/>
            <a:ext cx="16256" cy="30425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77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304"/>
            <a:ext cx="10515600" cy="6348224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386153"/>
              </p:ext>
            </p:extLst>
          </p:nvPr>
        </p:nvGraphicFramePr>
        <p:xfrm>
          <a:off x="1740407" y="3148978"/>
          <a:ext cx="81280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3517824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18452496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13700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70152534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6802096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5165604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951545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709870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4166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3/2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M + 1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</a:rPr>
                        <a:t>36</a:t>
                      </a:r>
                      <a:endParaRPr lang="en-IN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96101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-1/3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1/3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293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1/3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-1/3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1659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1/2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85512982"/>
                  </a:ext>
                </a:extLst>
              </a:tr>
            </a:tbl>
          </a:graphicData>
        </a:graphic>
      </p:graphicFrame>
      <p:cxnSp>
        <p:nvCxnSpPr>
          <p:cNvPr id="44" name="Straight Arrow Connector 43"/>
          <p:cNvCxnSpPr/>
          <p:nvPr/>
        </p:nvCxnSpPr>
        <p:spPr>
          <a:xfrm flipH="1">
            <a:off x="1011936" y="2209038"/>
            <a:ext cx="48768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945578"/>
              </p:ext>
            </p:extLst>
          </p:nvPr>
        </p:nvGraphicFramePr>
        <p:xfrm>
          <a:off x="1733296" y="92316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35178240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18452496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13700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70152534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6802096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35165604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19515452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709870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41662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-9/2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M + 5/2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96101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en-IN" b="1" baseline="-25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293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 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1659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 -3/2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1/2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85512982"/>
                  </a:ext>
                </a:extLst>
              </a:tr>
            </a:tbl>
          </a:graphicData>
        </a:graphic>
      </p:graphicFrame>
      <p:cxnSp>
        <p:nvCxnSpPr>
          <p:cNvPr id="27" name="Straight Connector 26"/>
          <p:cNvCxnSpPr/>
          <p:nvPr/>
        </p:nvCxnSpPr>
        <p:spPr>
          <a:xfrm>
            <a:off x="2761488" y="2054352"/>
            <a:ext cx="70998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761488" y="2414016"/>
            <a:ext cx="70998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2779776" y="2054352"/>
            <a:ext cx="0" cy="3779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9843008" y="2054352"/>
            <a:ext cx="0" cy="3779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305296" y="444502"/>
            <a:ext cx="6096" cy="3863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797296" y="1285752"/>
            <a:ext cx="7111" cy="15057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6811267" y="1278698"/>
            <a:ext cx="7111" cy="15057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797804" y="1310261"/>
            <a:ext cx="101498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796283" y="2780885"/>
            <a:ext cx="101498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32283" y="5434661"/>
            <a:ext cx="8128000" cy="694944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/>
              <a:t>Z = 36           </a:t>
            </a:r>
            <a:r>
              <a:rPr lang="en-IN" b="1" dirty="0" smtClean="0"/>
              <a:t>x</a:t>
            </a:r>
            <a:r>
              <a:rPr lang="en-IN" b="1" baseline="-25000" dirty="0" smtClean="0"/>
              <a:t>1 </a:t>
            </a:r>
            <a:r>
              <a:rPr lang="en-IN" b="1" dirty="0" smtClean="0"/>
              <a:t>= 2, x</a:t>
            </a:r>
            <a:r>
              <a:rPr lang="en-IN" b="1" baseline="-25000" dirty="0" smtClean="0"/>
              <a:t>2</a:t>
            </a:r>
            <a:r>
              <a:rPr lang="en-IN" b="1" dirty="0" smtClean="0"/>
              <a:t> = 6, x</a:t>
            </a:r>
            <a:r>
              <a:rPr lang="en-IN" b="1" baseline="-25000" dirty="0" smtClean="0"/>
              <a:t>3</a:t>
            </a:r>
            <a:r>
              <a:rPr lang="en-IN" b="1" dirty="0" smtClean="0"/>
              <a:t> = 2, x</a:t>
            </a:r>
            <a:r>
              <a:rPr lang="en-IN" b="1" baseline="-25000" dirty="0" smtClean="0"/>
              <a:t>4</a:t>
            </a:r>
            <a:r>
              <a:rPr lang="en-IN" b="1" dirty="0" smtClean="0"/>
              <a:t> = 0, x</a:t>
            </a:r>
            <a:r>
              <a:rPr lang="en-IN" b="1" baseline="-25000" dirty="0" smtClean="0"/>
              <a:t>5</a:t>
            </a:r>
            <a:r>
              <a:rPr lang="en-IN" b="1" dirty="0" smtClean="0"/>
              <a:t> = 0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3286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7952"/>
                <a:ext cx="10515600" cy="579901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0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Negative RHS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</a:p>
              <a:p>
                <a:pPr marL="0" indent="0">
                  <a:buNone/>
                </a:pPr>
                <a:endParaRPr lang="en-IN" sz="20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≤−1</m:t>
                    </m:r>
                  </m:oMath>
                </a14:m>
                <a:endParaRPr lang="en-IN" sz="1600" b="1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-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  1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IN" sz="1600" b="1" u="sng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Surplus variable         </a:t>
                </a:r>
              </a:p>
              <a:p>
                <a:pPr marL="0" indent="0">
                  <a:buNone/>
                </a:pPr>
                <a:endParaRPr lang="en-IN" sz="16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Z  = 0.4x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 0.5x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     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0.4x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 0.5x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Mx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b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0.3x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+ 0.1x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  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𝟕</m:t>
                    </m:r>
                  </m:oMath>
                </a14:m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16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2.7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</a:t>
                </a:r>
              </a:p>
              <a:p>
                <a:pPr marL="0" indent="0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0.5x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+ 0.5x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16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        </m:t>
                    </m:r>
                    <m:r>
                      <m:rPr>
                        <m:nor/>
                      </m:rPr>
                      <a: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0.5</m:t>
                    </m:r>
                    <m:r>
                      <m:rPr>
                        <m:nor/>
                      </m:rPr>
                      <a: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sz="1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+ 0.5</m:t>
                    </m:r>
                    <m:r>
                      <m:rPr>
                        <m:nor/>
                      </m:rPr>
                      <a: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sz="1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16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sz="1600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IN" sz="16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  6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</a:p>
              <a:p>
                <a:pPr marL="0" indent="0">
                  <a:buNone/>
                </a:pP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0.6x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+ 0.4x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    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+ 0.4x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14:m>
                  <m:oMath xmlns:m="http://schemas.openxmlformats.org/officeDocument/2006/math">
                    <m:r>
                      <a:rPr lang="en-IN" sz="16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16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sz="16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6</m:t>
                    </m:r>
                  </m:oMath>
                </a14:m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IN" sz="16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1…….6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7952"/>
                <a:ext cx="10515600" cy="5799011"/>
              </a:xfrm>
              <a:blipFill>
                <a:blip r:embed="rId2" cstate="print"/>
                <a:stretch>
                  <a:fillRect l="-638" t="-10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1414272" y="1792224"/>
            <a:ext cx="609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ight Arrow 4"/>
          <p:cNvSpPr/>
          <p:nvPr/>
        </p:nvSpPr>
        <p:spPr>
          <a:xfrm>
            <a:off x="3596640" y="4087369"/>
            <a:ext cx="573024" cy="2773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37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37616" y="6096"/>
                <a:ext cx="10515600" cy="6699503"/>
              </a:xfrm>
            </p:spPr>
            <p:txBody>
              <a:bodyPr>
                <a:normAutofit/>
              </a:bodyPr>
              <a:lstStyle/>
              <a:p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+ 0.4x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(6,6)</a:t>
                </a:r>
              </a:p>
              <a:p>
                <a:pPr marL="0" indent="0"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(7.5, 4.5)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</a:t>
                </a:r>
                <a:r>
                  <a:rPr lang="en-I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5.25</a:t>
                </a:r>
                <a:endParaRPr lang="en-IN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(8,3)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0.3x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+ 0.1x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≤2.7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0.5x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+ 0.5x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:r>
                  <a:rPr lang="en-I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0 + 12M                                  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</a:t>
                </a:r>
                <a:r>
                  <a:rPr lang="en-I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3.6 + 2.1M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(9,0)             (10,0)      </a:t>
                </a:r>
                <a:r>
                  <a:rPr lang="en-I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4.7 + 0.5M </a:t>
                </a:r>
                <a:endParaRPr lang="en-I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7616" y="6096"/>
                <a:ext cx="10515600" cy="6699503"/>
              </a:xfrm>
              <a:blipFill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/>
          <p:cNvCxnSpPr/>
          <p:nvPr/>
        </p:nvCxnSpPr>
        <p:spPr>
          <a:xfrm>
            <a:off x="1682496" y="749808"/>
            <a:ext cx="0" cy="58186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682496" y="6531864"/>
            <a:ext cx="8132064" cy="243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700784" y="1170432"/>
            <a:ext cx="5411724" cy="53995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603248" y="2438399"/>
            <a:ext cx="7603236" cy="411784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 flipV="1">
            <a:off x="4824984" y="1411225"/>
            <a:ext cx="1170432" cy="512063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560576" y="2438400"/>
            <a:ext cx="158496" cy="1219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1603248" y="1109471"/>
            <a:ext cx="158496" cy="1219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1999488" y="1109471"/>
            <a:ext cx="274320" cy="2804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943600" y="6469378"/>
            <a:ext cx="103632" cy="10058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/>
          <p:cNvSpPr/>
          <p:nvPr/>
        </p:nvSpPr>
        <p:spPr>
          <a:xfrm>
            <a:off x="6997446" y="6446519"/>
            <a:ext cx="158496" cy="1219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/>
          <p:cNvSpPr/>
          <p:nvPr/>
        </p:nvSpPr>
        <p:spPr>
          <a:xfrm>
            <a:off x="9066275" y="6507479"/>
            <a:ext cx="158496" cy="1219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/>
          <p:cNvSpPr/>
          <p:nvPr/>
        </p:nvSpPr>
        <p:spPr>
          <a:xfrm>
            <a:off x="1613916" y="6466329"/>
            <a:ext cx="158496" cy="1219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7" name="Straight Arrow Connector 46"/>
          <p:cNvCxnSpPr/>
          <p:nvPr/>
        </p:nvCxnSpPr>
        <p:spPr>
          <a:xfrm flipH="1">
            <a:off x="5253990" y="5907024"/>
            <a:ext cx="554736" cy="1584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5686044" y="4533900"/>
            <a:ext cx="30937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1769365" y="6071616"/>
            <a:ext cx="230123" cy="3459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594604" y="6399913"/>
            <a:ext cx="364173" cy="1099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Multiply 61"/>
          <p:cNvSpPr/>
          <p:nvPr/>
        </p:nvSpPr>
        <p:spPr>
          <a:xfrm>
            <a:off x="4450081" y="3894580"/>
            <a:ext cx="243840" cy="26822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Multiply 62"/>
          <p:cNvSpPr/>
          <p:nvPr/>
        </p:nvSpPr>
        <p:spPr>
          <a:xfrm>
            <a:off x="5420868" y="4430713"/>
            <a:ext cx="243840" cy="26822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Multiply 63"/>
          <p:cNvSpPr/>
          <p:nvPr/>
        </p:nvSpPr>
        <p:spPr>
          <a:xfrm>
            <a:off x="6925056" y="2474976"/>
            <a:ext cx="243840" cy="26822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Multiply 64"/>
          <p:cNvSpPr/>
          <p:nvPr/>
        </p:nvSpPr>
        <p:spPr>
          <a:xfrm>
            <a:off x="7077456" y="2627376"/>
            <a:ext cx="243840" cy="268223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Multiply 65"/>
          <p:cNvSpPr/>
          <p:nvPr/>
        </p:nvSpPr>
        <p:spPr>
          <a:xfrm>
            <a:off x="7229856" y="2779776"/>
            <a:ext cx="243840" cy="26822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Multiply 66"/>
          <p:cNvSpPr/>
          <p:nvPr/>
        </p:nvSpPr>
        <p:spPr>
          <a:xfrm>
            <a:off x="5542788" y="4980431"/>
            <a:ext cx="243840" cy="26822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ontent Placeholder 2"/>
              <p:cNvSpPr txBox="1">
                <a:spLocks/>
              </p:cNvSpPr>
              <p:nvPr/>
            </p:nvSpPr>
            <p:spPr>
              <a:xfrm>
                <a:off x="749808" y="12191"/>
                <a:ext cx="11259312" cy="66995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CPF for the real problem</a:t>
                </a:r>
                <a:endParaRPr lang="en-IN" sz="20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CPF for the artificial problem</a:t>
                </a:r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+ 0.4x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1600" b="0" i="1" smtClean="0">
                        <a:latin typeface="Cambria Math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(6,6)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(7.5, 4.5)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</a:t>
                </a:r>
                <a:r>
                  <a:rPr lang="en-I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5.25</a:t>
                </a:r>
                <a:endParaRPr lang="en-IN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(8,3)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0.3x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+ 0.1x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≤2.7</m:t>
                    </m:r>
                  </m:oMath>
                </a14:m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0.5x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+ 0.5x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:r>
                  <a:rPr lang="en-I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0 + 12M                                 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</a:t>
                </a:r>
                <a:r>
                  <a:rPr lang="en-I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3.6 + 2.1M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(9,0)             (10,0)      </a:t>
                </a:r>
                <a:r>
                  <a:rPr lang="en-IN" sz="16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4.7 + 0.5M </a:t>
                </a:r>
                <a:endParaRPr lang="en-I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12191"/>
                <a:ext cx="11259312" cy="669950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Multiply 68"/>
          <p:cNvSpPr/>
          <p:nvPr/>
        </p:nvSpPr>
        <p:spPr>
          <a:xfrm>
            <a:off x="5177028" y="468629"/>
            <a:ext cx="243840" cy="268223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Oval 69"/>
          <p:cNvSpPr/>
          <p:nvPr/>
        </p:nvSpPr>
        <p:spPr>
          <a:xfrm>
            <a:off x="5219700" y="977645"/>
            <a:ext cx="158496" cy="12192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ounded Rectangle 71"/>
          <p:cNvSpPr/>
          <p:nvPr/>
        </p:nvSpPr>
        <p:spPr>
          <a:xfrm>
            <a:off x="6925056" y="2438399"/>
            <a:ext cx="548640" cy="609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ounded Rectangle 72"/>
          <p:cNvSpPr/>
          <p:nvPr/>
        </p:nvSpPr>
        <p:spPr>
          <a:xfrm>
            <a:off x="8513064" y="606869"/>
            <a:ext cx="3340608" cy="32877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 smtClean="0"/>
              <a:t>First Phase</a:t>
            </a:r>
          </a:p>
          <a:p>
            <a:pPr algn="just"/>
            <a:r>
              <a:rPr lang="en-IN" dirty="0" smtClean="0"/>
              <a:t>Obtains a Basic feasible solution for the real problem (artificial variables are driven to zero)</a:t>
            </a:r>
          </a:p>
          <a:p>
            <a:pPr algn="ctr"/>
            <a:r>
              <a:rPr lang="en-IN" b="1" u="sng" dirty="0" smtClean="0"/>
              <a:t>Second Phase</a:t>
            </a:r>
          </a:p>
          <a:p>
            <a:pPr algn="just"/>
            <a:r>
              <a:rPr lang="en-IN" dirty="0" smtClean="0"/>
              <a:t>Starts with the BFS from Phase 1, and finds the optimal solution</a:t>
            </a:r>
          </a:p>
          <a:p>
            <a:pPr algn="just"/>
            <a:endParaRPr lang="en-IN" dirty="0"/>
          </a:p>
        </p:txBody>
      </p:sp>
      <p:sp>
        <p:nvSpPr>
          <p:cNvPr id="74" name="Rounded Rectangle 73"/>
          <p:cNvSpPr/>
          <p:nvPr/>
        </p:nvSpPr>
        <p:spPr>
          <a:xfrm>
            <a:off x="9635490" y="4923602"/>
            <a:ext cx="2215134" cy="1476311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 smtClean="0"/>
              <a:t>When you hit </a:t>
            </a:r>
          </a:p>
          <a:p>
            <a:pPr algn="just"/>
            <a:r>
              <a:rPr lang="en-IN" dirty="0" smtClean="0"/>
              <a:t>x</a:t>
            </a:r>
            <a:r>
              <a:rPr lang="en-IN" baseline="-25000" dirty="0" smtClean="0"/>
              <a:t>6</a:t>
            </a:r>
            <a:r>
              <a:rPr lang="en-IN" dirty="0" smtClean="0"/>
              <a:t> = 0 and x</a:t>
            </a:r>
            <a:r>
              <a:rPr lang="en-IN" sz="1200" dirty="0" smtClean="0"/>
              <a:t>4</a:t>
            </a:r>
            <a:r>
              <a:rPr lang="en-IN" dirty="0" smtClean="0"/>
              <a:t> = 0 at (7.5, 4.5), you obtain CPFs for the original problem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85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50392" y="170688"/>
            <a:ext cx="10515600" cy="6156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Z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-0.4x</a:t>
            </a:r>
            <a:r>
              <a:rPr lang="en-IN" sz="1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- 0.5x</a:t>
            </a:r>
            <a:r>
              <a:rPr lang="en-IN" sz="1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Mx</a:t>
            </a:r>
            <a:r>
              <a:rPr lang="en-I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Mx</a:t>
            </a:r>
            <a:r>
              <a:rPr lang="en-IN" sz="1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836414"/>
              </p:ext>
            </p:extLst>
          </p:nvPr>
        </p:nvGraphicFramePr>
        <p:xfrm>
          <a:off x="1751584" y="1085426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xmlns="" val="1453314820"/>
                    </a:ext>
                  </a:extLst>
                </a:gridCol>
                <a:gridCol w="417689">
                  <a:extLst>
                    <a:ext uri="{9D8B030D-6E8A-4147-A177-3AD203B41FA5}">
                      <a16:colId xmlns:a16="http://schemas.microsoft.com/office/drawing/2014/main" xmlns="" val="1724425476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xmlns="" val="988230885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xmlns="" val="356214901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xmlns="" val="4256819132"/>
                    </a:ext>
                  </a:extLst>
                </a:gridCol>
                <a:gridCol w="891370">
                  <a:extLst>
                    <a:ext uri="{9D8B030D-6E8A-4147-A177-3AD203B41FA5}">
                      <a16:colId xmlns:a16="http://schemas.microsoft.com/office/drawing/2014/main" xmlns="" val="88394698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45840653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5385008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750314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51003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-1.1M + 0.4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-0.9M</a:t>
                      </a:r>
                      <a:r>
                        <a:rPr lang="en-IN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+ 0.5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-12M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7610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376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67663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6651588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57994"/>
              </p:ext>
            </p:extLst>
          </p:nvPr>
        </p:nvGraphicFramePr>
        <p:xfrm>
          <a:off x="1751583" y="3042242"/>
          <a:ext cx="8127999" cy="230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xmlns="" val="1453314820"/>
                    </a:ext>
                  </a:extLst>
                </a:gridCol>
                <a:gridCol w="417689">
                  <a:extLst>
                    <a:ext uri="{9D8B030D-6E8A-4147-A177-3AD203B41FA5}">
                      <a16:colId xmlns:a16="http://schemas.microsoft.com/office/drawing/2014/main" xmlns="" val="1724425476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xmlns="" val="988230885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xmlns="" val="356214901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xmlns="" val="4256819132"/>
                    </a:ext>
                  </a:extLst>
                </a:gridCol>
                <a:gridCol w="891370">
                  <a:extLst>
                    <a:ext uri="{9D8B030D-6E8A-4147-A177-3AD203B41FA5}">
                      <a16:colId xmlns:a16="http://schemas.microsoft.com/office/drawing/2014/main" xmlns="" val="88394698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45840653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5385008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750314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51003548"/>
                  </a:ext>
                </a:extLst>
              </a:tr>
              <a:tr h="695622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-16/30 M + 11/30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11/3</a:t>
                      </a:r>
                      <a:r>
                        <a:rPr lang="en-IN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IN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4/3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-2.1M – 3.6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7610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376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67663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66515886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 flipV="1">
            <a:off x="3072384" y="1816608"/>
            <a:ext cx="6807198" cy="1219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072384" y="2176272"/>
            <a:ext cx="6807198" cy="1219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72384" y="1816608"/>
            <a:ext cx="0" cy="3657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879582" y="1810512"/>
            <a:ext cx="0" cy="3657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072384" y="1437979"/>
            <a:ext cx="0" cy="14765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273296" y="1463040"/>
            <a:ext cx="0" cy="147658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072384" y="1463040"/>
            <a:ext cx="12009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072384" y="2939626"/>
            <a:ext cx="120091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3072384" y="5333998"/>
            <a:ext cx="6807198" cy="1219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3072384" y="4949273"/>
            <a:ext cx="6807198" cy="1219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877548" y="4961465"/>
            <a:ext cx="0" cy="3657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072384" y="4968238"/>
            <a:ext cx="0" cy="3657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449824" y="3401568"/>
            <a:ext cx="0" cy="192565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4291584" y="3420533"/>
            <a:ext cx="0" cy="192565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291584" y="3420533"/>
            <a:ext cx="115824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2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50392" y="170688"/>
            <a:ext cx="10515600" cy="6156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endParaRPr lang="en-I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055635"/>
              </p:ext>
            </p:extLst>
          </p:nvPr>
        </p:nvGraphicFramePr>
        <p:xfrm>
          <a:off x="1751584" y="1048850"/>
          <a:ext cx="8127999" cy="206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xmlns="" val="1453314820"/>
                    </a:ext>
                  </a:extLst>
                </a:gridCol>
                <a:gridCol w="417689">
                  <a:extLst>
                    <a:ext uri="{9D8B030D-6E8A-4147-A177-3AD203B41FA5}">
                      <a16:colId xmlns:a16="http://schemas.microsoft.com/office/drawing/2014/main" xmlns="" val="1724425476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xmlns="" val="988230885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xmlns="" val="356214901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xmlns="" val="4256819132"/>
                    </a:ext>
                  </a:extLst>
                </a:gridCol>
                <a:gridCol w="891370">
                  <a:extLst>
                    <a:ext uri="{9D8B030D-6E8A-4147-A177-3AD203B41FA5}">
                      <a16:colId xmlns:a16="http://schemas.microsoft.com/office/drawing/2014/main" xmlns="" val="88394698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45840653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5385008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750314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51003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 M + 7/3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 M + 11/6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8/3M – 11/6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-0.5M</a:t>
                      </a:r>
                      <a:r>
                        <a:rPr lang="en-IN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4.7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7610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376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67663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6651588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091456"/>
              </p:ext>
            </p:extLst>
          </p:nvPr>
        </p:nvGraphicFramePr>
        <p:xfrm>
          <a:off x="1751584" y="3688418"/>
          <a:ext cx="8127999" cy="2178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xmlns="" val="1453314820"/>
                    </a:ext>
                  </a:extLst>
                </a:gridCol>
                <a:gridCol w="417689">
                  <a:extLst>
                    <a:ext uri="{9D8B030D-6E8A-4147-A177-3AD203B41FA5}">
                      <a16:colId xmlns:a16="http://schemas.microsoft.com/office/drawing/2014/main" xmlns="" val="1724425476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xmlns="" val="988230885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xmlns="" val="356214901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xmlns="" val="4256819132"/>
                    </a:ext>
                  </a:extLst>
                </a:gridCol>
                <a:gridCol w="891370">
                  <a:extLst>
                    <a:ext uri="{9D8B030D-6E8A-4147-A177-3AD203B41FA5}">
                      <a16:colId xmlns:a16="http://schemas.microsoft.com/office/drawing/2014/main" xmlns="" val="88394698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45840653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5385008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750314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51003548"/>
                  </a:ext>
                </a:extLst>
              </a:tr>
              <a:tr h="695622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– 1.1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-5.25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76104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sz="1800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7376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67663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66515886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V="1">
            <a:off x="3072385" y="2724912"/>
            <a:ext cx="6807198" cy="1219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3072385" y="2344590"/>
            <a:ext cx="6807198" cy="1219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871453" y="2344590"/>
            <a:ext cx="8130" cy="3803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072385" y="2344590"/>
            <a:ext cx="0" cy="39251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7156704" y="1393953"/>
            <a:ext cx="24384" cy="17173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071104" y="1393953"/>
            <a:ext cx="0" cy="17173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156704" y="3111330"/>
            <a:ext cx="9144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156704" y="1410210"/>
            <a:ext cx="9144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24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7952"/>
                <a:ext cx="10927080" cy="6266688"/>
              </a:xfrm>
            </p:spPr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</a:t>
                </a:r>
                <a:r>
                  <a:rPr lang="en-IN" sz="1800" b="1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Unboundedness</a:t>
                </a: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         </a:t>
                </a:r>
                <a:r>
                  <a:rPr lang="en-IN" sz="16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1600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endParaRPr lang="en-I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</a:t>
                </a: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</a:t>
                </a:r>
                <a:r>
                  <a:rPr lang="en-IN" sz="16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                      </a:t>
                </a:r>
                <a:r>
                  <a:rPr lang="en-IN" sz="16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</a:t>
                </a:r>
              </a:p>
              <a:p>
                <a:pPr marL="0" indent="0">
                  <a:buNone/>
                </a:pPr>
                <a:r>
                  <a:rPr lang="en-IN" sz="1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                               x</a:t>
                </a:r>
                <a:r>
                  <a:rPr lang="en-IN" sz="16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sz="1600" b="1" i="1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endParaRPr lang="en-I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             </a:t>
                </a:r>
              </a:p>
              <a:p>
                <a:pPr marL="0" indent="0">
                  <a:buNone/>
                </a:pPr>
                <a:r>
                  <a:rPr lang="en-IN" sz="1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                x</a:t>
                </a:r>
                <a:r>
                  <a:rPr lang="en-IN" sz="1600" b="1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I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             </a:t>
                </a:r>
                <a:r>
                  <a:rPr lang="en-IN" sz="1900" b="1" u="sng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Degeneracy</a:t>
                </a:r>
              </a:p>
              <a:p>
                <a:pPr marL="0" indent="0">
                  <a:buNone/>
                </a:pPr>
                <a:r>
                  <a:rPr lang="en-IN" sz="17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feasible solution </a:t>
                </a:r>
                <a:r>
                  <a:rPr lang="en-IN" sz="17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(Infeasibility)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                                                                                                       </a:t>
                </a: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7952"/>
                <a:ext cx="10927080" cy="6266688"/>
              </a:xfrm>
              <a:blipFill>
                <a:blip r:embed="rId2" cstate="print"/>
                <a:stretch>
                  <a:fillRect l="-335" t="-6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 flipH="1">
            <a:off x="8144256" y="902208"/>
            <a:ext cx="12192" cy="19263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0357104" y="792480"/>
            <a:ext cx="0" cy="22067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485888" y="1688592"/>
            <a:ext cx="3867912" cy="121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449312" y="2511552"/>
            <a:ext cx="3511296" cy="243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107680" y="1633728"/>
            <a:ext cx="97536" cy="1219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10308336" y="1639824"/>
            <a:ext cx="97536" cy="1219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/>
          <p:cNvSpPr/>
          <p:nvPr/>
        </p:nvSpPr>
        <p:spPr>
          <a:xfrm>
            <a:off x="8095488" y="2474976"/>
            <a:ext cx="97536" cy="1219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10308336" y="2474976"/>
            <a:ext cx="97536" cy="12192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9997440" y="1231392"/>
            <a:ext cx="0" cy="4023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357104" y="2273808"/>
            <a:ext cx="4572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11137392" y="1286256"/>
            <a:ext cx="0" cy="4023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0427208" y="902208"/>
            <a:ext cx="4572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ounded Rectangle 32"/>
              <p:cNvSpPr/>
              <p:nvPr/>
            </p:nvSpPr>
            <p:spPr>
              <a:xfrm>
                <a:off x="1170432" y="902208"/>
                <a:ext cx="5340096" cy="1694688"/>
              </a:xfrm>
              <a:prstGeom prst="round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Phase I, </a:t>
                </a:r>
              </a:p>
              <a:p>
                <a:pPr algn="ctr"/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+ 0.4x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 </m:t>
                    </m:r>
                    <m:r>
                      <a:rPr lang="en-IN" sz="16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becomes redundant. Why ?</a:t>
                </a:r>
              </a:p>
              <a:p>
                <a:pPr algn="ctr"/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6 + (x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x</a:t>
                </a:r>
                <a:r>
                  <a:rPr lang="en-IN" sz="16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</a:t>
                </a:r>
                <a:r>
                  <a:rPr lang="en-IN" sz="1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0  &lt; 0</a:t>
                </a:r>
                <a:endParaRPr lang="en-IN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Rounded 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32" y="902208"/>
                <a:ext cx="5340096" cy="1694688"/>
              </a:xfrm>
              <a:prstGeom prst="roundRect">
                <a:avLst/>
              </a:prstGeom>
              <a:blipFill>
                <a:blip r:embed="rId3" cstate="print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048512" y="4340352"/>
                <a:ext cx="64008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 smtClean="0"/>
                  <a:t>At least one of the Artificial variable will be greater than zero (0)</a:t>
                </a:r>
              </a:p>
              <a:p>
                <a:endParaRPr lang="en-IN" dirty="0"/>
              </a:p>
              <a:p>
                <a:r>
                  <a:rPr lang="en-IN" dirty="0" smtClean="0"/>
                  <a:t>0.3x</a:t>
                </a:r>
                <a:r>
                  <a:rPr lang="en-IN" baseline="-25000" dirty="0" smtClean="0"/>
                  <a:t>1</a:t>
                </a:r>
                <a:r>
                  <a:rPr lang="en-IN" dirty="0" smtClean="0"/>
                  <a:t> + 0.1x</a:t>
                </a:r>
                <a:r>
                  <a:rPr lang="en-IN" baseline="-25000" dirty="0" smtClean="0"/>
                  <a:t>2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≤2.7</m:t>
                    </m:r>
                  </m:oMath>
                </a14:m>
                <a:r>
                  <a:rPr lang="en-IN" dirty="0" smtClean="0"/>
                  <a:t>,                 0.3x</a:t>
                </a:r>
                <a:r>
                  <a:rPr lang="en-IN" baseline="-25000" dirty="0" smtClean="0"/>
                  <a:t>1</a:t>
                </a:r>
                <a:r>
                  <a:rPr lang="en-IN" dirty="0" smtClean="0"/>
                  <a:t> </a:t>
                </a:r>
                <a:r>
                  <a:rPr lang="en-IN" dirty="0"/>
                  <a:t>+ 0.1x</a:t>
                </a:r>
                <a:r>
                  <a:rPr lang="en-IN" baseline="-25000" dirty="0"/>
                  <a:t>2</a:t>
                </a:r>
                <a:r>
                  <a:rPr lang="en-IN" dirty="0" smtClean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1.8</m:t>
                    </m:r>
                  </m:oMath>
                </a14:m>
                <a:r>
                  <a:rPr lang="en-IN" dirty="0" smtClean="0"/>
                  <a:t>   </a:t>
                </a:r>
                <a:endParaRPr lang="en-IN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12" y="4340352"/>
                <a:ext cx="6400800" cy="923330"/>
              </a:xfrm>
              <a:prstGeom prst="rect">
                <a:avLst/>
              </a:prstGeom>
              <a:blipFill>
                <a:blip r:embed="rId4" cstate="print"/>
                <a:stretch>
                  <a:fillRect l="-762" t="-3311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>
            <a:off x="3182112" y="5084064"/>
            <a:ext cx="463296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8612124" y="5293372"/>
            <a:ext cx="2770632" cy="243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9419844" y="4082130"/>
            <a:ext cx="0" cy="16724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9204960" y="3913632"/>
            <a:ext cx="1380744" cy="5974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9139048" y="4082130"/>
            <a:ext cx="1000124" cy="103813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9700641" y="4575660"/>
            <a:ext cx="955167" cy="33366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9997440" y="4684149"/>
            <a:ext cx="963168" cy="77510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 flipV="1">
            <a:off x="10139172" y="4094734"/>
            <a:ext cx="634745" cy="15254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10773917" y="4247281"/>
            <a:ext cx="186691" cy="4368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Multiply 68"/>
          <p:cNvSpPr/>
          <p:nvPr/>
        </p:nvSpPr>
        <p:spPr>
          <a:xfrm>
            <a:off x="9294876" y="4300001"/>
            <a:ext cx="236220" cy="232505"/>
          </a:xfrm>
          <a:prstGeom prst="mathMultipl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Multiply 69"/>
          <p:cNvSpPr/>
          <p:nvPr/>
        </p:nvSpPr>
        <p:spPr>
          <a:xfrm>
            <a:off x="9301734" y="5177119"/>
            <a:ext cx="236220" cy="232505"/>
          </a:xfrm>
          <a:prstGeom prst="mathMultipl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Oval 91"/>
          <p:cNvSpPr/>
          <p:nvPr/>
        </p:nvSpPr>
        <p:spPr>
          <a:xfrm flipH="1">
            <a:off x="9537383" y="485345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Oval 92"/>
          <p:cNvSpPr/>
          <p:nvPr/>
        </p:nvSpPr>
        <p:spPr>
          <a:xfrm flipH="1">
            <a:off x="10201086" y="485750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Oval 93"/>
          <p:cNvSpPr/>
          <p:nvPr/>
        </p:nvSpPr>
        <p:spPr>
          <a:xfrm flipH="1">
            <a:off x="10120884" y="498882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Oval 94"/>
          <p:cNvSpPr/>
          <p:nvPr/>
        </p:nvSpPr>
        <p:spPr>
          <a:xfrm flipH="1">
            <a:off x="10034397" y="491947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Oval 95"/>
          <p:cNvSpPr/>
          <p:nvPr/>
        </p:nvSpPr>
        <p:spPr>
          <a:xfrm flipH="1">
            <a:off x="9635113" y="474249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Oval 96"/>
          <p:cNvSpPr/>
          <p:nvPr/>
        </p:nvSpPr>
        <p:spPr>
          <a:xfrm flipH="1">
            <a:off x="9654921" y="487206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Oval 97"/>
          <p:cNvSpPr/>
          <p:nvPr/>
        </p:nvSpPr>
        <p:spPr>
          <a:xfrm flipH="1">
            <a:off x="9670925" y="514529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9" name="Oval 98"/>
          <p:cNvSpPr/>
          <p:nvPr/>
        </p:nvSpPr>
        <p:spPr>
          <a:xfrm flipH="1">
            <a:off x="9885427" y="497985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0" name="Oval 99"/>
          <p:cNvSpPr/>
          <p:nvPr/>
        </p:nvSpPr>
        <p:spPr>
          <a:xfrm flipH="1">
            <a:off x="9821230" y="479279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1" name="Oval 100"/>
          <p:cNvSpPr/>
          <p:nvPr/>
        </p:nvSpPr>
        <p:spPr>
          <a:xfrm flipH="1">
            <a:off x="9689593" y="463843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Oval 101"/>
          <p:cNvSpPr/>
          <p:nvPr/>
        </p:nvSpPr>
        <p:spPr>
          <a:xfrm flipH="1">
            <a:off x="9950770" y="477915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3" name="Oval 102"/>
          <p:cNvSpPr/>
          <p:nvPr/>
        </p:nvSpPr>
        <p:spPr>
          <a:xfrm flipH="1">
            <a:off x="10178226" y="507750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Oval 103"/>
          <p:cNvSpPr/>
          <p:nvPr/>
        </p:nvSpPr>
        <p:spPr>
          <a:xfrm flipH="1">
            <a:off x="9514523" y="504881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Oval 104"/>
          <p:cNvSpPr/>
          <p:nvPr/>
        </p:nvSpPr>
        <p:spPr>
          <a:xfrm flipH="1">
            <a:off x="9811323" y="505562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Oval 105"/>
          <p:cNvSpPr/>
          <p:nvPr/>
        </p:nvSpPr>
        <p:spPr>
          <a:xfrm flipH="1">
            <a:off x="10340344" y="497394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Oval 106"/>
          <p:cNvSpPr/>
          <p:nvPr/>
        </p:nvSpPr>
        <p:spPr>
          <a:xfrm flipH="1" flipV="1">
            <a:off x="9992871" y="517864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9" name="Straight Connector 108"/>
          <p:cNvCxnSpPr/>
          <p:nvPr/>
        </p:nvCxnSpPr>
        <p:spPr>
          <a:xfrm flipV="1">
            <a:off x="9885427" y="4171007"/>
            <a:ext cx="422909" cy="467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V="1">
            <a:off x="10062211" y="4214488"/>
            <a:ext cx="422909" cy="467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V="1">
            <a:off x="10273665" y="4247281"/>
            <a:ext cx="382143" cy="518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flipV="1">
            <a:off x="10512171" y="4410298"/>
            <a:ext cx="299848" cy="428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V="1">
            <a:off x="10735819" y="4520990"/>
            <a:ext cx="176784" cy="303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Multiply 116"/>
          <p:cNvSpPr/>
          <p:nvPr/>
        </p:nvSpPr>
        <p:spPr>
          <a:xfrm>
            <a:off x="10010586" y="4002531"/>
            <a:ext cx="236220" cy="232505"/>
          </a:xfrm>
          <a:prstGeom prst="mathMultiply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Rounded Rectangle 117"/>
          <p:cNvSpPr/>
          <p:nvPr/>
        </p:nvSpPr>
        <p:spPr>
          <a:xfrm>
            <a:off x="5376672" y="5459251"/>
            <a:ext cx="2718816" cy="80743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Multiple optimal solution in Phase I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39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7952"/>
                <a:ext cx="10515600" cy="5799011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IN" sz="2400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Two-Phase method</a:t>
                </a:r>
              </a:p>
              <a:p>
                <a:pPr marL="0" indent="0" algn="just">
                  <a:buNone/>
                </a:pPr>
                <a:r>
                  <a:rPr lang="en-IN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</a:t>
                </a:r>
                <a:r>
                  <a:rPr lang="en-IN" sz="20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(without explicitly using M)</a:t>
                </a:r>
              </a:p>
              <a:p>
                <a:pPr marL="0" indent="0" algn="just">
                  <a:buNone/>
                </a:pPr>
                <a:r>
                  <a:rPr lang="en-I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Z = 0.4x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 0.5x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Mx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  <a:p>
                <a:pPr marL="0" indent="0" algn="just">
                  <a:buNone/>
                </a:pPr>
                <a:endParaRPr lang="en-IN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1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Z =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(until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zero)</a:t>
                </a:r>
              </a:p>
              <a:p>
                <a:pPr marL="0" indent="0" algn="just">
                  <a:buNone/>
                </a:pPr>
                <a:r>
                  <a:rPr lang="en-IN" sz="1600" b="1" u="sng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 2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         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Z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 0.5x</a:t>
                </a:r>
                <a:r>
                  <a:rPr lang="en-I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(with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x</a:t>
                </a:r>
                <a:r>
                  <a:rPr lang="en-IN" sz="16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IN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0)</a:t>
                </a:r>
              </a:p>
              <a:p>
                <a:pPr marL="0" indent="0" algn="just">
                  <a:buNone/>
                </a:pPr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</a:t>
                </a:r>
              </a:p>
              <a:p>
                <a:pPr marL="0" indent="0" algn="just">
                  <a:buNone/>
                </a:pPr>
                <a:endParaRPr lang="en-IN" sz="16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Z = 0.4x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+ 0.5x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IN" sz="16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+ 0.1x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 2.7</m:t>
                    </m:r>
                  </m:oMath>
                </a14:m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s.t   0.3x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+ 0.1x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 2.7</m:t>
                    </m:r>
                  </m:oMath>
                </a14:m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    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0.5</m:t>
                    </m:r>
                    <m:r>
                      <m:rPr>
                        <m:nor/>
                      </m:rPr>
                      <a: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sz="16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+ 0.5</m:t>
                    </m:r>
                    <m:r>
                      <m:rPr>
                        <m:nor/>
                      </m:rPr>
                      <a: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sz="16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m:rPr>
                        <m:nor/>
                      </m:rPr>
                      <a: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sz="16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  6</m:t>
                    </m:r>
                  </m:oMath>
                </a14:m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0.5</m:t>
                    </m:r>
                    <m:r>
                      <m:rPr>
                        <m:nor/>
                      </m:rPr>
                      <a: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sz="16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+ 0.5</m:t>
                    </m:r>
                    <m:r>
                      <m:rPr>
                        <m:nor/>
                      </m:rPr>
                      <a: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sz="1600" i="1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  6</m:t>
                    </m:r>
                  </m:oMath>
                </a14:m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</a:p>
              <a:p>
                <a:pPr marL="0" indent="0" algn="just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+ 0.4x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 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14:m>
                  <m:oMath xmlns:m="http://schemas.openxmlformats.org/officeDocument/2006/math">
                    <m:r>
                      <a:rPr lang="en-IN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   6</m:t>
                    </m:r>
                  </m:oMath>
                </a14:m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+ 0.4x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   6</m:t>
                    </m:r>
                  </m:oMath>
                </a14:m>
                <a:endParaRPr lang="en-I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:r>
                  <a:rPr lang="en-IN" sz="16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≥0; </m:t>
                    </m:r>
                  </m:oMath>
                </a14:m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1….6                                                               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≥0; </m:t>
                    </m:r>
                  </m:oMath>
                </a14:m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IN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1,2,3,5</a:t>
                </a:r>
                <a:endParaRPr lang="en-I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IN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1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7952"/>
                <a:ext cx="10515600" cy="5799011"/>
              </a:xfrm>
              <a:blipFill>
                <a:blip r:embed="rId2" cstate="print"/>
                <a:stretch>
                  <a:fillRect l="-348" t="-15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/>
          <p:nvPr/>
        </p:nvCxnSpPr>
        <p:spPr>
          <a:xfrm>
            <a:off x="5462016" y="2060448"/>
            <a:ext cx="109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016752" y="2060448"/>
            <a:ext cx="109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462016" y="2371344"/>
            <a:ext cx="109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907024" y="2371344"/>
            <a:ext cx="109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4504" y="3033617"/>
            <a:ext cx="1011936" cy="48768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hase  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20512" y="3033617"/>
            <a:ext cx="1097280" cy="48768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hase  II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546592" y="2901697"/>
            <a:ext cx="2487168" cy="2926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variable driven to 0</a:t>
            </a:r>
          </a:p>
          <a:p>
            <a:pPr algn="ctr"/>
            <a:endParaRPr lang="en-IN" sz="16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BFS</a:t>
            </a:r>
          </a:p>
          <a:p>
            <a:pPr algn="ctr"/>
            <a:endParaRPr lang="en-IN" sz="16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PROBLEM</a:t>
            </a:r>
            <a:endParaRPr lang="en-IN" sz="16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9765792" y="4218432"/>
            <a:ext cx="0" cy="573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2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" y="159385"/>
            <a:ext cx="10515600" cy="640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35726"/>
              </p:ext>
            </p:extLst>
          </p:nvPr>
        </p:nvGraphicFramePr>
        <p:xfrm>
          <a:off x="1940561" y="359474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xmlns="" val="37508941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21271972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21379017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26234993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690018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878870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29571403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15341922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751232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366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-1.1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-0.9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-12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1459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b="1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214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79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8992108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6778752" y="429451"/>
            <a:ext cx="207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822948" y="429451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304288" y="1938528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589264" y="429451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289048" y="1572768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715992"/>
              </p:ext>
            </p:extLst>
          </p:nvPr>
        </p:nvGraphicFramePr>
        <p:xfrm>
          <a:off x="1940561" y="3139188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079">
                  <a:extLst>
                    <a:ext uri="{9D8B030D-6E8A-4147-A177-3AD203B41FA5}">
                      <a16:colId xmlns:a16="http://schemas.microsoft.com/office/drawing/2014/main" xmlns="" val="375089410"/>
                    </a:ext>
                  </a:extLst>
                </a:gridCol>
                <a:gridCol w="912143">
                  <a:extLst>
                    <a:ext uri="{9D8B030D-6E8A-4147-A177-3AD203B41FA5}">
                      <a16:colId xmlns:a16="http://schemas.microsoft.com/office/drawing/2014/main" xmlns="" val="21271972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21379017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26234993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690018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878870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29571403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15341922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751232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366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-16/30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1459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214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½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79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IN" b="1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8992108"/>
                  </a:ext>
                </a:extLst>
              </a:tr>
            </a:tbl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6778752" y="3218688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589264" y="3218688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289048" y="4309872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304288" y="4693920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59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" y="159385"/>
            <a:ext cx="10515600" cy="640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50330"/>
              </p:ext>
            </p:extLst>
          </p:nvPr>
        </p:nvGraphicFramePr>
        <p:xfrm>
          <a:off x="1940560" y="1135254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xmlns="" val="37508941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21271972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21379017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26234993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690018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878870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29571403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15341922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751232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366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b="1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b="1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1459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214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en-IN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en-IN" b="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79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8992108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6813804" y="1258507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589264" y="1258507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308860" y="2353056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112532"/>
              </p:ext>
            </p:extLst>
          </p:nvPr>
        </p:nvGraphicFramePr>
        <p:xfrm>
          <a:off x="1940561" y="3139188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079">
                  <a:extLst>
                    <a:ext uri="{9D8B030D-6E8A-4147-A177-3AD203B41FA5}">
                      <a16:colId xmlns:a16="http://schemas.microsoft.com/office/drawing/2014/main" xmlns="" val="375089410"/>
                    </a:ext>
                  </a:extLst>
                </a:gridCol>
                <a:gridCol w="912143">
                  <a:extLst>
                    <a:ext uri="{9D8B030D-6E8A-4147-A177-3AD203B41FA5}">
                      <a16:colId xmlns:a16="http://schemas.microsoft.com/office/drawing/2014/main" xmlns="" val="21271972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21379017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26234993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690018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878870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29571403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15341922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751232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366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1459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214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79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8992108"/>
                  </a:ext>
                </a:extLst>
              </a:tr>
            </a:tbl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6778752" y="3218688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589264" y="3218688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08192" y="536448"/>
            <a:ext cx="1524000" cy="37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</a:t>
            </a:r>
            <a:r>
              <a:rPr lang="en-IN" b="1" dirty="0" smtClean="0">
                <a:solidFill>
                  <a:srgbClr val="FF0000"/>
                </a:solidFill>
              </a:rPr>
              <a:t>Tie</a:t>
            </a:r>
            <a:endParaRPr lang="en-IN" b="1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6108192" y="816864"/>
            <a:ext cx="542544" cy="7437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932676" y="816864"/>
            <a:ext cx="793750" cy="7462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062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" y="159385"/>
            <a:ext cx="10515600" cy="640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50330"/>
              </p:ext>
            </p:extLst>
          </p:nvPr>
        </p:nvGraphicFramePr>
        <p:xfrm>
          <a:off x="1940560" y="1135254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xmlns="" val="37508941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21271972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21379017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26234993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690018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8788707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295714038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15341922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751232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366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b="1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b="1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1459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214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en-IN" b="1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5/3</a:t>
                      </a:r>
                      <a:endParaRPr lang="en-IN" b="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-5/3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79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8992108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/>
          <p:nvPr/>
        </p:nvCxnSpPr>
        <p:spPr>
          <a:xfrm>
            <a:off x="6813804" y="1258507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8589264" y="1258507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308860" y="2353056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799557"/>
              </p:ext>
            </p:extLst>
          </p:nvPr>
        </p:nvGraphicFramePr>
        <p:xfrm>
          <a:off x="1940561" y="3139188"/>
          <a:ext cx="8127999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079">
                  <a:extLst>
                    <a:ext uri="{9D8B030D-6E8A-4147-A177-3AD203B41FA5}">
                      <a16:colId xmlns:a16="http://schemas.microsoft.com/office/drawing/2014/main" xmlns="" val="375089410"/>
                    </a:ext>
                  </a:extLst>
                </a:gridCol>
                <a:gridCol w="912143">
                  <a:extLst>
                    <a:ext uri="{9D8B030D-6E8A-4147-A177-3AD203B41FA5}">
                      <a16:colId xmlns:a16="http://schemas.microsoft.com/office/drawing/2014/main" xmlns="" val="212719720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21379017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26234993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36900186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87887074"/>
                    </a:ext>
                  </a:extLst>
                </a:gridCol>
                <a:gridCol w="1211749">
                  <a:extLst>
                    <a:ext uri="{9D8B030D-6E8A-4147-A177-3AD203B41FA5}">
                      <a16:colId xmlns:a16="http://schemas.microsoft.com/office/drawing/2014/main" xmlns="" val="2957140383"/>
                    </a:ext>
                  </a:extLst>
                </a:gridCol>
                <a:gridCol w="594473">
                  <a:extLst>
                    <a:ext uri="{9D8B030D-6E8A-4147-A177-3AD203B41FA5}">
                      <a16:colId xmlns:a16="http://schemas.microsoft.com/office/drawing/2014/main" xmlns="" val="115341922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xmlns="" val="1751232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83661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(multiple optimal solution)</a:t>
                      </a:r>
                      <a:endParaRPr lang="en-IN" b="0" i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14592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214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79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0" i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8992108"/>
                  </a:ext>
                </a:extLst>
              </a:tr>
            </a:tbl>
          </a:graphicData>
        </a:graphic>
      </p:graphicFrame>
      <p:cxnSp>
        <p:nvCxnSpPr>
          <p:cNvPr id="16" name="Straight Connector 15"/>
          <p:cNvCxnSpPr/>
          <p:nvPr/>
        </p:nvCxnSpPr>
        <p:spPr>
          <a:xfrm>
            <a:off x="6778752" y="3218688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589264" y="3218688"/>
            <a:ext cx="1188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108192" y="536448"/>
            <a:ext cx="1524000" cy="37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</a:t>
            </a:r>
            <a:r>
              <a:rPr lang="en-IN" b="1" dirty="0" smtClean="0">
                <a:solidFill>
                  <a:srgbClr val="FF0000"/>
                </a:solidFill>
              </a:rPr>
              <a:t>Tie</a:t>
            </a:r>
            <a:endParaRPr lang="en-IN" b="1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6108192" y="816864"/>
            <a:ext cx="542544" cy="7437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932676" y="816864"/>
            <a:ext cx="793750" cy="7462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06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7396184"/>
              </p:ext>
            </p:extLst>
          </p:nvPr>
        </p:nvGraphicFramePr>
        <p:xfrm>
          <a:off x="838200" y="585788"/>
          <a:ext cx="1051560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xmlns="" val="83601514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11553754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25960906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38803068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132409416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303412487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2105786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17778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6444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92534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46465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8667321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5342079"/>
              </p:ext>
            </p:extLst>
          </p:nvPr>
        </p:nvGraphicFramePr>
        <p:xfrm>
          <a:off x="838199" y="2640140"/>
          <a:ext cx="1051560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433">
                  <a:extLst>
                    <a:ext uri="{9D8B030D-6E8A-4147-A177-3AD203B41FA5}">
                      <a16:colId xmlns:a16="http://schemas.microsoft.com/office/drawing/2014/main" xmlns="" val="836015141"/>
                    </a:ext>
                  </a:extLst>
                </a:gridCol>
                <a:gridCol w="1453025">
                  <a:extLst>
                    <a:ext uri="{9D8B030D-6E8A-4147-A177-3AD203B41FA5}">
                      <a16:colId xmlns:a16="http://schemas.microsoft.com/office/drawing/2014/main" xmlns="" val="11553754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25960906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38803068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132409416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303412487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2105786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17778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-5.4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6444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92534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46465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86673219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H="1" flipV="1">
            <a:off x="8375904" y="2962656"/>
            <a:ext cx="24384" cy="153168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400288" y="2987040"/>
            <a:ext cx="145237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8388096" y="4494340"/>
            <a:ext cx="14767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 flipV="1">
            <a:off x="9852661" y="2962656"/>
            <a:ext cx="24384" cy="153168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2389632" y="3728498"/>
            <a:ext cx="896417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2389632" y="4124738"/>
            <a:ext cx="896417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2389632" y="3735674"/>
            <a:ext cx="0" cy="38906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11353802" y="3735674"/>
            <a:ext cx="6096" cy="38906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3136035"/>
              </p:ext>
            </p:extLst>
          </p:nvPr>
        </p:nvGraphicFramePr>
        <p:xfrm>
          <a:off x="838198" y="4655598"/>
          <a:ext cx="1051560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433">
                  <a:extLst>
                    <a:ext uri="{9D8B030D-6E8A-4147-A177-3AD203B41FA5}">
                      <a16:colId xmlns:a16="http://schemas.microsoft.com/office/drawing/2014/main" xmlns="" val="836015141"/>
                    </a:ext>
                  </a:extLst>
                </a:gridCol>
                <a:gridCol w="1453025">
                  <a:extLst>
                    <a:ext uri="{9D8B030D-6E8A-4147-A177-3AD203B41FA5}">
                      <a16:colId xmlns:a16="http://schemas.microsoft.com/office/drawing/2014/main" xmlns="" val="115537540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25960906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38803068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132409416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303412487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xmlns="" val="2105786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kumimoji="0" lang="en-IN" sz="1800" b="1" i="0" u="none" strike="noStrike" kern="1200" cap="none" spc="0" normalizeH="0" baseline="-2500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IN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RHS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17778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-5.25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64447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92534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46465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IN" b="1" baseline="-25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</a:t>
                      </a:r>
                      <a:endParaRPr lang="en-IN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86673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05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776" y="256032"/>
            <a:ext cx="10515600" cy="6083808"/>
          </a:xfrm>
        </p:spPr>
        <p:txBody>
          <a:bodyPr>
            <a:normAutofit/>
          </a:bodyPr>
          <a:lstStyle/>
          <a:p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</a:t>
            </a:r>
            <a:r>
              <a:rPr lang="en-I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(6,6)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</a:t>
            </a:r>
            <a:r>
              <a:rPr lang="en-I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(7.5,4.5) 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optimal </a:t>
            </a:r>
            <a:r>
              <a:rPr lang="en-I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(8,3)</a:t>
            </a:r>
          </a:p>
          <a:p>
            <a:pPr marL="0" indent="0">
              <a:buNone/>
            </a:pP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Difference with Big-M method</a:t>
            </a:r>
            <a:endParaRPr lang="en-IN" sz="200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523488" y="560832"/>
            <a:ext cx="0" cy="38892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523488" y="4450080"/>
            <a:ext cx="63642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987040" y="865632"/>
            <a:ext cx="4626864" cy="209092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559040" y="2865120"/>
            <a:ext cx="755904" cy="17190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132832" y="1645920"/>
            <a:ext cx="3108960" cy="23286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979664" y="4498848"/>
            <a:ext cx="316992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7559040" y="3669792"/>
            <a:ext cx="316992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13904" y="2657856"/>
            <a:ext cx="316992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4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5504688" y="2194560"/>
            <a:ext cx="316992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3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3364992" y="4495800"/>
            <a:ext cx="316992" cy="304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4992" y="5486400"/>
            <a:ext cx="5596128" cy="5974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2-phase method is preferred ?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32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2608"/>
                <a:ext cx="10515600" cy="612038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IN" b="1" u="sng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Revised Simplex method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[A, I]   x</a:t>
                </a:r>
                <a:r>
                  <a:rPr lang="en-IN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b                            x       </a:t>
                </a:r>
                <a14:m>
                  <m:oMath xmlns:m="http://schemas.openxmlformats.org/officeDocument/2006/math">
                    <m:r>
                      <a:rPr lang="en-IN" sz="1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:r>
                  <a:rPr lang="en-IN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IN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</a:t>
                </a:r>
                <a:r>
                  <a:rPr lang="en-IN" sz="18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IN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1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1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1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IN" sz="1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</a:t>
                </a:r>
                <a:endParaRPr lang="en-IN" sz="2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1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2608"/>
                <a:ext cx="10515600" cy="6120384"/>
              </a:xfrm>
              <a:blipFill rotWithShape="1">
                <a:blip r:embed="rId2"/>
                <a:stretch>
                  <a:fillRect l="-522" t="-17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/>
              <p:cNvSpPr/>
              <p:nvPr/>
            </p:nvSpPr>
            <p:spPr>
              <a:xfrm>
                <a:off x="3633216" y="1207008"/>
                <a:ext cx="3864864" cy="157276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= </a:t>
                </a:r>
                <a:r>
                  <a:rPr lang="en-IN" b="1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b="1" i="1" baseline="30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IN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b="1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  <a:p>
                <a:pPr algn="ctr"/>
                <a:endParaRPr lang="en-IN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b="1" i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s.t.</a:t>
                </a:r>
                <a:r>
                  <a:rPr lang="en-IN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IN" b="1" i="1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</a:t>
                </a:r>
                <a:r>
                  <a:rPr lang="en-IN" b="1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IN" b="1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IN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IN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IN" b="1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lang="en-IN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IN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IN" dirty="0"/>
              </a:p>
            </p:txBody>
          </p:sp>
        </mc:Choice>
        <mc:Fallback xmlns="">
          <p:sp>
            <p:nvSpPr>
              <p:cNvPr id="2" name="Rounded 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3216" y="1207008"/>
                <a:ext cx="3864864" cy="1572768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uble Bracket 3"/>
          <p:cNvSpPr/>
          <p:nvPr/>
        </p:nvSpPr>
        <p:spPr>
          <a:xfrm>
            <a:off x="1487424" y="3145536"/>
            <a:ext cx="475488" cy="877824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4053840" y="3145536"/>
            <a:ext cx="475488" cy="877824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4291584" y="4059936"/>
            <a:ext cx="3206496" cy="165811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 B</a:t>
            </a:r>
            <a:r>
              <a:rPr lang="en-IN" sz="2400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sz="2400" dirty="0"/>
          </a:p>
          <a:p>
            <a:pPr algn="ctr"/>
            <a:endParaRPr lang="en-IN" sz="2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400" b="1" baseline="30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400" b="1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 c</a:t>
            </a:r>
            <a:r>
              <a:rPr lang="en-IN" sz="2400" b="1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400" b="1" baseline="30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400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sz="2400" dirty="0"/>
          </a:p>
          <a:p>
            <a:pPr algn="ctr"/>
            <a:endParaRPr lang="en-IN" sz="2400" b="1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342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2608"/>
            <a:ext cx="10515600" cy="6120384"/>
          </a:xfrm>
        </p:spPr>
        <p:txBody>
          <a:bodyPr/>
          <a:lstStyle/>
          <a:p>
            <a:pPr marL="0" indent="0">
              <a:buNone/>
            </a:pPr>
            <a:r>
              <a:rPr lang="en-IN" sz="2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[3, 5]              A,I =       1   0</a:t>
            </a:r>
            <a:r>
              <a:rPr lang="en-IN" sz="2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0    0                          b =        4</a:t>
            </a:r>
            <a:endParaRPr lang="en-IN" sz="2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</a:t>
            </a:r>
            <a:r>
              <a:rPr lang="en-IN" sz="1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0   2   0    1   0                                       12               </a:t>
            </a:r>
            <a:endParaRPr lang="en-IN" sz="2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3   2   0    0   1                                       18</a:t>
            </a: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0</a:t>
            </a:r>
          </a:p>
          <a:p>
            <a:pPr marL="0" indent="0"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8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   x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B =       1    0    0           = B</a:t>
            </a:r>
            <a:r>
              <a:rPr lang="en-IN" sz="18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x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                                         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0    1    0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x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                          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0    0    1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8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B</a:t>
            </a:r>
            <a:r>
              <a:rPr lang="en-IN" sz="18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    4                                                     4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12                       Z = [ 0  0  0 ]       12      = 0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18                                                   18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ouble Bracket 1"/>
          <p:cNvSpPr/>
          <p:nvPr/>
        </p:nvSpPr>
        <p:spPr>
          <a:xfrm>
            <a:off x="4523232" y="377952"/>
            <a:ext cx="1865376" cy="1804416"/>
          </a:xfrm>
          <a:prstGeom prst="bracketPair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ouble Bracket 3"/>
          <p:cNvSpPr/>
          <p:nvPr/>
        </p:nvSpPr>
        <p:spPr>
          <a:xfrm>
            <a:off x="8229600" y="377952"/>
            <a:ext cx="475488" cy="1670304"/>
          </a:xfrm>
          <a:prstGeom prst="bracketPair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1426464" y="3133344"/>
            <a:ext cx="463296" cy="1487424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uble Bracket 5"/>
          <p:cNvSpPr/>
          <p:nvPr/>
        </p:nvSpPr>
        <p:spPr>
          <a:xfrm>
            <a:off x="3486912" y="3133344"/>
            <a:ext cx="1121664" cy="1487424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uble Bracket 6"/>
          <p:cNvSpPr/>
          <p:nvPr/>
        </p:nvSpPr>
        <p:spPr>
          <a:xfrm>
            <a:off x="2389632" y="4730496"/>
            <a:ext cx="463296" cy="1341120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8" name="Double Bracket 7"/>
          <p:cNvSpPr/>
          <p:nvPr/>
        </p:nvSpPr>
        <p:spPr>
          <a:xfrm>
            <a:off x="5455920" y="4767072"/>
            <a:ext cx="542544" cy="1475232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11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2608"/>
            <a:ext cx="10515600" cy="6120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</a:t>
            </a:r>
            <a:r>
              <a:rPr lang="en-IN" sz="1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8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   x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      1    0    0     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B</a:t>
            </a:r>
            <a:r>
              <a:rPr lang="en-IN" sz="18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    1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0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0    2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                 0   ½    0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x</a:t>
            </a:r>
            <a:r>
              <a:rPr lang="en-IN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                       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0    2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                           0   -1    1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1   0   0   </a:t>
            </a:r>
            <a:r>
              <a:rPr lang="en-IN" sz="1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</a:t>
            </a:r>
            <a:r>
              <a:rPr lang="en-IN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0    0</a:t>
            </a: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0   1   0   </a:t>
            </a:r>
            <a:r>
              <a:rPr lang="en-IN" sz="1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</a:t>
            </a:r>
            <a:r>
              <a:rPr lang="en-IN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½    0</a:t>
            </a: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0   0   1   </a:t>
            </a:r>
            <a:r>
              <a:rPr lang="en-IN" sz="1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</a:t>
            </a:r>
            <a:r>
              <a:rPr lang="en-IN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-1    1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ouble Bracket 1"/>
          <p:cNvSpPr/>
          <p:nvPr/>
        </p:nvSpPr>
        <p:spPr>
          <a:xfrm>
            <a:off x="1431036" y="731520"/>
            <a:ext cx="463296" cy="1499616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ouble Bracket 3"/>
          <p:cNvSpPr/>
          <p:nvPr/>
        </p:nvSpPr>
        <p:spPr>
          <a:xfrm>
            <a:off x="3377184" y="731520"/>
            <a:ext cx="1243584" cy="1499616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5986272" y="731520"/>
            <a:ext cx="1048512" cy="1499616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uble Bracket 6"/>
          <p:cNvSpPr/>
          <p:nvPr/>
        </p:nvSpPr>
        <p:spPr>
          <a:xfrm>
            <a:off x="4318782" y="2855742"/>
            <a:ext cx="2025747" cy="1814732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6147582" y="3938954"/>
            <a:ext cx="887202" cy="42203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034783" y="4360985"/>
            <a:ext cx="786853" cy="520504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7962314" y="3938954"/>
            <a:ext cx="1477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?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69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2608"/>
            <a:ext cx="10515600" cy="612038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Matrix form of current set of equations</a:t>
            </a:r>
            <a:endParaRPr lang="en-IN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-c    0               Z                        0</a:t>
            </a:r>
          </a:p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0    A    I               x              =         b</a:t>
            </a:r>
          </a:p>
          <a:p>
            <a:pPr marL="0" indent="0" algn="just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</a:t>
            </a:r>
            <a:r>
              <a:rPr lang="en-IN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1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400" b="1" u="sng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         =       1      </a:t>
            </a:r>
            <a:r>
              <a:rPr lang="en-IN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IN" sz="18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0        =     </a:t>
            </a:r>
            <a:r>
              <a:rPr lang="en-IN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   </a:t>
            </a:r>
          </a:p>
          <a:p>
            <a:pPr marL="0" indent="0" algn="just">
              <a:buNone/>
            </a:pPr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IN" sz="1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800" b="1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0      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         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b          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IN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1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    0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=          1      </a:t>
            </a:r>
            <a:r>
              <a:rPr lang="en-IN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– c    </a:t>
            </a:r>
            <a:r>
              <a:rPr lang="en-IN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      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              </a:t>
            </a:r>
            <a:r>
              <a:rPr lang="en-IN" sz="18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A   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                       0             B</a:t>
            </a:r>
            <a:r>
              <a:rPr lang="en-IN" sz="18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  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ouble Bracket 1"/>
          <p:cNvSpPr/>
          <p:nvPr/>
        </p:nvSpPr>
        <p:spPr>
          <a:xfrm>
            <a:off x="3319975" y="928468"/>
            <a:ext cx="1153551" cy="1237957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ouble Bracket 3"/>
          <p:cNvSpPr/>
          <p:nvPr/>
        </p:nvSpPr>
        <p:spPr>
          <a:xfrm>
            <a:off x="4909625" y="928468"/>
            <a:ext cx="647113" cy="1406769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6527409" y="928468"/>
            <a:ext cx="506437" cy="1237957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uble Bracket 5"/>
          <p:cNvSpPr/>
          <p:nvPr/>
        </p:nvSpPr>
        <p:spPr>
          <a:xfrm>
            <a:off x="2644726" y="2644726"/>
            <a:ext cx="506437" cy="984739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Double Bracket 6"/>
          <p:cNvSpPr/>
          <p:nvPr/>
        </p:nvSpPr>
        <p:spPr>
          <a:xfrm>
            <a:off x="3896751" y="2644725"/>
            <a:ext cx="1195754" cy="984739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Double Bracket 7"/>
          <p:cNvSpPr/>
          <p:nvPr/>
        </p:nvSpPr>
        <p:spPr>
          <a:xfrm>
            <a:off x="5331656" y="2644725"/>
            <a:ext cx="506437" cy="984739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ouble Bracket 8"/>
          <p:cNvSpPr/>
          <p:nvPr/>
        </p:nvSpPr>
        <p:spPr>
          <a:xfrm>
            <a:off x="6478758" y="2644724"/>
            <a:ext cx="850510" cy="984739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Left Brace 9"/>
          <p:cNvSpPr/>
          <p:nvPr/>
        </p:nvSpPr>
        <p:spPr>
          <a:xfrm rot="16200000">
            <a:off x="4346916" y="3352989"/>
            <a:ext cx="253221" cy="1003114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098388" y="4107764"/>
            <a:ext cx="2082019" cy="6893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Pre-multiplying matrix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ouble Bracket 11"/>
          <p:cNvSpPr/>
          <p:nvPr/>
        </p:nvSpPr>
        <p:spPr>
          <a:xfrm>
            <a:off x="2110155" y="5247249"/>
            <a:ext cx="1209820" cy="1083213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Double Bracket 12"/>
          <p:cNvSpPr/>
          <p:nvPr/>
        </p:nvSpPr>
        <p:spPr>
          <a:xfrm>
            <a:off x="3580228" y="5247248"/>
            <a:ext cx="1011702" cy="1083213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uble Bracket 13"/>
          <p:cNvSpPr/>
          <p:nvPr/>
        </p:nvSpPr>
        <p:spPr>
          <a:xfrm>
            <a:off x="5522157" y="5247247"/>
            <a:ext cx="2918458" cy="1083213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484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8541"/>
            <a:ext cx="10515600" cy="6120384"/>
          </a:xfrm>
          <a:ln>
            <a:solidFill>
              <a:srgbClr val="002060"/>
            </a:solidFill>
          </a:ln>
        </p:spPr>
        <p:txBody>
          <a:bodyPr>
            <a:normAutofit/>
          </a:bodyPr>
          <a:lstStyle/>
          <a:p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1       </a:t>
            </a:r>
            <a:r>
              <a:rPr lang="en-IN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– c   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IN" sz="18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Z                                  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IN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IN" sz="1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1800" b="1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B</a:t>
            </a:r>
            <a:r>
              <a:rPr lang="en-IN" sz="18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           B</a:t>
            </a:r>
            <a:r>
              <a:rPr lang="en-IN" sz="18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  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x              =                      B</a:t>
            </a:r>
            <a:r>
              <a:rPr lang="en-IN" sz="1800" b="1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         </a:t>
            </a:r>
          </a:p>
          <a:p>
            <a:pPr marL="0" indent="0">
              <a:buNone/>
            </a:pPr>
            <a:r>
              <a:rPr lang="en-IN" sz="1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en-IN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coefficients of the slack        </a:t>
            </a:r>
            <a:r>
              <a:rPr lang="en-IN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20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coefficients of the original variables</a:t>
            </a:r>
            <a:endParaRPr lang="en-IN" sz="18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IN" sz="2400" b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1      1/3     -1/3</a:t>
            </a:r>
            <a:endParaRPr lang="en-IN" sz="2400" b="1" u="sng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Suppose B</a:t>
            </a:r>
            <a:r>
              <a:rPr lang="en-IN" sz="1800" baseline="30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=        0       ½        0                             </a:t>
            </a:r>
            <a:r>
              <a:rPr lang="en-IN" sz="1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aseline="-25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= [ 0, 5, 3 ]</a:t>
            </a:r>
          </a:p>
          <a:p>
            <a:pPr marL="0" indent="0">
              <a:buNone/>
            </a:pP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0     -1/3    1/3</a:t>
            </a:r>
          </a:p>
          <a:p>
            <a:pPr marL="0" indent="0">
              <a:buNone/>
            </a:pPr>
            <a:endParaRPr lang="en-IN" sz="1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1     1/3     -1/3               1     0                       0      0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IN" sz="1800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   =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0      ½         0                0     2            =         0      1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0     -1/3      1/3             3     2                       1       0</a:t>
            </a:r>
            <a:endParaRPr lang="en-IN" sz="1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ouble Bracket 3"/>
          <p:cNvSpPr/>
          <p:nvPr/>
        </p:nvSpPr>
        <p:spPr>
          <a:xfrm>
            <a:off x="1021080" y="492367"/>
            <a:ext cx="2903806" cy="956605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ouble Bracket 1"/>
          <p:cNvSpPr/>
          <p:nvPr/>
        </p:nvSpPr>
        <p:spPr>
          <a:xfrm>
            <a:off x="4766021" y="478297"/>
            <a:ext cx="604910" cy="1308298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6907237" y="478297"/>
            <a:ext cx="1184038" cy="970675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2518117" y="1322363"/>
            <a:ext cx="126609" cy="4783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3522493" y="1311104"/>
            <a:ext cx="63304" cy="1378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ouble Bracket 9"/>
          <p:cNvSpPr/>
          <p:nvPr/>
        </p:nvSpPr>
        <p:spPr>
          <a:xfrm>
            <a:off x="2518117" y="2791497"/>
            <a:ext cx="1786597" cy="1308298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ouble Bracket 10"/>
          <p:cNvSpPr/>
          <p:nvPr/>
        </p:nvSpPr>
        <p:spPr>
          <a:xfrm>
            <a:off x="1938997" y="4436477"/>
            <a:ext cx="1786597" cy="1308298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uble Bracket 11"/>
          <p:cNvSpPr/>
          <p:nvPr/>
        </p:nvSpPr>
        <p:spPr>
          <a:xfrm>
            <a:off x="3924886" y="4436477"/>
            <a:ext cx="1322363" cy="1308298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Double Bracket 12"/>
          <p:cNvSpPr/>
          <p:nvPr/>
        </p:nvSpPr>
        <p:spPr>
          <a:xfrm>
            <a:off x="5826369" y="4436477"/>
            <a:ext cx="1322363" cy="1308298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67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>
            <a:normAutofit/>
          </a:bodyPr>
          <a:lstStyle/>
          <a:p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aseline="-25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  </a:t>
            </a:r>
            <a:r>
              <a:rPr lang="en-IN" sz="1800" baseline="-25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aseline="30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=   [ 0, 5, 3 ]                            =    [ 0,  3/2,  1 ] </a:t>
            </a:r>
          </a:p>
          <a:p>
            <a:pPr marL="0" indent="0">
              <a:buNone/>
            </a:pPr>
            <a:endParaRPr lang="en-IN" sz="1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0     0       </a:t>
            </a:r>
          </a:p>
          <a:p>
            <a:pPr marL="0" indent="0">
              <a:buNone/>
            </a:pP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aseline="-25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IN" sz="1800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 – c   = 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[ 0   </a:t>
            </a: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   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3 ]      0     1         -  [3    5]     =    [ 0   0 ]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1     0</a:t>
            </a:r>
            <a:endParaRPr lang="en-IN" sz="1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2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B</a:t>
            </a:r>
            <a:r>
              <a:rPr lang="en-IN" sz="1800" baseline="30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  =        6                          </a:t>
            </a:r>
            <a:r>
              <a:rPr lang="en-IN" sz="18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aseline="-25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aseline="30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= 36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2 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ouble Bracket 3"/>
          <p:cNvSpPr/>
          <p:nvPr/>
        </p:nvSpPr>
        <p:spPr>
          <a:xfrm>
            <a:off x="3713871" y="956603"/>
            <a:ext cx="900332" cy="95660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4065563" y="2321169"/>
            <a:ext cx="900332" cy="1280160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uble Bracket 5"/>
          <p:cNvSpPr/>
          <p:nvPr/>
        </p:nvSpPr>
        <p:spPr>
          <a:xfrm>
            <a:off x="2419642" y="3838135"/>
            <a:ext cx="661183" cy="1280160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81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2608"/>
            <a:ext cx="10515600" cy="61203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Example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[3, 5]              A,I =       1   0</a:t>
            </a:r>
            <a:r>
              <a:rPr lang="en-IN" sz="2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0    0                          b =        4</a:t>
            </a:r>
            <a:endParaRPr lang="en-IN" sz="2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</a:t>
            </a:r>
            <a:r>
              <a:rPr lang="en-IN" sz="1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0   2   0    1   0                                       12               </a:t>
            </a:r>
            <a:endParaRPr lang="en-IN" sz="20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3   2   0    0   1                                       18</a:t>
            </a: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  <a:p>
            <a:pPr marL="0" indent="0"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x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4              </a:t>
            </a:r>
            <a:r>
              <a:rPr lang="en-IN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= [ 0 0 0 ]                           1    0    0           </a:t>
            </a: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8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   x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=      12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B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   1    0            =   B</a:t>
            </a:r>
            <a:r>
              <a:rPr lang="en-IN" sz="18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x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             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0    0    1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Optimality Test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x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x</a:t>
            </a:r>
            <a:r>
              <a:rPr lang="en-IN" sz="1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IN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–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= [ 0  0 ] -  [ 3  5 ]  =    [ -3  -5 ]</a:t>
            </a:r>
            <a:endParaRPr lang="en-IN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Entering x</a:t>
            </a:r>
            <a:r>
              <a:rPr lang="en-IN" sz="18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ouble Bracket 1"/>
          <p:cNvSpPr/>
          <p:nvPr/>
        </p:nvSpPr>
        <p:spPr>
          <a:xfrm>
            <a:off x="4523232" y="377952"/>
            <a:ext cx="1865376" cy="1804416"/>
          </a:xfrm>
          <a:prstGeom prst="bracketPair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Double Bracket 3"/>
          <p:cNvSpPr/>
          <p:nvPr/>
        </p:nvSpPr>
        <p:spPr>
          <a:xfrm>
            <a:off x="8157972" y="377952"/>
            <a:ext cx="475488" cy="1670304"/>
          </a:xfrm>
          <a:prstGeom prst="bracketPair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1609344" y="2936397"/>
            <a:ext cx="463296" cy="1487424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uble Bracket 5"/>
          <p:cNvSpPr/>
          <p:nvPr/>
        </p:nvSpPr>
        <p:spPr>
          <a:xfrm>
            <a:off x="6267626" y="2936397"/>
            <a:ext cx="1121664" cy="1487424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ouble Bracket 8"/>
          <p:cNvSpPr/>
          <p:nvPr/>
        </p:nvSpPr>
        <p:spPr>
          <a:xfrm>
            <a:off x="2499595" y="2936397"/>
            <a:ext cx="463296" cy="1487424"/>
          </a:xfrm>
          <a:prstGeom prst="bracketPair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5786511" y="5472332"/>
            <a:ext cx="342314" cy="18288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27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436098"/>
                <a:ext cx="10515600" cy="5936567"/>
              </a:xfrm>
            </p:spPr>
            <p:txBody>
              <a:bodyPr>
                <a:normAutofit/>
              </a:bodyPr>
              <a:lstStyle/>
              <a:p>
                <a:endParaRPr lang="en-IN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</a:t>
                </a:r>
                <a:r>
                  <a:rPr lang="en-IN" sz="18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sz="1800" baseline="-25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pPr marL="0" indent="0">
                  <a:buNone/>
                </a:pPr>
                <a:r>
                  <a:rPr lang="en-IN" sz="1800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0</a:t>
                </a:r>
                <a:endParaRPr lang="en-I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x</a:t>
                </a:r>
                <a:r>
                  <a:rPr lang="en-IN" sz="18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IN" sz="2400" baseline="-250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m:rPr>
                            <m:nor/>
                          </m:rPr>
                          <a:rPr lang="en-IN" sz="2400" baseline="-25000" dirty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</a:t>
                </a:r>
                <a:r>
                  <a:rPr lang="en-IN" sz="2000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 ratio test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leaving            2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18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</a:p>
              <a:p>
                <a:pPr marL="0" indent="0">
                  <a:buNone/>
                </a:pP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1     0     0                                           1   0    0</a:t>
                </a:r>
                <a:endParaRPr lang="en-I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  =       0     2     0                        B</a:t>
                </a:r>
                <a:r>
                  <a:rPr lang="en-IN" sz="1800" baseline="30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=        0   ½   0 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0     2     1                                           0   -1   1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IN" sz="18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I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x</a:t>
                </a:r>
                <a:r>
                  <a:rPr lang="en-IN" sz="18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                                                   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4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    x</a:t>
                </a:r>
                <a:r>
                  <a:rPr lang="en-IN" sz="18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              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IN" sz="18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1800" baseline="30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   =       6                            </a:t>
                </a:r>
                <a:r>
                  <a:rPr lang="en-IN" sz="18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IN" sz="1800" baseline="-25000" dirty="0" err="1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  [ 0  5  0 ]</a:t>
                </a:r>
                <a:endParaRPr lang="en-IN" sz="1800" baseline="-25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IN" sz="1800" baseline="-250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18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1800" baseline="-250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IN" sz="1800" dirty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6</a:t>
                </a:r>
                <a:endParaRPr lang="en-I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36098"/>
                <a:ext cx="10515600" cy="5936567"/>
              </a:xfrm>
              <a:blipFill rotWithShape="1">
                <a:blip r:embed="rId2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377439" y="1596680"/>
            <a:ext cx="225083" cy="239151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IN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Double Bracket 4"/>
          <p:cNvSpPr/>
          <p:nvPr/>
        </p:nvSpPr>
        <p:spPr>
          <a:xfrm>
            <a:off x="2257864" y="1195752"/>
            <a:ext cx="464234" cy="1041009"/>
          </a:xfrm>
          <a:prstGeom prst="bracketPair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1463040" y="1723286"/>
            <a:ext cx="696350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ouble Bracket 7"/>
          <p:cNvSpPr/>
          <p:nvPr/>
        </p:nvSpPr>
        <p:spPr>
          <a:xfrm>
            <a:off x="1856934" y="2862774"/>
            <a:ext cx="1266092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ouble Bracket 8"/>
          <p:cNvSpPr/>
          <p:nvPr/>
        </p:nvSpPr>
        <p:spPr>
          <a:xfrm>
            <a:off x="5132361" y="2862773"/>
            <a:ext cx="1266092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ouble Bracket 9"/>
          <p:cNvSpPr/>
          <p:nvPr/>
        </p:nvSpPr>
        <p:spPr>
          <a:xfrm>
            <a:off x="1456006" y="4365672"/>
            <a:ext cx="703384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ouble Bracket 10"/>
          <p:cNvSpPr/>
          <p:nvPr/>
        </p:nvSpPr>
        <p:spPr>
          <a:xfrm>
            <a:off x="3915507" y="4365671"/>
            <a:ext cx="703384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63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8302"/>
            <a:ext cx="10515600" cy="5936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Optimality test</a:t>
            </a:r>
          </a:p>
          <a:p>
            <a:pPr marL="0" indent="0">
              <a:buNone/>
            </a:pPr>
            <a:r>
              <a:rPr lang="en-I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1     0    0              1     0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For x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          </a:t>
            </a:r>
            <a:r>
              <a:rPr lang="en-IN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000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0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 – c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=  [ 0  5  0 ]      0    ½   0            0    2           -   [ 3   5 ]   =  [ -3  _ ]</a:t>
            </a:r>
          </a:p>
          <a:p>
            <a:pPr marL="0" indent="0">
              <a:buNone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    -1    1              3     2</a:t>
            </a:r>
          </a:p>
          <a:p>
            <a:pPr marL="0" indent="0">
              <a:buNone/>
            </a:pP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Entering x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0" indent="0">
              <a:buNone/>
            </a:pP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1   0   0</a:t>
            </a:r>
            <a:endParaRPr lang="en-IN" sz="18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For x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           </a:t>
            </a:r>
            <a:r>
              <a:rPr lang="en-IN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000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0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=    [ 0  5  0 ]       0  ½  0              [  __ , 5/2 , __ ]</a:t>
            </a:r>
          </a:p>
          <a:p>
            <a:pPr marL="0" indent="0">
              <a:buNone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0  -1  1 </a:t>
            </a:r>
          </a:p>
          <a:p>
            <a:pPr marL="0" indent="0">
              <a:buNone/>
            </a:pP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column of 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40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IN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                                                4                                    4/1</a:t>
            </a:r>
            <a:endParaRPr lang="en-IN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                                  </a:t>
            </a:r>
            <a:r>
              <a:rPr lang="en-IN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800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=      6</a:t>
            </a:r>
          </a:p>
          <a:p>
            <a:pPr marL="0" indent="0">
              <a:buNone/>
            </a:pPr>
            <a:r>
              <a:rPr lang="en-I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8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leaving                  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                                    6/3  = 2</a:t>
            </a: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ouble Bracket 3"/>
          <p:cNvSpPr/>
          <p:nvPr/>
        </p:nvSpPr>
        <p:spPr>
          <a:xfrm>
            <a:off x="5223803" y="1033973"/>
            <a:ext cx="1266092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Double Bracket 4"/>
          <p:cNvSpPr/>
          <p:nvPr/>
        </p:nvSpPr>
        <p:spPr>
          <a:xfrm>
            <a:off x="6738425" y="1033973"/>
            <a:ext cx="1181686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9734843" y="1758462"/>
            <a:ext cx="182880" cy="478301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ouble Bracket 7"/>
          <p:cNvSpPr/>
          <p:nvPr/>
        </p:nvSpPr>
        <p:spPr>
          <a:xfrm>
            <a:off x="5223803" y="2542734"/>
            <a:ext cx="1266092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ouble Bracket 8"/>
          <p:cNvSpPr/>
          <p:nvPr/>
        </p:nvSpPr>
        <p:spPr>
          <a:xfrm>
            <a:off x="3826412" y="4594272"/>
            <a:ext cx="703385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235570" y="5466470"/>
            <a:ext cx="759654" cy="28135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ouble Bracket 12"/>
          <p:cNvSpPr/>
          <p:nvPr/>
        </p:nvSpPr>
        <p:spPr>
          <a:xfrm>
            <a:off x="6703840" y="4594271"/>
            <a:ext cx="703385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457575" y="4881489"/>
            <a:ext cx="222005" cy="112542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677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6436"/>
            <a:ext cx="10515600" cy="61757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IN" sz="1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Original column from [ A, I ]</a:t>
            </a:r>
          </a:p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    0    1                                                                                1     1/3     -1/3</a:t>
            </a: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  =       0    2    0                                                             B</a:t>
            </a:r>
            <a:r>
              <a:rPr lang="en-IN" sz="1800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0       ½        0</a:t>
            </a:r>
            <a:r>
              <a:rPr lang="en-IN" sz="1800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1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0    2    3                                                                                 0     -1/3     1/3 </a:t>
            </a:r>
          </a:p>
          <a:p>
            <a:pPr marL="0" indent="0">
              <a:buNone/>
            </a:pPr>
            <a:endParaRPr lang="en-I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x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            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2</a:t>
            </a:r>
          </a:p>
          <a:p>
            <a:pPr marL="0" indent="0">
              <a:buNone/>
            </a:pPr>
            <a:r>
              <a:rPr lang="en-I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800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=     x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=      B</a:t>
            </a:r>
            <a:r>
              <a:rPr lang="en-IN" sz="1800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      =         6             </a:t>
            </a:r>
            <a:r>
              <a:rPr lang="en-IN" sz="18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800" baseline="-25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=   [ 0  5  3 ]</a:t>
            </a:r>
            <a:endParaRPr lang="en-IN" sz="18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x</a:t>
            </a:r>
            <a:r>
              <a:rPr lang="en-IN" sz="18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2 </a:t>
            </a: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I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2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1     0    0                 1                                                                          1     1/3     -1/3</a:t>
            </a: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B</a:t>
            </a:r>
            <a:r>
              <a:rPr lang="en-IN" sz="1800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=     0    ½    0                0                                          New B</a:t>
            </a:r>
            <a:r>
              <a:rPr lang="en-IN" sz="1800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=             0       ½         0</a:t>
            </a: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0    -1    1                                  </a:t>
            </a:r>
            <a:r>
              <a:rPr lang="en-IN" sz="2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pivot                                          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I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-1/3    1/3</a:t>
            </a: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</a:t>
            </a:r>
            <a:r>
              <a:rPr lang="en-IN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800" b="1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1      0     0            1    0                 1   -   </a:t>
            </a: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B</a:t>
            </a:r>
            <a:r>
              <a:rPr lang="en-IN" sz="1800" baseline="30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   =       0     ½     0            0    2      =        0   -</a:t>
            </a:r>
          </a:p>
          <a:p>
            <a:pPr marL="0" indent="0">
              <a:buNone/>
            </a:pPr>
            <a:r>
              <a:rPr lang="en-IN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0     -1    1            3     2                3  -</a:t>
            </a:r>
          </a:p>
        </p:txBody>
      </p:sp>
      <p:sp>
        <p:nvSpPr>
          <p:cNvPr id="4" name="Double Bracket 3"/>
          <p:cNvSpPr/>
          <p:nvPr/>
        </p:nvSpPr>
        <p:spPr>
          <a:xfrm>
            <a:off x="1538068" y="882747"/>
            <a:ext cx="1266092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940148" y="882747"/>
            <a:ext cx="759655" cy="34114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ouble Bracket 8"/>
          <p:cNvSpPr/>
          <p:nvPr/>
        </p:nvSpPr>
        <p:spPr>
          <a:xfrm>
            <a:off x="6910168" y="882746"/>
            <a:ext cx="1783666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ouble Bracket 9"/>
          <p:cNvSpPr/>
          <p:nvPr/>
        </p:nvSpPr>
        <p:spPr>
          <a:xfrm>
            <a:off x="1817078" y="2342270"/>
            <a:ext cx="630700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ouble Bracket 10"/>
          <p:cNvSpPr/>
          <p:nvPr/>
        </p:nvSpPr>
        <p:spPr>
          <a:xfrm>
            <a:off x="4431324" y="2370404"/>
            <a:ext cx="630700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Double Bracket 15"/>
          <p:cNvSpPr/>
          <p:nvPr/>
        </p:nvSpPr>
        <p:spPr>
          <a:xfrm>
            <a:off x="1674057" y="3900890"/>
            <a:ext cx="1266092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3635329" y="4698609"/>
            <a:ext cx="281354" cy="2854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ouble Bracket 17"/>
          <p:cNvSpPr/>
          <p:nvPr/>
        </p:nvSpPr>
        <p:spPr>
          <a:xfrm>
            <a:off x="3460656" y="3900890"/>
            <a:ext cx="630700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3916683" y="4841356"/>
            <a:ext cx="684625" cy="3020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ouble Bracket 21"/>
          <p:cNvSpPr/>
          <p:nvPr/>
        </p:nvSpPr>
        <p:spPr>
          <a:xfrm>
            <a:off x="7829551" y="3900890"/>
            <a:ext cx="1783666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Double Bracket 22"/>
          <p:cNvSpPr/>
          <p:nvPr/>
        </p:nvSpPr>
        <p:spPr>
          <a:xfrm>
            <a:off x="4091355" y="5317585"/>
            <a:ext cx="1493519" cy="1223892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Double Bracket 23"/>
          <p:cNvSpPr/>
          <p:nvPr/>
        </p:nvSpPr>
        <p:spPr>
          <a:xfrm>
            <a:off x="5838092" y="5387924"/>
            <a:ext cx="745588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Double Bracket 24"/>
          <p:cNvSpPr/>
          <p:nvPr/>
        </p:nvSpPr>
        <p:spPr>
          <a:xfrm>
            <a:off x="7224346" y="5395580"/>
            <a:ext cx="745588" cy="1083213"/>
          </a:xfrm>
          <a:prstGeom prst="bracketPair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9"/>
          <p:cNvSpPr/>
          <p:nvPr/>
        </p:nvSpPr>
        <p:spPr>
          <a:xfrm>
            <a:off x="995290" y="3453617"/>
            <a:ext cx="3751384" cy="40093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Updating B</a:t>
            </a:r>
            <a:r>
              <a:rPr lang="en-IN" sz="2400" b="1" baseline="300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I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at every step</a:t>
            </a:r>
            <a:endParaRPr lang="en-IN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26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425E511BB91D4C9767C20E748AB7E9" ma:contentTypeVersion="0" ma:contentTypeDescription="Create a new document." ma:contentTypeScope="" ma:versionID="cf3d042fb1b7f3b27bc87ea0a7a32a2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3f9ca9ed2b1b526ffdf70859b84e62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77D35CF-B968-462B-9492-543C14AF1B78}"/>
</file>

<file path=customXml/itemProps2.xml><?xml version="1.0" encoding="utf-8"?>
<ds:datastoreItem xmlns:ds="http://schemas.openxmlformats.org/officeDocument/2006/customXml" ds:itemID="{DC1009A3-208C-4535-9215-D7AC98859FD2}"/>
</file>

<file path=customXml/itemProps3.xml><?xml version="1.0" encoding="utf-8"?>
<ds:datastoreItem xmlns:ds="http://schemas.openxmlformats.org/officeDocument/2006/customXml" ds:itemID="{8D631DEF-2E47-4E02-BCDE-9194BF536C63}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12486</TotalTime>
  <Words>5177</Words>
  <Application>Microsoft Office PowerPoint</Application>
  <PresentationFormat>Custom</PresentationFormat>
  <Paragraphs>1880</Paragraphs>
  <Slides>58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0" baseType="lpstr">
      <vt:lpstr>Office Theme</vt:lpstr>
      <vt:lpstr>Equation</vt:lpstr>
      <vt:lpstr>Linear Programming and Simplex Method</vt:lpstr>
      <vt:lpstr>Introduction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Modeling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Operatons Research</dc:title>
  <dc:creator>Neha</dc:creator>
  <cp:lastModifiedBy>ISE</cp:lastModifiedBy>
  <cp:revision>315</cp:revision>
  <dcterms:created xsi:type="dcterms:W3CDTF">2020-08-12T14:48:10Z</dcterms:created>
  <dcterms:modified xsi:type="dcterms:W3CDTF">2021-01-14T05:29:24Z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0x0101006C425E511BB91D4C9767C20E748AB7E9</vt:lpwstr>
  </property>
</Properties>
</file>